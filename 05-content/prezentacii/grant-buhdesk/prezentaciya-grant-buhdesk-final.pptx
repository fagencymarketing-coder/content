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Заявка на грант. Название проекта, сумма, срок, заявитель.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действующие функции сервиса.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Показатели компании, свидетельство и реестр отечественного ПО.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Доработки 2026–2027 гг. за счёт компании.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 заявки: что делается за счёт средств гранта.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работает ИИ-помощник в связке с базой 1С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в четыре шага.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и пять показателей эффекта.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Технологическая основа. Модели российские: SpeechKit и YandexGPT.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по шести критериям. Колонка «Бухдеск» выделена.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Отраслевая вертикаль против предложений конкурентов.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 только формируется; почему решение оптимально для клиентов аутсорсинга.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Налоговая реформа, дефицит кадров, ИИ-автоматизация.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Фонд оплаты труда: 3 818 000 ₽, 91,9% сметы. Ниже этапы реализации.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Прочие расходы и итог по смете 4 153 400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Компания, её происхождение и позиция в рейтинге RAEX.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service.buh-desk.ru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76300"/>
            <a:ext cx="178308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2450592"/>
            <a:ext cx="2633927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800" spc="252" kern="0" dirty="0">
                <a:solidFill>
                  <a:srgbClr val="ABAD5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ЗАЯВКА НА ГРАНТ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47750" y="3882231"/>
            <a:ext cx="14716125" cy="175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68"/>
              </a:lnSpc>
              <a:buNone/>
            </a:pPr>
            <a:r>
              <a:rPr lang="en-US" sz="6450" b="1" spc="-129" kern="0" dirty="0">
                <a:solidFill>
                  <a:srgbClr val="F2F3ED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ИИ-агент для создания счетов и актов в 1С через OData</a:t>
            </a:r>
            <a:endParaRPr lang="en-US" sz="6450" dirty="0"/>
          </a:p>
        </p:txBody>
      </p:sp>
      <p:sp>
        <p:nvSpPr>
          <p:cNvPr id="5" name="Text 2"/>
          <p:cNvSpPr/>
          <p:nvPr/>
        </p:nvSpPr>
        <p:spPr>
          <a:xfrm>
            <a:off x="1047750" y="5926138"/>
            <a:ext cx="15716250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49"/>
              </a:lnSpc>
              <a:buNone/>
            </a:pPr>
            <a:r>
              <a:rPr lang="en-US" sz="2700" dirty="0">
                <a:solidFill>
                  <a:srgbClr val="D9DAD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«Бухдеск» — онлайн-сервис для ведения и контроля бухгалтерии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047750" y="7895828"/>
            <a:ext cx="16192500" cy="16933"/>
          </a:xfrm>
          <a:prstGeom prst="rect">
            <a:avLst/>
          </a:prstGeom>
          <a:solidFill>
            <a:srgbClr val="F2F3ED">
              <a:alpha val="3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8236612"/>
            <a:ext cx="54762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500" spc="150" kern="0" dirty="0">
                <a:solidFill>
                  <a:srgbClr val="ABAD5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ЗАПРАШИВАЕМАЯ СУММА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47750" y="8617612"/>
            <a:ext cx="5476240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3600" b="1" dirty="0">
                <a:solidFill>
                  <a:srgbClr val="F2F3ED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4 153 400 ₽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6445250" y="7912762"/>
            <a:ext cx="9525" cy="1878939"/>
          </a:xfrm>
          <a:prstGeom prst="rect">
            <a:avLst/>
          </a:prstGeom>
          <a:solidFill>
            <a:srgbClr val="F2F3ED">
              <a:alpha val="2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872817" y="8236612"/>
            <a:ext cx="50059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500" spc="150" kern="0" dirty="0">
                <a:solidFill>
                  <a:srgbClr val="ABAD5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СРОК РЕАЛИЗАЦИИ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72817" y="8617612"/>
            <a:ext cx="5005917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3600" b="1" dirty="0">
                <a:solidFill>
                  <a:srgbClr val="F2F3ED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6 месяцев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1842750" y="7912762"/>
            <a:ext cx="9525" cy="1878939"/>
          </a:xfrm>
          <a:prstGeom prst="rect">
            <a:avLst/>
          </a:prstGeom>
          <a:solidFill>
            <a:srgbClr val="F2F3ED">
              <a:alpha val="2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270317" y="8236612"/>
            <a:ext cx="54669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500" spc="150" kern="0" dirty="0">
                <a:solidFill>
                  <a:srgbClr val="ABAD5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ЗАЯВИТЕЛЬ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270317" y="8617612"/>
            <a:ext cx="5466927" cy="458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09"/>
              </a:lnSpc>
              <a:buNone/>
            </a:pPr>
            <a:r>
              <a:rPr lang="en-US" sz="2400" b="1" dirty="0">
                <a:solidFill>
                  <a:srgbClr val="F2F3ED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ООО «1+1 Бухдеск»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2270317" y="9152467"/>
            <a:ext cx="5466927" cy="353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09"/>
              </a:lnSpc>
              <a:buNone/>
            </a:pPr>
            <a:r>
              <a:rPr lang="en-US" sz="1800" dirty="0">
                <a:solidFill>
                  <a:srgbClr val="A3A59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Барнаул,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89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СЕРВИС СЕГОДНЯ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Что делает сервис уже сейчас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592565"/>
            <a:ext cx="152400" cy="15240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468740"/>
            <a:ext cx="969264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Автоматизированный приём задач и первичных документов от клиентов для целей бухгалтерского, налогового, управленческого учёта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4830815"/>
            <a:ext cx="152400" cy="15240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4706990"/>
            <a:ext cx="969264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Веб-интерфейс отображает бухгалтерские задачи и статус их выполнения, начисленные и уплаченные налоги, даты предстоящих платежей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6069065"/>
            <a:ext cx="152400" cy="15240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5945240"/>
            <a:ext cx="969264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2"/>
              </a:lnSpc>
              <a:buNone/>
            </a:pPr>
            <a:r>
              <a:rPr lang="en-US" sz="225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У клиента есть доступ </a:t>
            </a:r>
            <a:pPr algn="l" indent="0" marL="0">
              <a:lnSpc>
                <a:spcPct val="126562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ко всем отчётам, документам и результатам работ бухгалтерии 24/7. Документооборот каждой компании в собственном профиле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3" name="Text 10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6824458" y="9589823"/>
            <a:ext cx="491993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 / 16</a:t>
            </a:r>
            <a:endParaRPr lang="en-US" sz="1350" dirty="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0" y="2926080"/>
            <a:ext cx="4800600" cy="5806440"/>
          </a:xfrm>
          <a:prstGeom prst="rect">
            <a:avLst/>
          </a:prstGeom>
          <a:ln w="12700">
            <a:solidFill>
              <a:srgbClr val="D3D4CF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Дополнительная информация о Сервисе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047750" y="1511035"/>
            <a:ext cx="13620750" cy="392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18"/>
              </a:lnSpc>
              <a:buNone/>
            </a:pPr>
            <a:r>
              <a:rPr lang="en-US" sz="1800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Описание функционала сервиса и оферта для подключения размещены на сайте: </a:t>
            </a:r>
            <a:pPr algn="l" indent="0" marL="0">
              <a:lnSpc>
                <a:spcPct val="126818"/>
              </a:lnSpc>
              <a:buNone/>
            </a:pPr>
            <a:r>
              <a:rPr lang="en-US" sz="1800" u="sng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https://service.buh-desk.ru/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284412"/>
            <a:ext cx="5232400" cy="25294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84412"/>
            <a:ext cx="52324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680229"/>
            <a:ext cx="504317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690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6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371600" y="3766079"/>
            <a:ext cx="47222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сотрудников трудоустроено в ООО «1+1 Бухдеск» по состоянию на 01.10.2026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27800" y="2284412"/>
            <a:ext cx="5232400" cy="25294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527800" y="2284412"/>
            <a:ext cx="52324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0" name="Text 8"/>
          <p:cNvSpPr/>
          <p:nvPr/>
        </p:nvSpPr>
        <p:spPr>
          <a:xfrm>
            <a:off x="6851650" y="2680229"/>
            <a:ext cx="504317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690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71 </a:t>
            </a:r>
            <a:pPr algn="l" indent="0" marL="0">
              <a:lnSpc>
                <a:spcPct val="80859"/>
              </a:lnSpc>
              <a:buNone/>
            </a:pPr>
            <a:r>
              <a:rPr lang="en-US" sz="31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тыс. руб.</a:t>
            </a:r>
            <a:endParaRPr lang="en-US" sz="6900" dirty="0"/>
          </a:p>
        </p:txBody>
      </p:sp>
      <p:sp>
        <p:nvSpPr>
          <p:cNvPr id="11" name="Text 9"/>
          <p:cNvSpPr/>
          <p:nvPr/>
        </p:nvSpPr>
        <p:spPr>
          <a:xfrm>
            <a:off x="6851650" y="3766079"/>
            <a:ext cx="47222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среднемесячная заработная плата за 9 мес. 2026 г. в ООО «1+1 Бухдеск»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07850" y="2284412"/>
            <a:ext cx="5232400" cy="25294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7850" y="2284412"/>
            <a:ext cx="52324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4" name="Text 12"/>
          <p:cNvSpPr/>
          <p:nvPr/>
        </p:nvSpPr>
        <p:spPr>
          <a:xfrm>
            <a:off x="12331700" y="2680229"/>
            <a:ext cx="504317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690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50+</a:t>
            </a:r>
            <a:endParaRPr lang="en-US" sz="6900" dirty="0"/>
          </a:p>
        </p:txBody>
      </p:sp>
      <p:sp>
        <p:nvSpPr>
          <p:cNvPr id="15" name="Text 13"/>
          <p:cNvSpPr/>
          <p:nvPr/>
        </p:nvSpPr>
        <p:spPr>
          <a:xfrm>
            <a:off x="12331700" y="3766079"/>
            <a:ext cx="47222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клиентов, с которыми заключены лицензионные соглашения (на 01.10.2026)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025224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6224190"/>
            <a:ext cx="272415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62"/>
              </a:lnSpc>
              <a:buNone/>
            </a:pPr>
            <a:r>
              <a:rPr lang="en-US" sz="255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№ 202569021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3790950" y="6291924"/>
            <a:ext cx="147942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57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Свидетельство о государственной регистрации программ для ЭВМ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" y="7698449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7897416"/>
            <a:ext cx="272415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62"/>
              </a:lnSpc>
              <a:buNone/>
            </a:pPr>
            <a:r>
              <a:rPr lang="en-US" sz="255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№ 32932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3790950" y="7965149"/>
            <a:ext cx="147942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57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Сервис включён в Реестр отечественного ПО (от 31.03.2026)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823531" y="9589823"/>
            <a:ext cx="492919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 / 16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89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ЗА СВОЙ СЧЁТ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Что планируется доработать в Сервисе в 2026–2027 гг.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686175"/>
            <a:ext cx="51435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986742"/>
            <a:ext cx="5657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4542896"/>
            <a:ext cx="5297805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42"/>
              </a:lnSpc>
              <a:buNone/>
            </a:pPr>
            <a:r>
              <a:rPr lang="en-US" sz="202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Автоматизировать разбор, систематизацию и организацию хранения (по видам и срокам) переданных в обработку документов для их последующего распознавания и автоматического ввода в учётную систему клиента и обеспечения быстрого поиска документов в ходе проверок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572250" y="3686175"/>
            <a:ext cx="51435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8" name="Text 6"/>
          <p:cNvSpPr/>
          <p:nvPr/>
        </p:nvSpPr>
        <p:spPr>
          <a:xfrm>
            <a:off x="6572250" y="3986742"/>
            <a:ext cx="5657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72250" y="4542896"/>
            <a:ext cx="56578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42"/>
              </a:lnSpc>
              <a:buNone/>
            </a:pPr>
            <a:r>
              <a:rPr lang="en-US" sz="202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Добавить чат для общения с бухгалтером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096750" y="3686175"/>
            <a:ext cx="51435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1" name="Text 9"/>
          <p:cNvSpPr/>
          <p:nvPr/>
        </p:nvSpPr>
        <p:spPr>
          <a:xfrm>
            <a:off x="12096750" y="3986742"/>
            <a:ext cx="565785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96750" y="4542896"/>
            <a:ext cx="5297805" cy="2738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42"/>
              </a:lnSpc>
              <a:buNone/>
            </a:pPr>
            <a:r>
              <a:rPr lang="en-US" sz="202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Автоматизировать ввод в бухгалтерскую программу 1С следующих документов, полученных от клиентов сервиса: банковские выписки, акты сверок, кадровые документы на приём, увольнение сотрудника, начисление заработной платы и отпускных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814933" y="9589823"/>
            <a:ext cx="501518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 / 16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89" kern="0" dirty="0">
                <a:solidFill>
                  <a:srgbClr val="ABAD5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ПРЕДМЕТ ГРАНТА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4716125" cy="1127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51"/>
              </a:lnSpc>
              <a:buNone/>
            </a:pPr>
            <a:r>
              <a:rPr lang="en-US" sz="3900" b="1" spc="-58" kern="0" dirty="0">
                <a:solidFill>
                  <a:srgbClr val="F2F3ED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Что планируется доработать в Сервисе за счёт средств Гранта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4547791"/>
            <a:ext cx="95250" cy="2179108"/>
          </a:xfrm>
          <a:prstGeom prst="rect">
            <a:avLst/>
          </a:prstGeom>
          <a:solidFill>
            <a:srgbClr val="D73A61"/>
          </a:solidFill>
          <a:ln/>
        </p:spPr>
      </p:sp>
      <p:sp>
        <p:nvSpPr>
          <p:cNvPr id="5" name="Text 3"/>
          <p:cNvSpPr/>
          <p:nvPr/>
        </p:nvSpPr>
        <p:spPr>
          <a:xfrm>
            <a:off x="1581150" y="4547791"/>
            <a:ext cx="14716125" cy="221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68"/>
              </a:lnSpc>
              <a:buNone/>
            </a:pPr>
            <a:r>
              <a:rPr lang="en-US" sz="3300" dirty="0">
                <a:solidFill>
                  <a:srgbClr val="F2F3ED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Автоматизировать формирование и обработку в 1С первичных документов (счетов, актов, УПД) для клиента в режиме 24/7 без участия бухгалтера путём получения от клиента задачи в виде текста или голосового сообщения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F2F3ED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A3A59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821812" y="9589823"/>
            <a:ext cx="494639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A3A59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5 / 16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89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ПРЕДМЕТ ГРАНТА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Суть ИТ-решения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3061494"/>
            <a:ext cx="15206662" cy="149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81"/>
              </a:lnSpc>
              <a:buNone/>
            </a:pPr>
            <a:r>
              <a:rPr lang="en-US" sz="24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В нашем онлайн-сервисе клиент обращается к ИИ-помощнику «Бухдеск», который подключается к бухгалтерской базе 1С клиента и по заданию клиента (путём печатного или голосового ввода данных) сервис создаёт счёт на оплату или УПД/акт выполненных работ без помощи бухгалтера.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1047750" y="4903787"/>
            <a:ext cx="15206662" cy="149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81"/>
              </a:lnSpc>
              <a:buNone/>
            </a:pPr>
            <a:r>
              <a:rPr lang="en-US" sz="24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Сервис самостоятельно в справочниках учётной системы клиента подбирает необходимых контрагентов и номенклатуру товара или услуги, выставляет необходимое количество и цену, ставку НДС.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1047750" y="6746081"/>
            <a:ext cx="15206662" cy="1012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81"/>
              </a:lnSpc>
              <a:buNone/>
            </a:pPr>
            <a:r>
              <a:rPr lang="en-US" sz="24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На основании текстовых сообщений или голосовых комментариев от клиента созданные документы корректируются до нужных значений.</a:t>
            </a:r>
            <a:endParaRPr lang="en-US" sz="2475" dirty="0"/>
          </a:p>
        </p:txBody>
      </p:sp>
      <p:sp>
        <p:nvSpPr>
          <p:cNvPr id="7" name="Shape 5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823531" y="9589823"/>
            <a:ext cx="492919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6 / 16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Технологическая основа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750" y="1917171"/>
            <a:ext cx="3548063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917171"/>
            <a:ext cx="3548063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2332038"/>
            <a:ext cx="3232309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58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ШАГ 1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352550" y="2821517"/>
            <a:ext cx="3026616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44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пользователь печатает или надиктовывает текст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557713" y="3052498"/>
            <a:ext cx="742950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458"/>
              </a:lnSpc>
              <a:buNone/>
            </a:pPr>
            <a:r>
              <a:rPr lang="en-US" sz="330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→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262563" y="1917171"/>
            <a:ext cx="3548063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262563" y="1917171"/>
            <a:ext cx="3548063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0" name="Text 8"/>
          <p:cNvSpPr/>
          <p:nvPr/>
        </p:nvSpPr>
        <p:spPr>
          <a:xfrm>
            <a:off x="5567363" y="2332038"/>
            <a:ext cx="3232309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58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ШАГ 2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567363" y="2821517"/>
            <a:ext cx="323230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44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ИИ извлекает данные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772525" y="3052498"/>
            <a:ext cx="742950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458"/>
              </a:lnSpc>
              <a:buNone/>
            </a:pPr>
            <a:r>
              <a:rPr lang="en-US" sz="330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477375" y="1917171"/>
            <a:ext cx="3548063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477375" y="1917171"/>
            <a:ext cx="3548063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782175" y="2332038"/>
            <a:ext cx="3232309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58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ШАГ 3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9782175" y="2821517"/>
            <a:ext cx="302661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44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создаёт документ в 1С через OData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987338" y="3052498"/>
            <a:ext cx="742950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458"/>
              </a:lnSpc>
              <a:buNone/>
            </a:pPr>
            <a:r>
              <a:rPr lang="en-US" sz="330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→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3692188" y="1917171"/>
            <a:ext cx="3548063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692188" y="1917171"/>
            <a:ext cx="3548063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20" name="Text 18"/>
          <p:cNvSpPr/>
          <p:nvPr/>
        </p:nvSpPr>
        <p:spPr>
          <a:xfrm>
            <a:off x="13996988" y="2332038"/>
            <a:ext cx="3232309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58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ШАГ 4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3996988" y="2821517"/>
            <a:ext cx="302661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344"/>
              </a:lnSpc>
              <a:buNone/>
            </a:pPr>
            <a:r>
              <a:rPr lang="en-US" sz="22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передаёт документ клиенту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830411" y="9589823"/>
            <a:ext cx="486040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7 / 16</a:t>
            </a:r>
            <a:endParaRPr lang="en-US" sz="1350" dirty="0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4663440"/>
            <a:ext cx="4928616" cy="4480560"/>
          </a:xfrm>
          <a:prstGeom prst="rect">
            <a:avLst/>
          </a:prstGeom>
          <a:ln w="12700">
            <a:solidFill>
              <a:srgbClr val="D3D4CF"/>
            </a:solidFill>
          </a:ln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4" y="4663440"/>
            <a:ext cx="4087368" cy="4480560"/>
          </a:xfrm>
          <a:prstGeom prst="rect">
            <a:avLst/>
          </a:prstGeom>
          <a:ln w="12700">
            <a:solidFill>
              <a:srgbClr val="D3D4C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51435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89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АКТУАЛЬНОСТЬ И СОЦИАЛЬНАЯ ЗНАЧИМОСТЬ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946679"/>
            <a:ext cx="16187738" cy="1001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15"/>
              </a:lnSpc>
              <a:buNone/>
            </a:pPr>
            <a:r>
              <a:rPr lang="en-US" sz="3300" b="1" spc="-49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Одна из самых частых жалоб предпринимателей на бухгалтеров — НЕОПЕРАТИВНОЕ реагирование на срочные задачи.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47750" y="2082006"/>
            <a:ext cx="15206662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36"/>
              </a:lnSpc>
              <a:buNone/>
            </a:pPr>
            <a:r>
              <a:rPr lang="en-US" sz="1950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ИИ-помощник в бухгалтерии — это поддержка бизнеса в условиях текущей экономической ситуации и возможность компенсировать рост издержек из-за роста налогов.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173412"/>
            <a:ext cx="17811750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800" spc="108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ЭФФЕКТ ОТ ЗАМЕНЫ БУХГАЛТЕРА-ПЕРВИЧНИКА НА ИИ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3664876"/>
            <a:ext cx="16192500" cy="5649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468283"/>
            <a:ext cx="53340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836326"/>
            <a:ext cx="4922520" cy="498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500" spc="90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ПОКАЗАТЕЛЬ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81750" y="4468283"/>
            <a:ext cx="108585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0" y="3836326"/>
            <a:ext cx="10612755" cy="498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500" spc="90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ЧТО ОЗНАЧАЕТ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47750" y="5441024"/>
            <a:ext cx="5334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4694767"/>
            <a:ext cx="4922520" cy="574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от 45 до 80 тыс. руб./мес.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6381750" y="5441024"/>
            <a:ext cx="10858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0" y="4694767"/>
            <a:ext cx="10612755" cy="574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43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Экономия компании на зарплате сотрудника на 1 сотрудника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7750" y="6405298"/>
            <a:ext cx="5334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5659041"/>
            <a:ext cx="4922520" cy="574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до 20 часов в месяц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6381750" y="6405298"/>
            <a:ext cx="10858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8" name="Text 16"/>
          <p:cNvSpPr/>
          <p:nvPr/>
        </p:nvSpPr>
        <p:spPr>
          <a:xfrm>
            <a:off x="6667500" y="5659041"/>
            <a:ext cx="10612755" cy="574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43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Экономия времени предпринимателя, который сам выставляет клиентам счета и акты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" y="7369704"/>
            <a:ext cx="5334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6623315"/>
            <a:ext cx="4922520" cy="57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до 80–90%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381750" y="7369704"/>
            <a:ext cx="10858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2" name="Text 20"/>
          <p:cNvSpPr/>
          <p:nvPr/>
        </p:nvSpPr>
        <p:spPr>
          <a:xfrm>
            <a:off x="6667500" y="6623315"/>
            <a:ext cx="10612755" cy="57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43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Снижение ошибок в первичке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8334111"/>
            <a:ext cx="5334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7587721"/>
            <a:ext cx="4922520" cy="57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в 3–10 раз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6381750" y="8334111"/>
            <a:ext cx="10858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7587721"/>
            <a:ext cx="10612755" cy="57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43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Скорость обработки документов быстрее ручного ввода в круглосуточном режиме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33500" y="8552127"/>
            <a:ext cx="4922520" cy="59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29"/>
              </a:lnSpc>
              <a:buNone/>
            </a:pPr>
            <a:r>
              <a:rPr lang="en-US" sz="22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на 20–25%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6667500" y="8552127"/>
            <a:ext cx="10612755" cy="59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79"/>
              </a:lnSpc>
              <a:buNone/>
            </a:pPr>
            <a:r>
              <a:rPr lang="en-US" sz="195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Увеличение продаж за счёт ускорения реагирования на заявки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47750" y="950515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750" y="96660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6820488" y="9666023"/>
            <a:ext cx="495961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8 / 16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Технологическая основа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750" y="2341615"/>
            <a:ext cx="7972425" cy="2651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2341615"/>
            <a:ext cx="42333" cy="265176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5" name="Text 3"/>
          <p:cNvSpPr/>
          <p:nvPr/>
        </p:nvSpPr>
        <p:spPr>
          <a:xfrm>
            <a:off x="1413933" y="2703565"/>
            <a:ext cx="7500863" cy="12895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Веб-интерфейс </a:t>
            </a:r>
            <a:pPr algn="l" indent="0" marL="0">
              <a:lnSpc>
                <a:spcPct val="125481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— удобные формы, шаблоны, история и выгрузки. Сервис не зависит от мессенджеров, которые могут быть заблокированы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267825" y="2341615"/>
            <a:ext cx="7972425" cy="2651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267825" y="2341615"/>
            <a:ext cx="42333" cy="265176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8" name="Text 6"/>
          <p:cNvSpPr/>
          <p:nvPr/>
        </p:nvSpPr>
        <p:spPr>
          <a:xfrm>
            <a:off x="9634008" y="2703565"/>
            <a:ext cx="7500863" cy="87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Распознавание и понимание </a:t>
            </a:r>
            <a:pPr algn="l" indent="0" marL="0">
              <a:lnSpc>
                <a:spcPct val="125481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— SpeechKit + YandexGPT извлекают данные из речи и текста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047750" y="5449824"/>
            <a:ext cx="7972425" cy="2651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5449824"/>
            <a:ext cx="42333" cy="265176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1" name="Text 9"/>
          <p:cNvSpPr/>
          <p:nvPr/>
        </p:nvSpPr>
        <p:spPr>
          <a:xfrm>
            <a:off x="1413933" y="5815584"/>
            <a:ext cx="7500863" cy="87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Интеграция через OData </a:t>
            </a:r>
            <a:pPr algn="l" indent="0" marL="0">
              <a:lnSpc>
                <a:spcPct val="125481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— создание счетов и актов без доработки конфигурации 1С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267825" y="5449824"/>
            <a:ext cx="7972425" cy="2651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267825" y="5449824"/>
            <a:ext cx="42333" cy="265176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34008" y="5815584"/>
            <a:ext cx="7500863" cy="87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1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Контроль и безопасность </a:t>
            </a:r>
            <a:pPr algn="l" indent="0" marL="0">
              <a:lnSpc>
                <a:spcPct val="125481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— превью документа, подтверждение, роли и полный аудит действий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6823531" y="9589823"/>
            <a:ext cx="492919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9 / 16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2865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89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СРАВНЕНИЕ С КОНКУРЕНТАМИ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041929"/>
            <a:ext cx="17811750" cy="572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48"/>
              </a:lnSpc>
              <a:buNone/>
            </a:pPr>
            <a:r>
              <a:rPr lang="en-US" sz="3900" b="1" spc="-58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Чем «Бухдеск» отличается от аналогов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47750" y="1729184"/>
            <a:ext cx="14716125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17"/>
              </a:lnSpc>
              <a:buNone/>
            </a:pPr>
            <a:r>
              <a:rPr lang="en-US" sz="1875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На рынке нет подобного сервиса, создающего комплексную инфраструктуру для бухгалтерского, налогового и управленческого учёта компаний.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2791222"/>
            <a:ext cx="16192500" cy="6428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614340"/>
            <a:ext cx="655981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981722"/>
            <a:ext cx="6261309" cy="480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500" spc="90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КРИТЕРИЙ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07565" y="3614340"/>
            <a:ext cx="2140611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9" name="Text 7"/>
          <p:cNvSpPr/>
          <p:nvPr/>
        </p:nvSpPr>
        <p:spPr>
          <a:xfrm>
            <a:off x="7740915" y="2981722"/>
            <a:ext cx="1873911" cy="480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545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Entera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748176" y="3614340"/>
            <a:ext cx="2140479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1" name="Text 9"/>
          <p:cNvSpPr/>
          <p:nvPr/>
        </p:nvSpPr>
        <p:spPr>
          <a:xfrm>
            <a:off x="9881526" y="2981722"/>
            <a:ext cx="1873779" cy="480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545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ARQA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88656" y="3614340"/>
            <a:ext cx="2589477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21264" y="2981722"/>
            <a:ext cx="2324261" cy="480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545"/>
              </a:lnSpc>
              <a:buNone/>
            </a:pPr>
            <a:r>
              <a:rPr lang="en-US" sz="180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Кнопка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478133" y="2791222"/>
            <a:ext cx="2761985" cy="840052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5" name="Text 13"/>
          <p:cNvSpPr/>
          <p:nvPr/>
        </p:nvSpPr>
        <p:spPr>
          <a:xfrm>
            <a:off x="14608153" y="2981722"/>
            <a:ext cx="2501945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5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Бухдеск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4505854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3840824"/>
            <a:ext cx="6261309" cy="493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3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Своя бухгалтерская экспертиза (15 лет)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7607565" y="4505854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9" name="Text 17"/>
          <p:cNvSpPr/>
          <p:nvPr/>
        </p:nvSpPr>
        <p:spPr>
          <a:xfrm>
            <a:off x="7740915" y="3840824"/>
            <a:ext cx="1873911" cy="493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748176" y="4505854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1" name="Text 19"/>
          <p:cNvSpPr/>
          <p:nvPr/>
        </p:nvSpPr>
        <p:spPr>
          <a:xfrm>
            <a:off x="9881526" y="3840824"/>
            <a:ext cx="1873779" cy="493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888656" y="4505854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3" name="Text 21"/>
          <p:cNvSpPr/>
          <p:nvPr/>
        </p:nvSpPr>
        <p:spPr>
          <a:xfrm>
            <a:off x="12021264" y="3840824"/>
            <a:ext cx="2324261" cy="493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4478133" y="3631274"/>
            <a:ext cx="2761985" cy="883047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4608153" y="3840824"/>
            <a:ext cx="2501945" cy="502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047750" y="5389033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4723871"/>
            <a:ext cx="6261309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3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Личный кабинет клиента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607565" y="5389033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9" name="Text 27"/>
          <p:cNvSpPr/>
          <p:nvPr/>
        </p:nvSpPr>
        <p:spPr>
          <a:xfrm>
            <a:off x="7740915" y="4723871"/>
            <a:ext cx="1873911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748176" y="5389033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1" name="Text 29"/>
          <p:cNvSpPr/>
          <p:nvPr/>
        </p:nvSpPr>
        <p:spPr>
          <a:xfrm>
            <a:off x="9881526" y="4723871"/>
            <a:ext cx="1873779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888656" y="5389033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3" name="Text 31"/>
          <p:cNvSpPr/>
          <p:nvPr/>
        </p:nvSpPr>
        <p:spPr>
          <a:xfrm>
            <a:off x="12021264" y="4723871"/>
            <a:ext cx="2324261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4478133" y="4514321"/>
            <a:ext cx="2761985" cy="883179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4608153" y="4723871"/>
            <a:ext cx="2501945" cy="502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047750" y="6272213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7" name="Text 35"/>
          <p:cNvSpPr/>
          <p:nvPr/>
        </p:nvSpPr>
        <p:spPr>
          <a:xfrm>
            <a:off x="1295400" y="5607050"/>
            <a:ext cx="6261309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3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Интеграция с 1С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607565" y="6272213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9" name="Text 37"/>
          <p:cNvSpPr/>
          <p:nvPr/>
        </p:nvSpPr>
        <p:spPr>
          <a:xfrm>
            <a:off x="7740915" y="5607050"/>
            <a:ext cx="1873911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9748176" y="6272213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1" name="Text 39"/>
          <p:cNvSpPr/>
          <p:nvPr/>
        </p:nvSpPr>
        <p:spPr>
          <a:xfrm>
            <a:off x="9881526" y="5607050"/>
            <a:ext cx="1873779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888656" y="6272213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3" name="Text 41"/>
          <p:cNvSpPr/>
          <p:nvPr/>
        </p:nvSpPr>
        <p:spPr>
          <a:xfrm>
            <a:off x="12021264" y="5607050"/>
            <a:ext cx="2324261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154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Своя система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4478133" y="5397500"/>
            <a:ext cx="2761985" cy="883179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4608153" y="5607050"/>
            <a:ext cx="2501945" cy="502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047750" y="7155392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7" name="Text 45"/>
          <p:cNvSpPr/>
          <p:nvPr/>
        </p:nvSpPr>
        <p:spPr>
          <a:xfrm>
            <a:off x="1295400" y="6490229"/>
            <a:ext cx="6261309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3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Входит в комплекс аутсорсингового обслуживания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7607565" y="7155392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9" name="Text 47"/>
          <p:cNvSpPr/>
          <p:nvPr/>
        </p:nvSpPr>
        <p:spPr>
          <a:xfrm>
            <a:off x="7740915" y="6490229"/>
            <a:ext cx="1873911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9748176" y="7155392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1" name="Text 49"/>
          <p:cNvSpPr/>
          <p:nvPr/>
        </p:nvSpPr>
        <p:spPr>
          <a:xfrm>
            <a:off x="9881526" y="6490229"/>
            <a:ext cx="1873779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1888656" y="7155392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3" name="Text 51"/>
          <p:cNvSpPr/>
          <p:nvPr/>
        </p:nvSpPr>
        <p:spPr>
          <a:xfrm>
            <a:off x="12021264" y="6490229"/>
            <a:ext cx="2324261" cy="49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4478133" y="6280679"/>
            <a:ext cx="2761985" cy="883179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4608153" y="6490229"/>
            <a:ext cx="2501945" cy="502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047750" y="8324321"/>
            <a:ext cx="655981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7" name="Text 55"/>
          <p:cNvSpPr/>
          <p:nvPr/>
        </p:nvSpPr>
        <p:spPr>
          <a:xfrm>
            <a:off x="1295400" y="7373409"/>
            <a:ext cx="6261309" cy="779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37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Автоматическая обработка первички (текст → документы 1С)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7607565" y="8324321"/>
            <a:ext cx="2140611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9" name="Text 57"/>
          <p:cNvSpPr/>
          <p:nvPr/>
        </p:nvSpPr>
        <p:spPr>
          <a:xfrm>
            <a:off x="7740915" y="7373409"/>
            <a:ext cx="1873911" cy="779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9748176" y="8324321"/>
            <a:ext cx="2140479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1" name="Text 59"/>
          <p:cNvSpPr/>
          <p:nvPr/>
        </p:nvSpPr>
        <p:spPr>
          <a:xfrm>
            <a:off x="9881526" y="7373409"/>
            <a:ext cx="1873779" cy="779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1888656" y="8324321"/>
            <a:ext cx="2589477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3" name="Text 61"/>
          <p:cNvSpPr/>
          <p:nvPr/>
        </p:nvSpPr>
        <p:spPr>
          <a:xfrm>
            <a:off x="12021264" y="7373409"/>
            <a:ext cx="2324261" cy="779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4478133" y="7163859"/>
            <a:ext cx="2761985" cy="1168929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4608153" y="7373409"/>
            <a:ext cx="2501945" cy="787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66" name="Text 64"/>
          <p:cNvSpPr/>
          <p:nvPr/>
        </p:nvSpPr>
        <p:spPr>
          <a:xfrm>
            <a:off x="1295400" y="8542337"/>
            <a:ext cx="6261309" cy="505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945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ИИ-агент (голос → документы 1С)</a:t>
            </a:r>
            <a:endParaRPr lang="en-US" sz="1875" dirty="0"/>
          </a:p>
        </p:txBody>
      </p:sp>
      <p:sp>
        <p:nvSpPr>
          <p:cNvPr id="67" name="Text 65"/>
          <p:cNvSpPr/>
          <p:nvPr/>
        </p:nvSpPr>
        <p:spPr>
          <a:xfrm>
            <a:off x="7740915" y="8542337"/>
            <a:ext cx="1873911" cy="505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68" name="Text 66"/>
          <p:cNvSpPr/>
          <p:nvPr/>
        </p:nvSpPr>
        <p:spPr>
          <a:xfrm>
            <a:off x="9881526" y="8542337"/>
            <a:ext cx="1873779" cy="505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69" name="Text 67"/>
          <p:cNvSpPr/>
          <p:nvPr/>
        </p:nvSpPr>
        <p:spPr>
          <a:xfrm>
            <a:off x="12021264" y="8542337"/>
            <a:ext cx="2324261" cy="505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8A8C8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Нет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4478133" y="8332787"/>
            <a:ext cx="2761985" cy="886619"/>
          </a:xfrm>
          <a:prstGeom prst="rect">
            <a:avLst/>
          </a:prstGeom>
          <a:solidFill>
            <a:srgbClr val="7C7E2E">
              <a:alpha val="12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4608153" y="8542337"/>
            <a:ext cx="2501945" cy="505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809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Да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047750" y="946705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73" name="Text 71"/>
          <p:cNvSpPr/>
          <p:nvPr/>
        </p:nvSpPr>
        <p:spPr>
          <a:xfrm>
            <a:off x="1047750" y="96279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6748125" y="9627923"/>
            <a:ext cx="568325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10 / 16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89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СРАВНЕНИЕ С КОНКУРЕНТАМИ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Главное отличие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4933024"/>
            <a:ext cx="7995761" cy="1410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05"/>
              </a:lnSpc>
              <a:buNone/>
            </a:pPr>
            <a:r>
              <a:rPr lang="en-US" sz="232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«Бухдеск» — не просто софт, а отраслевая вертикаль: 15-летний бухгалтерский опыт + IT-платформа + разрабатываемый ИИ-агент.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9477375" y="3988858"/>
            <a:ext cx="7762875" cy="2540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6" name="Text 4"/>
          <p:cNvSpPr/>
          <p:nvPr/>
        </p:nvSpPr>
        <p:spPr>
          <a:xfrm>
            <a:off x="9477375" y="4280958"/>
            <a:ext cx="8539163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2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КОНКУРЕНТЫ ПРЕДЛАГАЮТ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477375" y="4770438"/>
            <a:ext cx="7995761" cy="251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87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Либо софт как отдельную функцию без бухгалтерского аутсорсинга (Entera, при этом сервис запущен только в сентябре 2026 года и работает в тестовом режиме), ARQA), либо еще не реализовали функцию постановки задач голосом (Кнопка), либо предлагают экспертизу без автоматизации (классический аутсорсинг).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797867" y="9589823"/>
            <a:ext cx="518583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11 / 16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Перспективы проекта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047750" y="3434027"/>
            <a:ext cx="7946708" cy="401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846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По нашему мнению, передача ввода первичной документации на ИИ — только начинается и в ближайшие годы будет развиваться с помощью множества сервисов. В настоящее время есть единицы таких решений, пока не получившие известности и массового использования из-за большого количества недоработок, отсутствия гарантий конфиденциальности для клиентов (в том числе нет гарантий отсутствия трансграничной передачи данных из-за использования иностранных моделей ИИ).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9525000" y="3875881"/>
            <a:ext cx="42333" cy="3092979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5" name="Text 3"/>
          <p:cNvSpPr/>
          <p:nvPr/>
        </p:nvSpPr>
        <p:spPr>
          <a:xfrm>
            <a:off x="9929283" y="3875881"/>
            <a:ext cx="7542424" cy="313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846"/>
              </a:lnSpc>
              <a:buNone/>
            </a:pPr>
            <a:r>
              <a:rPr lang="en-US" sz="21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Для клиентов, работающих с бухгалтерским аутсорсингом, наше решение будет оптимальным, так как оно является комплексным, клиенты уже доверили нам свою бухгалтерию, и это значит, что они уверены в безопасности данных, кроме того, им не потребуется подключать дополнительные сервисы и вникать в их изучение.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766117" y="9589823"/>
            <a:ext cx="550333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12 / 16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Перспективы проекта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750" y="3245908"/>
            <a:ext cx="4953000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3245908"/>
            <a:ext cx="49530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79825"/>
            <a:ext cx="473583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58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01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371600" y="4169304"/>
            <a:ext cx="4434459" cy="921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95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Налоговая реформа создала всплеск спроса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62650" y="4354645"/>
            <a:ext cx="742950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125"/>
              </a:lnSpc>
              <a:buNone/>
            </a:pPr>
            <a:r>
              <a:rPr lang="en-US" sz="360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667500" y="3245908"/>
            <a:ext cx="4953000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667500" y="3245908"/>
            <a:ext cx="49530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0" name="Text 8"/>
          <p:cNvSpPr/>
          <p:nvPr/>
        </p:nvSpPr>
        <p:spPr>
          <a:xfrm>
            <a:off x="6991350" y="3679825"/>
            <a:ext cx="473583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58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02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991350" y="4169304"/>
            <a:ext cx="4434459" cy="921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95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дефицит кадров стимулирует рост аутсорсинга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582400" y="4354645"/>
            <a:ext cx="742950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125"/>
              </a:lnSpc>
              <a:buNone/>
            </a:pPr>
            <a:r>
              <a:rPr lang="en-US" sz="360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2287250" y="3129227"/>
            <a:ext cx="4953000" cy="3090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87250" y="3129227"/>
            <a:ext cx="4953000" cy="33867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1100" y="3563144"/>
            <a:ext cx="473583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58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03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2611100" y="4052623"/>
            <a:ext cx="4434459" cy="1805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95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ИИ-автоматизация — единственный способ масштабироваться без увеличения штата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47750" y="6734440"/>
            <a:ext cx="178117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74"/>
              </a:lnSpc>
              <a:buNone/>
            </a:pPr>
            <a:r>
              <a:rPr lang="en-US" sz="255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«Бухдеск» находится в точке пересечения всех трёх трендов.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765323" y="9589823"/>
            <a:ext cx="551127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13 / 16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28650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Бюджет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750" y="1549135"/>
            <a:ext cx="16192500" cy="67521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2271051"/>
            <a:ext cx="857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1720585"/>
            <a:ext cx="552450" cy="417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№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905000" y="2271051"/>
            <a:ext cx="595312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" name="Text 5"/>
          <p:cNvSpPr/>
          <p:nvPr/>
        </p:nvSpPr>
        <p:spPr>
          <a:xfrm>
            <a:off x="2095500" y="1720585"/>
            <a:ext cx="5750719" cy="417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СТАТЬЯ РАСХОДОВ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7858125" y="2271051"/>
            <a:ext cx="21907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9" name="Text 7"/>
          <p:cNvSpPr/>
          <p:nvPr/>
        </p:nvSpPr>
        <p:spPr>
          <a:xfrm>
            <a:off x="7972425" y="1720585"/>
            <a:ext cx="1885950" cy="417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СУММА, ₽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0048875" y="2271051"/>
            <a:ext cx="1238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1" name="Text 9"/>
          <p:cNvSpPr/>
          <p:nvPr/>
        </p:nvSpPr>
        <p:spPr>
          <a:xfrm>
            <a:off x="10163175" y="1720585"/>
            <a:ext cx="933450" cy="417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ДОЛЯ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287125" y="2271051"/>
            <a:ext cx="595312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77625" y="1720585"/>
            <a:ext cx="5750719" cy="417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ЗАНЯТОСТЬ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047750" y="3128036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2478484"/>
            <a:ext cx="5524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1.1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905000" y="3128036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7" name="Text 15"/>
          <p:cNvSpPr/>
          <p:nvPr/>
        </p:nvSpPr>
        <p:spPr>
          <a:xfrm>
            <a:off x="2095500" y="2478484"/>
            <a:ext cx="5750719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Python/AI-разработчик (Middle)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7858125" y="3128036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9" name="Text 17"/>
          <p:cNvSpPr/>
          <p:nvPr/>
        </p:nvSpPr>
        <p:spPr>
          <a:xfrm>
            <a:off x="7972425" y="2478484"/>
            <a:ext cx="18859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575 000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048875" y="3128036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3175" y="2478484"/>
            <a:ext cx="9334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13,8%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287125" y="3128036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77625" y="2478484"/>
            <a:ext cx="5750719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55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250 000 ₽, 4 мес, 50%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1047750" y="3976555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3327003"/>
            <a:ext cx="5524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1.2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905000" y="3976555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7" name="Text 25"/>
          <p:cNvSpPr/>
          <p:nvPr/>
        </p:nvSpPr>
        <p:spPr>
          <a:xfrm>
            <a:off x="2095500" y="3327003"/>
            <a:ext cx="5750719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Бэкенд-разработчик / архитектор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858125" y="3976555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9" name="Text 27"/>
          <p:cNvSpPr/>
          <p:nvPr/>
        </p:nvSpPr>
        <p:spPr>
          <a:xfrm>
            <a:off x="7972425" y="3327003"/>
            <a:ext cx="18859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1 265 000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0048875" y="3976555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3175" y="3327003"/>
            <a:ext cx="9334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30,5%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287125" y="3976555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3" name="Text 31"/>
          <p:cNvSpPr/>
          <p:nvPr/>
        </p:nvSpPr>
        <p:spPr>
          <a:xfrm>
            <a:off x="11477625" y="3327003"/>
            <a:ext cx="5750719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55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220 000 ₽, 5 мес, 100%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1047750" y="4825074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5" name="Text 33"/>
          <p:cNvSpPr/>
          <p:nvPr/>
        </p:nvSpPr>
        <p:spPr>
          <a:xfrm>
            <a:off x="1238250" y="4175522"/>
            <a:ext cx="5524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1.3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905000" y="4825074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7" name="Text 35"/>
          <p:cNvSpPr/>
          <p:nvPr/>
        </p:nvSpPr>
        <p:spPr>
          <a:xfrm>
            <a:off x="2095500" y="4175522"/>
            <a:ext cx="5750719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Фронтенд-разработчик (React/Vue)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858125" y="4825074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9" name="Text 37"/>
          <p:cNvSpPr/>
          <p:nvPr/>
        </p:nvSpPr>
        <p:spPr>
          <a:xfrm>
            <a:off x="7972425" y="4175522"/>
            <a:ext cx="18859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828 000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0048875" y="4825074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1" name="Text 39"/>
          <p:cNvSpPr/>
          <p:nvPr/>
        </p:nvSpPr>
        <p:spPr>
          <a:xfrm>
            <a:off x="10163175" y="4175522"/>
            <a:ext cx="933450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19,9%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287125" y="4825074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3" name="Text 41"/>
          <p:cNvSpPr/>
          <p:nvPr/>
        </p:nvSpPr>
        <p:spPr>
          <a:xfrm>
            <a:off x="11477625" y="4175522"/>
            <a:ext cx="5750719" cy="497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55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180 000 ₽, 4 мес, 100%</a:t>
            </a:r>
            <a:endParaRPr lang="en-US" sz="1725" dirty="0"/>
          </a:p>
        </p:txBody>
      </p:sp>
      <p:sp>
        <p:nvSpPr>
          <p:cNvPr id="44" name="Shape 42"/>
          <p:cNvSpPr/>
          <p:nvPr/>
        </p:nvSpPr>
        <p:spPr>
          <a:xfrm>
            <a:off x="1047750" y="5673725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5" name="Text 43"/>
          <p:cNvSpPr/>
          <p:nvPr/>
        </p:nvSpPr>
        <p:spPr>
          <a:xfrm>
            <a:off x="1238250" y="5024041"/>
            <a:ext cx="5524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1.4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905000" y="5673725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7" name="Text 45"/>
          <p:cNvSpPr/>
          <p:nvPr/>
        </p:nvSpPr>
        <p:spPr>
          <a:xfrm>
            <a:off x="2095500" y="5024041"/>
            <a:ext cx="5750719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Тестировщик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7858125" y="5673725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9" name="Text 47"/>
          <p:cNvSpPr/>
          <p:nvPr/>
        </p:nvSpPr>
        <p:spPr>
          <a:xfrm>
            <a:off x="7972425" y="5024041"/>
            <a:ext cx="18859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460 000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0048875" y="5673725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1" name="Text 49"/>
          <p:cNvSpPr/>
          <p:nvPr/>
        </p:nvSpPr>
        <p:spPr>
          <a:xfrm>
            <a:off x="10163175" y="5024041"/>
            <a:ext cx="9334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11,1%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1287125" y="5673725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3" name="Text 51"/>
          <p:cNvSpPr/>
          <p:nvPr/>
        </p:nvSpPr>
        <p:spPr>
          <a:xfrm>
            <a:off x="11477625" y="5024041"/>
            <a:ext cx="5750719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55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80 000 ₽, 5 мес, 100%</a:t>
            </a:r>
            <a:endParaRPr lang="en-US" sz="1725" dirty="0"/>
          </a:p>
        </p:txBody>
      </p:sp>
      <p:sp>
        <p:nvSpPr>
          <p:cNvPr id="54" name="Shape 52"/>
          <p:cNvSpPr/>
          <p:nvPr/>
        </p:nvSpPr>
        <p:spPr>
          <a:xfrm>
            <a:off x="1047750" y="6522376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5" name="Text 53"/>
          <p:cNvSpPr/>
          <p:nvPr/>
        </p:nvSpPr>
        <p:spPr>
          <a:xfrm>
            <a:off x="1238250" y="5872692"/>
            <a:ext cx="5524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1.5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905000" y="6522376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7" name="Text 55"/>
          <p:cNvSpPr/>
          <p:nvPr/>
        </p:nvSpPr>
        <p:spPr>
          <a:xfrm>
            <a:off x="2095500" y="5872692"/>
            <a:ext cx="5750719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Системный аналитик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7858125" y="6522376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9" name="Text 57"/>
          <p:cNvSpPr/>
          <p:nvPr/>
        </p:nvSpPr>
        <p:spPr>
          <a:xfrm>
            <a:off x="7972425" y="5872692"/>
            <a:ext cx="18859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431 250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0048875" y="6522376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1" name="Text 59"/>
          <p:cNvSpPr/>
          <p:nvPr/>
        </p:nvSpPr>
        <p:spPr>
          <a:xfrm>
            <a:off x="10163175" y="5872692"/>
            <a:ext cx="9334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10,4%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1287125" y="6522376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3" name="Text 61"/>
          <p:cNvSpPr/>
          <p:nvPr/>
        </p:nvSpPr>
        <p:spPr>
          <a:xfrm>
            <a:off x="11477625" y="5872692"/>
            <a:ext cx="5750719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55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150 000 ₽, 5 мес, 50%</a:t>
            </a:r>
            <a:endParaRPr lang="en-US" sz="1725" dirty="0"/>
          </a:p>
        </p:txBody>
      </p:sp>
      <p:sp>
        <p:nvSpPr>
          <p:cNvPr id="64" name="Shape 62"/>
          <p:cNvSpPr/>
          <p:nvPr/>
        </p:nvSpPr>
        <p:spPr>
          <a:xfrm>
            <a:off x="1047750" y="7371027"/>
            <a:ext cx="857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5" name="Text 63"/>
          <p:cNvSpPr/>
          <p:nvPr/>
        </p:nvSpPr>
        <p:spPr>
          <a:xfrm>
            <a:off x="1238250" y="6721343"/>
            <a:ext cx="5524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1.6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905000" y="7371027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7" name="Text 65"/>
          <p:cNvSpPr/>
          <p:nvPr/>
        </p:nvSpPr>
        <p:spPr>
          <a:xfrm>
            <a:off x="2095500" y="6721343"/>
            <a:ext cx="5750719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Руководитель проекта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7858125" y="7371027"/>
            <a:ext cx="2190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9" name="Text 67"/>
          <p:cNvSpPr/>
          <p:nvPr/>
        </p:nvSpPr>
        <p:spPr>
          <a:xfrm>
            <a:off x="7972425" y="6721343"/>
            <a:ext cx="18859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258 750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0048875" y="7371027"/>
            <a:ext cx="1238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71" name="Text 69"/>
          <p:cNvSpPr/>
          <p:nvPr/>
        </p:nvSpPr>
        <p:spPr>
          <a:xfrm>
            <a:off x="10163175" y="6721343"/>
            <a:ext cx="933450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6,2%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1287125" y="7371027"/>
            <a:ext cx="5953125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73" name="Text 71"/>
          <p:cNvSpPr/>
          <p:nvPr/>
        </p:nvSpPr>
        <p:spPr>
          <a:xfrm>
            <a:off x="11477625" y="6721343"/>
            <a:ext cx="5750719" cy="497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55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150 000 ₽, 5 мес, 30%</a:t>
            </a:r>
            <a:endParaRPr lang="en-US" sz="1725" dirty="0"/>
          </a:p>
        </p:txBody>
      </p:sp>
      <p:sp>
        <p:nvSpPr>
          <p:cNvPr id="74" name="Shape 72"/>
          <p:cNvSpPr/>
          <p:nvPr/>
        </p:nvSpPr>
        <p:spPr>
          <a:xfrm>
            <a:off x="1047750" y="7379494"/>
            <a:ext cx="857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5" name="Shape 73"/>
          <p:cNvSpPr/>
          <p:nvPr/>
        </p:nvSpPr>
        <p:spPr>
          <a:xfrm>
            <a:off x="1905000" y="7379494"/>
            <a:ext cx="595312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6" name="Text 74"/>
          <p:cNvSpPr/>
          <p:nvPr/>
        </p:nvSpPr>
        <p:spPr>
          <a:xfrm>
            <a:off x="2095500" y="7605977"/>
            <a:ext cx="575071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08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Итого по ФОТ</a:t>
            </a:r>
            <a:endParaRPr lang="en-US" sz="2025" dirty="0"/>
          </a:p>
        </p:txBody>
      </p:sp>
      <p:sp>
        <p:nvSpPr>
          <p:cNvPr id="77" name="Shape 75"/>
          <p:cNvSpPr/>
          <p:nvPr/>
        </p:nvSpPr>
        <p:spPr>
          <a:xfrm>
            <a:off x="7858125" y="7379494"/>
            <a:ext cx="21907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8" name="Text 76"/>
          <p:cNvSpPr/>
          <p:nvPr/>
        </p:nvSpPr>
        <p:spPr>
          <a:xfrm>
            <a:off x="7972425" y="7605977"/>
            <a:ext cx="18859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1908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3 818 000</a:t>
            </a:r>
            <a:endParaRPr lang="en-US" sz="2025" dirty="0"/>
          </a:p>
        </p:txBody>
      </p:sp>
      <p:sp>
        <p:nvSpPr>
          <p:cNvPr id="79" name="Shape 77"/>
          <p:cNvSpPr/>
          <p:nvPr/>
        </p:nvSpPr>
        <p:spPr>
          <a:xfrm>
            <a:off x="10048875" y="7379494"/>
            <a:ext cx="1238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0" name="Text 78"/>
          <p:cNvSpPr/>
          <p:nvPr/>
        </p:nvSpPr>
        <p:spPr>
          <a:xfrm>
            <a:off x="10163175" y="7605977"/>
            <a:ext cx="9334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1908"/>
              </a:lnSpc>
              <a:buNone/>
            </a:pPr>
            <a:r>
              <a:rPr lang="en-US" sz="202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91,9%</a:t>
            </a:r>
            <a:endParaRPr lang="en-US" sz="2025" dirty="0"/>
          </a:p>
        </p:txBody>
      </p:sp>
      <p:sp>
        <p:nvSpPr>
          <p:cNvPr id="81" name="Shape 79"/>
          <p:cNvSpPr/>
          <p:nvPr/>
        </p:nvSpPr>
        <p:spPr>
          <a:xfrm>
            <a:off x="11287125" y="7379494"/>
            <a:ext cx="5953125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2" name="Text 80"/>
          <p:cNvSpPr/>
          <p:nvPr/>
        </p:nvSpPr>
        <p:spPr>
          <a:xfrm>
            <a:off x="11477625" y="7605977"/>
            <a:ext cx="575071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855"/>
              </a:lnSpc>
              <a:buNone/>
            </a:pPr>
            <a:r>
              <a:rPr lang="en-US" sz="1725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ФОТ 3 320 000 ₽ + взносы 498 000 ₽</a:t>
            </a:r>
            <a:endParaRPr lang="en-US" sz="1725" dirty="0"/>
          </a:p>
        </p:txBody>
      </p:sp>
      <p:sp>
        <p:nvSpPr>
          <p:cNvPr id="83" name="Text 81"/>
          <p:cNvSpPr/>
          <p:nvPr/>
        </p:nvSpPr>
        <p:spPr>
          <a:xfrm>
            <a:off x="1047750" y="8548952"/>
            <a:ext cx="15697200" cy="74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18"/>
              </a:lnSpc>
              <a:buNone/>
            </a:pPr>
            <a:r>
              <a:rPr lang="en-US" sz="1800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Этапы: подготовительный (разработка архитектуры) — 1 месяц; разработка сервиса — 3 месяца; наладка бета-версии и тестовая эксплуатация — 2 месяца.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047750" y="946705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85" name="Text 83"/>
          <p:cNvSpPr/>
          <p:nvPr/>
        </p:nvSpPr>
        <p:spPr>
          <a:xfrm>
            <a:off x="1047750" y="96279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86" name="Text 84"/>
          <p:cNvSpPr/>
          <p:nvPr/>
        </p:nvSpPr>
        <p:spPr>
          <a:xfrm>
            <a:off x="16756724" y="9627923"/>
            <a:ext cx="55972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14 / 16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57200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Бюджет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750" y="1282435"/>
            <a:ext cx="16192500" cy="7310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2029883"/>
            <a:ext cx="9525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1453885"/>
            <a:ext cx="609600" cy="44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№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2000250" y="2029883"/>
            <a:ext cx="11525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" name="Text 5"/>
          <p:cNvSpPr/>
          <p:nvPr/>
        </p:nvSpPr>
        <p:spPr>
          <a:xfrm>
            <a:off x="2209800" y="1453885"/>
            <a:ext cx="11451908" cy="44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СТАТЬЯ РАСХОДОВ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3525500" y="2029883"/>
            <a:ext cx="22860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9" name="Text 7"/>
          <p:cNvSpPr/>
          <p:nvPr/>
        </p:nvSpPr>
        <p:spPr>
          <a:xfrm>
            <a:off x="13658850" y="1453885"/>
            <a:ext cx="1943100" cy="44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СУММА, ₽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5811500" y="2029883"/>
            <a:ext cx="14287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1" name="Text 9"/>
          <p:cNvSpPr/>
          <p:nvPr/>
        </p:nvSpPr>
        <p:spPr>
          <a:xfrm>
            <a:off x="15944850" y="1453885"/>
            <a:ext cx="1085850" cy="44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096"/>
              </a:lnSpc>
              <a:buNone/>
            </a:pPr>
            <a:r>
              <a:rPr lang="en-US" sz="1425" spc="86" kern="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ДОЛЯ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047750" y="2046817"/>
            <a:ext cx="16192500" cy="643599"/>
          </a:xfrm>
          <a:prstGeom prst="rect">
            <a:avLst/>
          </a:prstGeom>
          <a:solidFill>
            <a:srgbClr val="ABAD58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" y="2681949"/>
            <a:ext cx="1619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2142067"/>
            <a:ext cx="16259175" cy="48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65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2. Yandex AI API и облако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47750" y="3308482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2757091"/>
            <a:ext cx="6096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2.1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2000250" y="3308482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18" name="Text 16"/>
          <p:cNvSpPr/>
          <p:nvPr/>
        </p:nvSpPr>
        <p:spPr>
          <a:xfrm>
            <a:off x="2209800" y="2757091"/>
            <a:ext cx="11451908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YandexGPT API (Foundation Models)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3525500" y="3308482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0" name="Text 18"/>
          <p:cNvSpPr/>
          <p:nvPr/>
        </p:nvSpPr>
        <p:spPr>
          <a:xfrm>
            <a:off x="13658850" y="2757091"/>
            <a:ext cx="19431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72 000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5811500" y="3308482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2" name="Text 20"/>
          <p:cNvSpPr/>
          <p:nvPr/>
        </p:nvSpPr>
        <p:spPr>
          <a:xfrm>
            <a:off x="15944850" y="2757091"/>
            <a:ext cx="108585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1,7%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047750" y="3935016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3383624"/>
            <a:ext cx="6096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2.2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2000250" y="3935016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6" name="Text 24"/>
          <p:cNvSpPr/>
          <p:nvPr/>
        </p:nvSpPr>
        <p:spPr>
          <a:xfrm>
            <a:off x="2209800" y="3383624"/>
            <a:ext cx="11451908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Yandex SpeechKit STT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3525500" y="3935016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28" name="Text 26"/>
          <p:cNvSpPr/>
          <p:nvPr/>
        </p:nvSpPr>
        <p:spPr>
          <a:xfrm>
            <a:off x="13658850" y="3383624"/>
            <a:ext cx="19431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36 000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5811500" y="3935016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0" name="Text 28"/>
          <p:cNvSpPr/>
          <p:nvPr/>
        </p:nvSpPr>
        <p:spPr>
          <a:xfrm>
            <a:off x="15944850" y="3383624"/>
            <a:ext cx="108585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0,9%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47750" y="4561549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2" name="Text 30"/>
          <p:cNvSpPr/>
          <p:nvPr/>
        </p:nvSpPr>
        <p:spPr>
          <a:xfrm>
            <a:off x="1257300" y="4010157"/>
            <a:ext cx="6096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2.3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2000250" y="4561549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4" name="Text 32"/>
          <p:cNvSpPr/>
          <p:nvPr/>
        </p:nvSpPr>
        <p:spPr>
          <a:xfrm>
            <a:off x="2209800" y="4010157"/>
            <a:ext cx="11451908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Yandex Cloud — ВМ, хранилище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3525500" y="4561549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6" name="Text 34"/>
          <p:cNvSpPr/>
          <p:nvPr/>
        </p:nvSpPr>
        <p:spPr>
          <a:xfrm>
            <a:off x="13658850" y="4010157"/>
            <a:ext cx="19431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120 000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5811500" y="4561549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38" name="Text 36"/>
          <p:cNvSpPr/>
          <p:nvPr/>
        </p:nvSpPr>
        <p:spPr>
          <a:xfrm>
            <a:off x="15944850" y="4010157"/>
            <a:ext cx="108585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2,9%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047750" y="5188082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0" name="Text 38"/>
          <p:cNvSpPr/>
          <p:nvPr/>
        </p:nvSpPr>
        <p:spPr>
          <a:xfrm>
            <a:off x="1257300" y="4636691"/>
            <a:ext cx="6096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2.4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2000250" y="5188082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2" name="Text 40"/>
          <p:cNvSpPr/>
          <p:nvPr/>
        </p:nvSpPr>
        <p:spPr>
          <a:xfrm>
            <a:off x="2209800" y="4636691"/>
            <a:ext cx="11451908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Yandex Cloud — мониторинг, логи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3525500" y="5188082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4" name="Text 42"/>
          <p:cNvSpPr/>
          <p:nvPr/>
        </p:nvSpPr>
        <p:spPr>
          <a:xfrm>
            <a:off x="13658850" y="4636691"/>
            <a:ext cx="19431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14 400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5811500" y="5188082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6" name="Text 44"/>
          <p:cNvSpPr/>
          <p:nvPr/>
        </p:nvSpPr>
        <p:spPr>
          <a:xfrm>
            <a:off x="15944850" y="4636691"/>
            <a:ext cx="108585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0,3%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047750" y="5196549"/>
            <a:ext cx="16192500" cy="643599"/>
          </a:xfrm>
          <a:prstGeom prst="rect">
            <a:avLst/>
          </a:prstGeom>
          <a:solidFill>
            <a:srgbClr val="ABAD58">
              <a:alpha val="2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47750" y="5831681"/>
            <a:ext cx="1619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49" name="Text 47"/>
          <p:cNvSpPr/>
          <p:nvPr/>
        </p:nvSpPr>
        <p:spPr>
          <a:xfrm>
            <a:off x="1257300" y="5291799"/>
            <a:ext cx="16259175" cy="482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00"/>
              </a:lnSpc>
              <a:buNone/>
            </a:pPr>
            <a:r>
              <a:rPr lang="en-US" sz="165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3. Лицензии и ПО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047750" y="6458215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1" name="Text 49"/>
          <p:cNvSpPr/>
          <p:nvPr/>
        </p:nvSpPr>
        <p:spPr>
          <a:xfrm>
            <a:off x="1257300" y="5906823"/>
            <a:ext cx="6096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3.1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2000250" y="6458215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3" name="Text 51"/>
          <p:cNvSpPr/>
          <p:nvPr/>
        </p:nvSpPr>
        <p:spPr>
          <a:xfrm>
            <a:off x="2209800" y="5906823"/>
            <a:ext cx="11451908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SSL-сертификат, домен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3525500" y="6458215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5" name="Text 53"/>
          <p:cNvSpPr/>
          <p:nvPr/>
        </p:nvSpPr>
        <p:spPr>
          <a:xfrm>
            <a:off x="13658850" y="5906823"/>
            <a:ext cx="19431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8 000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5811500" y="6458215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7" name="Text 55"/>
          <p:cNvSpPr/>
          <p:nvPr/>
        </p:nvSpPr>
        <p:spPr>
          <a:xfrm>
            <a:off x="15944850" y="5906823"/>
            <a:ext cx="108585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0,2%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047750" y="7084748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59" name="Text 57"/>
          <p:cNvSpPr/>
          <p:nvPr/>
        </p:nvSpPr>
        <p:spPr>
          <a:xfrm>
            <a:off x="1257300" y="6533356"/>
            <a:ext cx="6096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3.2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2000250" y="7084748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1" name="Text 59"/>
          <p:cNvSpPr/>
          <p:nvPr/>
        </p:nvSpPr>
        <p:spPr>
          <a:xfrm>
            <a:off x="2209800" y="6533356"/>
            <a:ext cx="11451908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CI/CD, инструменты разработки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3525500" y="7084748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3" name="Text 61"/>
          <p:cNvSpPr/>
          <p:nvPr/>
        </p:nvSpPr>
        <p:spPr>
          <a:xfrm>
            <a:off x="13658850" y="6533356"/>
            <a:ext cx="19431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45 000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5811500" y="7084748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5" name="Text 63"/>
          <p:cNvSpPr/>
          <p:nvPr/>
        </p:nvSpPr>
        <p:spPr>
          <a:xfrm>
            <a:off x="15944850" y="6533356"/>
            <a:ext cx="108585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1,1%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047750" y="7711281"/>
            <a:ext cx="9525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7" name="Text 65"/>
          <p:cNvSpPr/>
          <p:nvPr/>
        </p:nvSpPr>
        <p:spPr>
          <a:xfrm>
            <a:off x="1257300" y="7159890"/>
            <a:ext cx="6096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3.3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2000250" y="7711281"/>
            <a:ext cx="115252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69" name="Text 67"/>
          <p:cNvSpPr/>
          <p:nvPr/>
        </p:nvSpPr>
        <p:spPr>
          <a:xfrm>
            <a:off x="2209800" y="7159890"/>
            <a:ext cx="11451908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Тестовые лицензии 1С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3525500" y="7711281"/>
            <a:ext cx="228600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71" name="Text 69"/>
          <p:cNvSpPr/>
          <p:nvPr/>
        </p:nvSpPr>
        <p:spPr>
          <a:xfrm>
            <a:off x="13658850" y="7159890"/>
            <a:ext cx="194310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5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40 000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5811500" y="7711281"/>
            <a:ext cx="1428750" cy="9525"/>
          </a:xfrm>
          <a:prstGeom prst="rect">
            <a:avLst/>
          </a:prstGeom>
          <a:solidFill>
            <a:srgbClr val="DEDFD6"/>
          </a:solidFill>
          <a:ln/>
        </p:spPr>
      </p:sp>
      <p:sp>
        <p:nvSpPr>
          <p:cNvPr id="73" name="Text 71"/>
          <p:cNvSpPr/>
          <p:nvPr/>
        </p:nvSpPr>
        <p:spPr>
          <a:xfrm>
            <a:off x="15944850" y="7159890"/>
            <a:ext cx="1085850" cy="522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80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1,0%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1047750" y="7719748"/>
            <a:ext cx="9525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5" name="Shape 73"/>
          <p:cNvSpPr/>
          <p:nvPr/>
        </p:nvSpPr>
        <p:spPr>
          <a:xfrm>
            <a:off x="2000250" y="7719748"/>
            <a:ext cx="115252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6" name="Text 74"/>
          <p:cNvSpPr/>
          <p:nvPr/>
        </p:nvSpPr>
        <p:spPr>
          <a:xfrm>
            <a:off x="2209800" y="7889081"/>
            <a:ext cx="11451908" cy="58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44"/>
              </a:lnSpc>
              <a:buNone/>
            </a:pPr>
            <a:r>
              <a:rPr lang="en-US" sz="225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ИТОГО ПО СМЕТЕ</a:t>
            </a:r>
            <a:endParaRPr lang="en-US" sz="2250" dirty="0"/>
          </a:p>
        </p:txBody>
      </p:sp>
      <p:sp>
        <p:nvSpPr>
          <p:cNvPr id="77" name="Shape 75"/>
          <p:cNvSpPr/>
          <p:nvPr/>
        </p:nvSpPr>
        <p:spPr>
          <a:xfrm>
            <a:off x="13525500" y="7719748"/>
            <a:ext cx="228600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8" name="Text 76"/>
          <p:cNvSpPr/>
          <p:nvPr/>
        </p:nvSpPr>
        <p:spPr>
          <a:xfrm>
            <a:off x="13658850" y="7889081"/>
            <a:ext cx="1943100" cy="58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244"/>
              </a:lnSpc>
              <a:buNone/>
            </a:pPr>
            <a:r>
              <a:rPr lang="en-US" sz="2250" b="1" dirty="0">
                <a:solidFill>
                  <a:srgbClr val="D73A6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4 153 400</a:t>
            </a:r>
            <a:endParaRPr lang="en-US" sz="2250" dirty="0"/>
          </a:p>
        </p:txBody>
      </p:sp>
      <p:sp>
        <p:nvSpPr>
          <p:cNvPr id="79" name="Shape 77"/>
          <p:cNvSpPr/>
          <p:nvPr/>
        </p:nvSpPr>
        <p:spPr>
          <a:xfrm>
            <a:off x="15811500" y="7719748"/>
            <a:ext cx="1428750" cy="16933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80" name="Text 78"/>
          <p:cNvSpPr/>
          <p:nvPr/>
        </p:nvSpPr>
        <p:spPr>
          <a:xfrm>
            <a:off x="15944850" y="7889081"/>
            <a:ext cx="1085850" cy="58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5244"/>
              </a:lnSpc>
              <a:buNone/>
            </a:pPr>
            <a:r>
              <a:rPr lang="en-US" sz="2250" b="1" dirty="0">
                <a:solidFill>
                  <a:srgbClr val="D73A6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100%</a:t>
            </a:r>
            <a:endParaRPr lang="en-US" sz="2250" dirty="0"/>
          </a:p>
        </p:txBody>
      </p:sp>
      <p:sp>
        <p:nvSpPr>
          <p:cNvPr id="81" name="Text 79"/>
          <p:cNvSpPr/>
          <p:nvPr/>
        </p:nvSpPr>
        <p:spPr>
          <a:xfrm>
            <a:off x="1047750" y="8745273"/>
            <a:ext cx="16187738" cy="64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25"/>
              </a:lnSpc>
              <a:buNone/>
            </a:pPr>
            <a:r>
              <a:rPr lang="en-US" sz="1650" dirty="0">
                <a:solidFill>
                  <a:srgbClr val="3C3C38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Срок реализации — 6 месяцев. Страховые взносы — по ставке IT-аккредитации Минцифры: 15% до предельной базы 2 979 000 ₽, 7,6% сверх базы. Зарплаты на уровне региональных ставок (Алтайский край, Барнаул).</a:t>
            </a:r>
            <a:endParaRPr lang="en-US" sz="1650" dirty="0"/>
          </a:p>
        </p:txBody>
      </p:sp>
      <p:sp>
        <p:nvSpPr>
          <p:cNvPr id="82" name="Shape 80"/>
          <p:cNvSpPr/>
          <p:nvPr/>
        </p:nvSpPr>
        <p:spPr>
          <a:xfrm>
            <a:off x="1047750" y="954325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83" name="Text 81"/>
          <p:cNvSpPr/>
          <p:nvPr/>
        </p:nvSpPr>
        <p:spPr>
          <a:xfrm>
            <a:off x="1047750" y="97041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16763604" y="9704123"/>
            <a:ext cx="552847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15 / 16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52"/>
              </a:lnSpc>
              <a:buNone/>
            </a:pPr>
            <a:r>
              <a:rPr lang="en-US" sz="1575" spc="189" kern="0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КРАТКО О КОМПАНИИ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6229"/>
            <a:ext cx="17811750" cy="634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350" b="1" spc="-65" kern="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ООО «1+1 Бухдеск»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3079750"/>
            <a:ext cx="9038562" cy="2931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87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ООО «1+1 Бухдеск» — IT-компания из Барнаула, зарегистрирована 10 сентября 2025 года. Создана как технологичный преемник бухгалтерской фирмы ООО «1+1», которая более 15 лет оказывает бухгалтерские и юридические услуги в Алтайском крае и имеет </a:t>
            </a:r>
            <a:pPr algn="l" indent="0" marL="0">
              <a:lnSpc>
                <a:spcPct val="128487"/>
              </a:lnSpc>
              <a:buNone/>
            </a:pPr>
            <a:r>
              <a:rPr lang="en-US" sz="210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более 450 клиентов </a:t>
            </a:r>
            <a:pPr algn="l" indent="0" marL="0">
              <a:lnSpc>
                <a:spcPct val="128487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на постоянном обслуживании, находится на 37-м месте в рейтинге </a:t>
            </a:r>
            <a:pPr algn="l" indent="0" marL="0">
              <a:lnSpc>
                <a:spcPct val="128487"/>
              </a:lnSpc>
              <a:buNone/>
            </a:pPr>
            <a:r>
              <a:rPr lang="en-US" sz="210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RAEX </a:t>
            </a:r>
            <a:pPr algn="l" indent="0" marL="0">
              <a:lnSpc>
                <a:spcPct val="128487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среди 15 тысяч бухгалтерских аутсорсинговых компаний.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6239404"/>
            <a:ext cx="9038562" cy="864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87"/>
              </a:lnSpc>
              <a:buNone/>
            </a:pPr>
            <a:r>
              <a:rPr lang="en-US" sz="2100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В нашей компании знают все боли предпринимателей, связанные с бухгалтерским и налоговым учётом.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7332662"/>
            <a:ext cx="9038562" cy="864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92"/>
              </a:lnSpc>
              <a:buNone/>
            </a:pPr>
            <a:r>
              <a:rPr lang="en-US" sz="2100" b="1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Наша задача — облегчить процесс предпринимательства и минимизировать их расходы при сохранении качества учёта.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89803" y="2436283"/>
            <a:ext cx="6750447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489803" y="2436283"/>
            <a:ext cx="42333" cy="1737360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9" name="Text 7"/>
          <p:cNvSpPr/>
          <p:nvPr/>
        </p:nvSpPr>
        <p:spPr>
          <a:xfrm>
            <a:off x="10836936" y="2702983"/>
            <a:ext cx="67083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522"/>
              </a:lnSpc>
              <a:buNone/>
            </a:pPr>
            <a:r>
              <a:rPr lang="en-US" sz="37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15 лет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0836936" y="3274483"/>
            <a:ext cx="6281928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28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бухгалтерских и юридических услуг в Алтайском крае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0489803" y="4360212"/>
            <a:ext cx="6750447" cy="1422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89803" y="4360212"/>
            <a:ext cx="42333" cy="1422532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6936" y="4626912"/>
            <a:ext cx="67083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522"/>
              </a:lnSpc>
              <a:buNone/>
            </a:pPr>
            <a:r>
              <a:rPr lang="en-US" sz="37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450+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10836936" y="5198412"/>
            <a:ext cx="6708365" cy="355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28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клиентов на постоянном обслуживании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0489803" y="5973244"/>
            <a:ext cx="6750447" cy="17401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89803" y="5973244"/>
            <a:ext cx="42333" cy="1740165"/>
          </a:xfrm>
          <a:prstGeom prst="rect">
            <a:avLst/>
          </a:prstGeom>
          <a:solidFill>
            <a:srgbClr val="7C7E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836936" y="6239944"/>
            <a:ext cx="670836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522"/>
              </a:lnSpc>
              <a:buNone/>
            </a:pPr>
            <a:r>
              <a:rPr lang="en-US" sz="3750" b="1" dirty="0">
                <a:solidFill>
                  <a:srgbClr val="7C7E2E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37-е место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10836936" y="6811444"/>
            <a:ext cx="6281469" cy="67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28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в рейтинге RAEX среди 15 тысяч бухгалтерских аутсорсинговых компаний</a:t>
            </a:r>
            <a:endParaRPr lang="en-US" sz="1725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3048" y="7818120"/>
            <a:ext cx="1993392" cy="13716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047750" y="9409906"/>
            <a:ext cx="16192500" cy="9525"/>
          </a:xfrm>
          <a:prstGeom prst="rect">
            <a:avLst/>
          </a:prstGeom>
          <a:solidFill>
            <a:srgbClr val="C8CABF"/>
          </a:solidFill>
          <a:ln/>
        </p:spPr>
      </p:sp>
      <p:sp>
        <p:nvSpPr>
          <p:cNvPr id="21" name="Text 18"/>
          <p:cNvSpPr/>
          <p:nvPr/>
        </p:nvSpPr>
        <p:spPr>
          <a:xfrm>
            <a:off x="1047750" y="9589823"/>
            <a:ext cx="6535486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Онлайн-сервис для ведения и контроля бухгалтерии · ООО «1+1 Бухдеск»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765323" y="9589823"/>
            <a:ext cx="551127" cy="27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350" dirty="0">
                <a:solidFill>
                  <a:srgbClr val="6E706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16 / 16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2026-10-03T07:35:27Z</dcterms:created>
  <dcterms:modified xsi:type="dcterms:W3CDTF">2026-10-03T07:35:27Z</dcterms:modified>
</cp:coreProperties>
</file>