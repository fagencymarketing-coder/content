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73" r:id="rId4"/>
    <p:sldId id="274" r:id="rId23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48" d="100"/>
          <a:sy n="48" d="100"/>
        </p:scale>
        <p:origin x="-416" y="-48"/>
      </p:cViewPr>
      <p:guideLst>
        <p:guide orient="horz" pos="3240"/>
        <p:guide pos="57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457700" cy="9144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5827713" y="0"/>
            <a:ext cx="4457700" cy="9144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FA8CFB-4025-4B2C-AA1E-1EBF0DFFBF78}" type="datetimeFigureOut">
              <a:rPr lang="ru-RU" smtClean="0"/>
              <a:t>03.10.2026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-952500" y="1371600"/>
            <a:ext cx="12192000" cy="6858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1028700" y="8686800"/>
            <a:ext cx="8229600" cy="82296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17370425"/>
            <a:ext cx="4457700" cy="9144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5827713" y="17370425"/>
            <a:ext cx="4457700" cy="9144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4D2CBD-F3F1-4670-AE2F-EC2093342E0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04918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Заявка на грант. Название проекта, сумма, срок, заявитель.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действующие функции сервиса.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действующие функции сервиса.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Доработки 2026–2027 гг. за счёт компании.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Главный слайд заявки: что делается за счёт средств гранта.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Как работает ИИ-помощник в связке с базой 1С клиента.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Сценарий в четыре шага.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Проблема и пять показателей эффекта.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Технологическая основа. Модели российские: SpeechKit и YandexGPT.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Сравнение по шести критериям. Колонка «Бухдеск» выделена.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Отраслевая вертикаль против предложений конкурентов.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Рынок только формируется; почему решение оптимально для клиентов аутсорсинга.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Налоговая реформа, дефицит кадров, ИИ-автоматизация.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Фонд оплаты труда: 3 818 000 ₽, 91,9% сметы. Ниже этапы реализации.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Прочие расходы и итог по смете 4 153 400 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Компания, её происхождение и позиция в рейтинге RAEX.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hyperlink" Target="https://service.buh-desk.ru/" TargetMode="External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B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750" y="876300"/>
            <a:ext cx="1783080" cy="1234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47750" y="2450592"/>
            <a:ext cx="2633927" cy="3581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4545"/>
              </a:lnSpc>
              <a:buNone/>
            </a:pPr>
            <a:r>
              <a:rPr lang="en-US" sz="1800" kern="0" spc="252" dirty="0">
                <a:solidFill>
                  <a:srgbClr val="ABAD58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ЗАЯВКА НА ГРАНТ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1047750" y="3882231"/>
            <a:ext cx="14716125" cy="17581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368"/>
              </a:lnSpc>
              <a:buNone/>
            </a:pPr>
            <a:r>
              <a:rPr lang="en-US" sz="6450" b="1" kern="0" spc="-129" dirty="0">
                <a:solidFill>
                  <a:srgbClr val="F2F3ED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ИИ-агент для создания счетов и актов в 1С через OData</a:t>
            </a:r>
            <a:endParaRPr lang="en-US" sz="6450" dirty="0"/>
          </a:p>
        </p:txBody>
      </p:sp>
      <p:sp>
        <p:nvSpPr>
          <p:cNvPr id="5" name="Text 2"/>
          <p:cNvSpPr/>
          <p:nvPr/>
        </p:nvSpPr>
        <p:spPr>
          <a:xfrm>
            <a:off x="1047750" y="5926138"/>
            <a:ext cx="15716250" cy="48379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07449"/>
              </a:lnSpc>
              <a:buNone/>
            </a:pPr>
            <a:r>
              <a:rPr lang="en-US" sz="2700" dirty="0">
                <a:solidFill>
                  <a:srgbClr val="D9DAD2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«Бухдеск» — онлайн-сервис для ведения и контроля бухгалтерии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1047750" y="7895828"/>
            <a:ext cx="16192500" cy="16933"/>
          </a:xfrm>
          <a:prstGeom prst="rect">
            <a:avLst/>
          </a:prstGeom>
          <a:solidFill>
            <a:srgbClr val="F2F3ED">
              <a:alpha val="35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1047750" y="8236612"/>
            <a:ext cx="547624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1500" kern="0" spc="150" dirty="0">
                <a:solidFill>
                  <a:srgbClr val="ABAD58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ЗАПРАШИВАЕМАЯ СУММА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047750" y="8617612"/>
            <a:ext cx="5476240" cy="6781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836"/>
              </a:lnSpc>
              <a:buNone/>
            </a:pPr>
            <a:r>
              <a:rPr lang="en-US" sz="3600" b="1" dirty="0">
                <a:solidFill>
                  <a:srgbClr val="F2F3ED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4 153 400 ₽</a:t>
            </a:r>
            <a:endParaRPr lang="en-US" sz="3600" dirty="0"/>
          </a:p>
        </p:txBody>
      </p:sp>
      <p:sp>
        <p:nvSpPr>
          <p:cNvPr id="9" name="Shape 6"/>
          <p:cNvSpPr/>
          <p:nvPr/>
        </p:nvSpPr>
        <p:spPr>
          <a:xfrm>
            <a:off x="6445250" y="7912762"/>
            <a:ext cx="9525" cy="1878939"/>
          </a:xfrm>
          <a:prstGeom prst="rect">
            <a:avLst/>
          </a:prstGeom>
          <a:solidFill>
            <a:srgbClr val="F2F3ED">
              <a:alpha val="22000"/>
            </a:srgbClr>
          </a:solidFill>
          <a:ln/>
        </p:spPr>
      </p:sp>
      <p:sp>
        <p:nvSpPr>
          <p:cNvPr id="10" name="Text 7"/>
          <p:cNvSpPr/>
          <p:nvPr/>
        </p:nvSpPr>
        <p:spPr>
          <a:xfrm>
            <a:off x="6872817" y="8236612"/>
            <a:ext cx="5005917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1500" kern="0" spc="150" dirty="0">
                <a:solidFill>
                  <a:srgbClr val="ABAD58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СРОК РЕАЛИЗАЦИИ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872817" y="8617612"/>
            <a:ext cx="5005917" cy="6781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836"/>
              </a:lnSpc>
              <a:buNone/>
            </a:pPr>
            <a:r>
              <a:rPr lang="en-US" sz="3600" b="1" dirty="0">
                <a:solidFill>
                  <a:srgbClr val="F2F3ED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6 месяцев</a:t>
            </a:r>
            <a:endParaRPr lang="en-US" sz="3600" dirty="0"/>
          </a:p>
        </p:txBody>
      </p:sp>
      <p:sp>
        <p:nvSpPr>
          <p:cNvPr id="12" name="Shape 9"/>
          <p:cNvSpPr/>
          <p:nvPr/>
        </p:nvSpPr>
        <p:spPr>
          <a:xfrm>
            <a:off x="11842750" y="7912762"/>
            <a:ext cx="9525" cy="1878939"/>
          </a:xfrm>
          <a:prstGeom prst="rect">
            <a:avLst/>
          </a:prstGeom>
          <a:solidFill>
            <a:srgbClr val="F2F3ED">
              <a:alpha val="22000"/>
            </a:srgbClr>
          </a:solidFill>
          <a:ln/>
        </p:spPr>
      </p:sp>
      <p:sp>
        <p:nvSpPr>
          <p:cNvPr id="13" name="Text 10"/>
          <p:cNvSpPr/>
          <p:nvPr/>
        </p:nvSpPr>
        <p:spPr>
          <a:xfrm>
            <a:off x="12270317" y="8236612"/>
            <a:ext cx="5466927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1500" kern="0" spc="150" dirty="0">
                <a:solidFill>
                  <a:srgbClr val="ABAD58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ЗАЯВИТЕЛЬ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12270317" y="8617612"/>
            <a:ext cx="5466927" cy="4586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2909"/>
              </a:lnSpc>
              <a:buNone/>
            </a:pPr>
            <a:r>
              <a:rPr lang="en-US" sz="2400" b="1" dirty="0">
                <a:solidFill>
                  <a:srgbClr val="F2F3ED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ООО «1+1 Бухдеск»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12270317" y="9152467"/>
            <a:ext cx="5466927" cy="3534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2909"/>
              </a:lnSpc>
              <a:buNone/>
            </a:pPr>
            <a:r>
              <a:rPr lang="en-US" sz="1800" dirty="0">
                <a:solidFill>
                  <a:srgbClr val="A3A59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Барнаул, 2026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23900"/>
            <a:ext cx="17811750" cy="3180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4052"/>
              </a:lnSpc>
              <a:buNone/>
            </a:pPr>
            <a:r>
              <a:rPr lang="en-US" sz="1575" kern="0" spc="189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СЕРВИС СЕГОДНЯ</a:t>
            </a:r>
            <a:endParaRPr lang="en-US" sz="1575" dirty="0"/>
          </a:p>
        </p:txBody>
      </p:sp>
      <p:sp>
        <p:nvSpPr>
          <p:cNvPr id="3" name="Text 1"/>
          <p:cNvSpPr/>
          <p:nvPr/>
        </p:nvSpPr>
        <p:spPr>
          <a:xfrm>
            <a:off x="1047750" y="1156229"/>
            <a:ext cx="17811750" cy="6347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7000"/>
              </a:lnSpc>
              <a:buNone/>
            </a:pPr>
            <a:r>
              <a:rPr lang="en-US" sz="4350" b="1" kern="0" spc="-6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Что делает сервис уже сейчас</a:t>
            </a:r>
            <a:endParaRPr lang="en-US" sz="4350" dirty="0"/>
          </a:p>
        </p:txBody>
      </p:sp>
      <p:sp>
        <p:nvSpPr>
          <p:cNvPr id="4" name="Shape 2"/>
          <p:cNvSpPr/>
          <p:nvPr/>
        </p:nvSpPr>
        <p:spPr>
          <a:xfrm>
            <a:off x="1047750" y="3592565"/>
            <a:ext cx="152400" cy="152400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5" name="Text 3"/>
          <p:cNvSpPr/>
          <p:nvPr/>
        </p:nvSpPr>
        <p:spPr>
          <a:xfrm>
            <a:off x="1428750" y="3468740"/>
            <a:ext cx="9692640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26562"/>
              </a:lnSpc>
              <a:buNone/>
            </a:pPr>
            <a:r>
              <a:rPr lang="en-US" sz="225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Автоматизированный приём задач и первичных документов от клиентов для целей бухгалтерского, налогового, управленческого учёта</a:t>
            </a:r>
            <a:endParaRPr lang="en-US" sz="2250" dirty="0"/>
          </a:p>
        </p:txBody>
      </p:sp>
      <p:sp>
        <p:nvSpPr>
          <p:cNvPr id="6" name="Shape 4"/>
          <p:cNvSpPr/>
          <p:nvPr/>
        </p:nvSpPr>
        <p:spPr>
          <a:xfrm>
            <a:off x="1047750" y="4830815"/>
            <a:ext cx="152400" cy="152400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7" name="Text 5"/>
          <p:cNvSpPr/>
          <p:nvPr/>
        </p:nvSpPr>
        <p:spPr>
          <a:xfrm>
            <a:off x="1428750" y="4706990"/>
            <a:ext cx="9692640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26562"/>
              </a:lnSpc>
              <a:buNone/>
            </a:pPr>
            <a:r>
              <a:rPr lang="en-US" sz="225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Веб-интерфейс отображает бухгалтерские задачи и статус их выполнения, начисленные и уплаченные налоги, даты предстоящих платежей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1047750" y="6069065"/>
            <a:ext cx="152400" cy="152400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9" name="Text 7"/>
          <p:cNvSpPr/>
          <p:nvPr/>
        </p:nvSpPr>
        <p:spPr>
          <a:xfrm>
            <a:off x="1428750" y="5945240"/>
            <a:ext cx="9692640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lnSpc>
                <a:spcPct val="126562"/>
              </a:lnSpc>
              <a:buNone/>
            </a:pPr>
            <a:r>
              <a:rPr lang="en-US" sz="2250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У клиента есть доступ </a:t>
            </a:r>
            <a:r>
              <a:rPr lang="en-US" sz="225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ко всем отчётам, документам и результатам работ бухгалтерии 24/7. Документооборот каждой компании в собственном профиле</a:t>
            </a:r>
            <a:endParaRPr lang="en-US" sz="2250" dirty="0"/>
          </a:p>
        </p:txBody>
      </p:sp>
      <p:sp>
        <p:nvSpPr>
          <p:cNvPr id="12" name="Shape 9"/>
          <p:cNvSpPr/>
          <p:nvPr/>
        </p:nvSpPr>
        <p:spPr>
          <a:xfrm>
            <a:off x="1047750" y="9409906"/>
            <a:ext cx="16192500" cy="9525"/>
          </a:xfrm>
          <a:prstGeom prst="rect">
            <a:avLst/>
          </a:prstGeom>
          <a:solidFill>
            <a:srgbClr val="C8CABF"/>
          </a:solidFill>
          <a:ln/>
        </p:spPr>
      </p:sp>
      <p:sp>
        <p:nvSpPr>
          <p:cNvPr id="13" name="Text 10"/>
          <p:cNvSpPr/>
          <p:nvPr/>
        </p:nvSpPr>
        <p:spPr>
          <a:xfrm>
            <a:off x="1047750" y="9589823"/>
            <a:ext cx="6535486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Онлайн-сервис для ведения и контроля бухгалтерии · ООО «1+1 Бухдеск»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16824458" y="9589823"/>
            <a:ext cx="491993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2 / 17</a:t>
            </a:r>
            <a:endParaRPr lang="en-US" sz="1350" dirty="0"/>
          </a:p>
        </p:txBody>
      </p:sp>
      <p:pic>
        <p:nvPicPr>
          <p:cNvPr id="1026" name="Picture 2" descr="C:\Users\User\Downloads\fragment-2-forma-vhoda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44834" y="1697090"/>
            <a:ext cx="6000750" cy="6572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23900"/>
            <a:ext cx="17811750" cy="3180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4052"/>
              </a:lnSpc>
              <a:buNone/>
            </a:pPr>
            <a:r>
              <a:rPr lang="en-US" sz="1575" kern="0" spc="189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СЕРВИС СЕГОДНЯ</a:t>
            </a:r>
            <a:endParaRPr lang="en-US" sz="1575" dirty="0"/>
          </a:p>
        </p:txBody>
      </p:sp>
      <p:sp>
        <p:nvSpPr>
          <p:cNvPr id="3" name="Text 1"/>
          <p:cNvSpPr/>
          <p:nvPr/>
        </p:nvSpPr>
        <p:spPr>
          <a:xfrm>
            <a:off x="1047750" y="1156229"/>
            <a:ext cx="17811750" cy="6347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7000"/>
              </a:lnSpc>
              <a:buNone/>
            </a:pPr>
            <a:r>
              <a:rPr lang="en-US" sz="4350" b="1" kern="0" spc="-6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Что делает сервис уже сейчас</a:t>
            </a:r>
            <a:endParaRPr lang="en-US" sz="4350" dirty="0"/>
          </a:p>
        </p:txBody>
      </p:sp>
      <p:sp>
        <p:nvSpPr>
          <p:cNvPr id="12" name="Shape 9"/>
          <p:cNvSpPr/>
          <p:nvPr/>
        </p:nvSpPr>
        <p:spPr>
          <a:xfrm>
            <a:off x="1047750" y="9409906"/>
            <a:ext cx="16192500" cy="9525"/>
          </a:xfrm>
          <a:prstGeom prst="rect">
            <a:avLst/>
          </a:prstGeom>
          <a:solidFill>
            <a:srgbClr val="C8CABF"/>
          </a:solidFill>
          <a:ln/>
        </p:spPr>
      </p:sp>
      <p:sp>
        <p:nvSpPr>
          <p:cNvPr id="13" name="Text 10"/>
          <p:cNvSpPr/>
          <p:nvPr/>
        </p:nvSpPr>
        <p:spPr>
          <a:xfrm>
            <a:off x="1047750" y="9589823"/>
            <a:ext cx="6535486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Онлайн-сервис для ведения и контроля бухгалтерии · ООО «1+1 Бухдеск»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16824458" y="9589823"/>
            <a:ext cx="491993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3 / 17</a:t>
            </a:r>
            <a:endParaRPr lang="en-US" sz="1350" dirty="0"/>
          </a:p>
        </p:txBody>
      </p:sp>
      <p:pic>
        <p:nvPicPr>
          <p:cNvPr id="5122" name="Picture 2" descr="C:\Users\User\Desktop\1+1\Сайт Бухдеск\images\tild3736-6564-4138-b032-303137373430__3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750" y="1790964"/>
            <a:ext cx="15181188" cy="7156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91145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3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23900"/>
            <a:ext cx="17811750" cy="6347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000"/>
              </a:lnSpc>
              <a:buNone/>
            </a:pPr>
            <a:r>
              <a:rPr lang="en-US" sz="4350" b="1" spc="-65" kern="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Дополнительная информация о Сервисе</a:t>
            </a:r>
            <a:endParaRPr lang="en-US" sz="4350" dirty="0"/>
          </a:p>
        </p:txBody>
      </p:sp>
      <p:sp>
        <p:nvSpPr>
          <p:cNvPr id="3" name="Text 1"/>
          <p:cNvSpPr/>
          <p:nvPr/>
        </p:nvSpPr>
        <p:spPr>
          <a:xfrm>
            <a:off x="1047750" y="1511035"/>
            <a:ext cx="13620750" cy="3923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818"/>
              </a:lnSpc>
              <a:buNone/>
            </a:pPr>
            <a:r>
              <a:rPr lang="en-US" sz="1800" dirty="0">
                <a:solidFill>
                  <a:srgbClr val="3C3C38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Описание функционала сервиса и оферта для подключения размещены на сайте: </a:t>
            </a:r>
            <a:pPr algn="l" indent="0" marL="0">
              <a:lnSpc>
                <a:spcPct val="126818"/>
              </a:lnSpc>
              <a:buNone/>
            </a:pPr>
            <a:r>
              <a:rPr lang="en-US" sz="1800" u="sng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https://service.buh-desk.ru/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047750" y="2284412"/>
            <a:ext cx="5232400" cy="252941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1047750" y="2284412"/>
            <a:ext cx="5232400" cy="33867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6" name="Text 4"/>
          <p:cNvSpPr/>
          <p:nvPr/>
        </p:nvSpPr>
        <p:spPr>
          <a:xfrm>
            <a:off x="1371600" y="2680229"/>
            <a:ext cx="504317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0859"/>
              </a:lnSpc>
              <a:buNone/>
            </a:pPr>
            <a:r>
              <a:rPr lang="en-US" sz="6900" b="1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6</a:t>
            </a:r>
            <a:endParaRPr lang="en-US" sz="6900" dirty="0"/>
          </a:p>
        </p:txBody>
      </p:sp>
      <p:sp>
        <p:nvSpPr>
          <p:cNvPr id="7" name="Text 5"/>
          <p:cNvSpPr/>
          <p:nvPr/>
        </p:nvSpPr>
        <p:spPr>
          <a:xfrm>
            <a:off x="1371600" y="3766079"/>
            <a:ext cx="4722241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727"/>
              </a:lnSpc>
              <a:buNone/>
            </a:pPr>
            <a:r>
              <a:rPr lang="en-US" sz="180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сотрудников трудоустроено в ООО «1+1 Бухдеск» по состоянию на 01.10.2026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527800" y="2284412"/>
            <a:ext cx="5232400" cy="252941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6527800" y="2284412"/>
            <a:ext cx="5232400" cy="33867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10" name="Text 8"/>
          <p:cNvSpPr/>
          <p:nvPr/>
        </p:nvSpPr>
        <p:spPr>
          <a:xfrm>
            <a:off x="6851650" y="2680229"/>
            <a:ext cx="504317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0859"/>
              </a:lnSpc>
              <a:buNone/>
            </a:pPr>
            <a:r>
              <a:rPr lang="en-US" sz="6900" b="1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71 </a:t>
            </a:r>
            <a:pPr algn="l" indent="0" marL="0">
              <a:lnSpc>
                <a:spcPct val="80859"/>
              </a:lnSpc>
              <a:buNone/>
            </a:pPr>
            <a:r>
              <a:rPr lang="en-US" sz="3150" b="1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тыс. руб.</a:t>
            </a:r>
            <a:endParaRPr lang="en-US" sz="6900" dirty="0"/>
          </a:p>
        </p:txBody>
      </p:sp>
      <p:sp>
        <p:nvSpPr>
          <p:cNvPr id="11" name="Text 9"/>
          <p:cNvSpPr/>
          <p:nvPr/>
        </p:nvSpPr>
        <p:spPr>
          <a:xfrm>
            <a:off x="6851650" y="3766079"/>
            <a:ext cx="4722241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727"/>
              </a:lnSpc>
              <a:buNone/>
            </a:pPr>
            <a:r>
              <a:rPr lang="en-US" sz="180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среднемесячная заработная плата за 9 мес. 2026 г. в ООО «1+1 Бухдеск»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2007850" y="2284412"/>
            <a:ext cx="5232400" cy="252941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12007850" y="2284412"/>
            <a:ext cx="5232400" cy="33867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14" name="Text 12"/>
          <p:cNvSpPr/>
          <p:nvPr/>
        </p:nvSpPr>
        <p:spPr>
          <a:xfrm>
            <a:off x="12331700" y="2680229"/>
            <a:ext cx="504317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0859"/>
              </a:lnSpc>
              <a:buNone/>
            </a:pPr>
            <a:r>
              <a:rPr lang="en-US" sz="6900" b="1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50+</a:t>
            </a:r>
            <a:endParaRPr lang="en-US" sz="6900" dirty="0"/>
          </a:p>
        </p:txBody>
      </p:sp>
      <p:sp>
        <p:nvSpPr>
          <p:cNvPr id="15" name="Text 13"/>
          <p:cNvSpPr/>
          <p:nvPr/>
        </p:nvSpPr>
        <p:spPr>
          <a:xfrm>
            <a:off x="12331700" y="3766079"/>
            <a:ext cx="4722241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727"/>
              </a:lnSpc>
              <a:buNone/>
            </a:pPr>
            <a:r>
              <a:rPr lang="en-US" sz="180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клиентов, с которыми заключены лицензионные соглашения (на 01.10.2026)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047750" y="6025224"/>
            <a:ext cx="16192500" cy="9525"/>
          </a:xfrm>
          <a:prstGeom prst="rect">
            <a:avLst/>
          </a:prstGeom>
          <a:solidFill>
            <a:srgbClr val="C8CABF"/>
          </a:solidFill>
          <a:ln/>
        </p:spPr>
      </p:sp>
      <p:sp>
        <p:nvSpPr>
          <p:cNvPr id="17" name="Text 15"/>
          <p:cNvSpPr/>
          <p:nvPr/>
        </p:nvSpPr>
        <p:spPr>
          <a:xfrm>
            <a:off x="1047750" y="6224190"/>
            <a:ext cx="2724150" cy="4914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562"/>
              </a:lnSpc>
              <a:buNone/>
            </a:pPr>
            <a:r>
              <a:rPr lang="en-US" sz="2550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№ 202569021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3790950" y="6291924"/>
            <a:ext cx="14794230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357"/>
              </a:lnSpc>
              <a:buNone/>
            </a:pPr>
            <a:r>
              <a:rPr lang="en-US" sz="195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Свидетельство о государственной регистрации программ для ЭВМ</a:t>
            </a:r>
            <a:endParaRPr lang="en-US" sz="1950" dirty="0"/>
          </a:p>
        </p:txBody>
      </p:sp>
      <p:sp>
        <p:nvSpPr>
          <p:cNvPr id="19" name="Shape 17"/>
          <p:cNvSpPr/>
          <p:nvPr/>
        </p:nvSpPr>
        <p:spPr>
          <a:xfrm>
            <a:off x="1047750" y="7698449"/>
            <a:ext cx="16192500" cy="9525"/>
          </a:xfrm>
          <a:prstGeom prst="rect">
            <a:avLst/>
          </a:prstGeom>
          <a:solidFill>
            <a:srgbClr val="C8CABF"/>
          </a:solidFill>
          <a:ln/>
        </p:spPr>
      </p:sp>
      <p:sp>
        <p:nvSpPr>
          <p:cNvPr id="20" name="Text 18"/>
          <p:cNvSpPr/>
          <p:nvPr/>
        </p:nvSpPr>
        <p:spPr>
          <a:xfrm>
            <a:off x="1047750" y="7897416"/>
            <a:ext cx="2724150" cy="4914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562"/>
              </a:lnSpc>
              <a:buNone/>
            </a:pPr>
            <a:r>
              <a:rPr lang="en-US" sz="2550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№ 32932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3790950" y="7965149"/>
            <a:ext cx="14794230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357"/>
              </a:lnSpc>
              <a:buNone/>
            </a:pPr>
            <a:r>
              <a:rPr lang="en-US" sz="195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Сервис включён в Реестр отечественного ПО (от 31.03.2026)</a:t>
            </a:r>
            <a:endParaRPr lang="en-US" sz="1950" dirty="0"/>
          </a:p>
        </p:txBody>
      </p:sp>
      <p:sp>
        <p:nvSpPr>
          <p:cNvPr id="22" name="Shape 20"/>
          <p:cNvSpPr/>
          <p:nvPr/>
        </p:nvSpPr>
        <p:spPr>
          <a:xfrm>
            <a:off x="1047750" y="9409906"/>
            <a:ext cx="16192500" cy="9525"/>
          </a:xfrm>
          <a:prstGeom prst="rect">
            <a:avLst/>
          </a:prstGeom>
          <a:solidFill>
            <a:srgbClr val="C8CABF"/>
          </a:solidFill>
          <a:ln/>
        </p:spPr>
      </p:sp>
      <p:sp>
        <p:nvSpPr>
          <p:cNvPr id="23" name="Text 21"/>
          <p:cNvSpPr/>
          <p:nvPr/>
        </p:nvSpPr>
        <p:spPr>
          <a:xfrm>
            <a:off x="1047750" y="9589823"/>
            <a:ext cx="6535486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Онлайн-сервис для ведения и контроля бухгалтерии · ООО «1+1 Бухдеск»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16823531" y="9589823"/>
            <a:ext cx="492919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4 / 17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23900"/>
            <a:ext cx="17811750" cy="3180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4052"/>
              </a:lnSpc>
              <a:buNone/>
            </a:pPr>
            <a:r>
              <a:rPr lang="en-US" sz="1575" kern="0" spc="189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ЗА СВОЙ СЧЁТ</a:t>
            </a:r>
            <a:endParaRPr lang="en-US" sz="1575" dirty="0"/>
          </a:p>
        </p:txBody>
      </p:sp>
      <p:sp>
        <p:nvSpPr>
          <p:cNvPr id="3" name="Text 1"/>
          <p:cNvSpPr/>
          <p:nvPr/>
        </p:nvSpPr>
        <p:spPr>
          <a:xfrm>
            <a:off x="1047750" y="1156229"/>
            <a:ext cx="17811750" cy="6347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7000"/>
              </a:lnSpc>
              <a:buNone/>
            </a:pPr>
            <a:r>
              <a:rPr lang="en-US" sz="4350" b="1" kern="0" spc="-6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Что планируется доработать в Сервисе в 2026–2027 гг.</a:t>
            </a:r>
            <a:endParaRPr lang="en-US" sz="4350" dirty="0"/>
          </a:p>
        </p:txBody>
      </p:sp>
      <p:sp>
        <p:nvSpPr>
          <p:cNvPr id="4" name="Shape 2"/>
          <p:cNvSpPr/>
          <p:nvPr/>
        </p:nvSpPr>
        <p:spPr>
          <a:xfrm>
            <a:off x="1047750" y="3686175"/>
            <a:ext cx="5143500" cy="33867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5" name="Text 3"/>
          <p:cNvSpPr/>
          <p:nvPr/>
        </p:nvSpPr>
        <p:spPr>
          <a:xfrm>
            <a:off x="1047750" y="3986742"/>
            <a:ext cx="5657850" cy="3847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950" b="1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01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047750" y="4542896"/>
            <a:ext cx="5297805" cy="3124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3142"/>
              </a:lnSpc>
              <a:buNone/>
            </a:pPr>
            <a:r>
              <a:rPr lang="en-US" sz="202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Автоматизировать разбор, систематизацию и организацию хранения (по видам и срокам) переданных в обработку документов для их последующего распознавания и автоматического ввода в учётную систему клиента и обеспечения быстрого поиска документов в ходе проверок</a:t>
            </a:r>
            <a:endParaRPr lang="en-US" sz="2025" dirty="0"/>
          </a:p>
        </p:txBody>
      </p:sp>
      <p:sp>
        <p:nvSpPr>
          <p:cNvPr id="7" name="Shape 5"/>
          <p:cNvSpPr/>
          <p:nvPr/>
        </p:nvSpPr>
        <p:spPr>
          <a:xfrm>
            <a:off x="6572250" y="3686175"/>
            <a:ext cx="5143500" cy="33867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8" name="Text 6"/>
          <p:cNvSpPr/>
          <p:nvPr/>
        </p:nvSpPr>
        <p:spPr>
          <a:xfrm>
            <a:off x="6572250" y="3986742"/>
            <a:ext cx="5657850" cy="3847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950" b="1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02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6572250" y="4542896"/>
            <a:ext cx="565785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3142"/>
              </a:lnSpc>
              <a:buNone/>
            </a:pPr>
            <a:r>
              <a:rPr lang="en-US" sz="202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Добавить чат для общения с бухгалтером</a:t>
            </a:r>
            <a:endParaRPr lang="en-US" sz="2025" dirty="0"/>
          </a:p>
        </p:txBody>
      </p:sp>
      <p:sp>
        <p:nvSpPr>
          <p:cNvPr id="10" name="Shape 8"/>
          <p:cNvSpPr/>
          <p:nvPr/>
        </p:nvSpPr>
        <p:spPr>
          <a:xfrm>
            <a:off x="12096750" y="3686175"/>
            <a:ext cx="5143500" cy="33867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11" name="Text 9"/>
          <p:cNvSpPr/>
          <p:nvPr/>
        </p:nvSpPr>
        <p:spPr>
          <a:xfrm>
            <a:off x="12096750" y="3986742"/>
            <a:ext cx="5657850" cy="3847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950" b="1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03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096750" y="4542896"/>
            <a:ext cx="5297805" cy="2738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3142"/>
              </a:lnSpc>
              <a:buNone/>
            </a:pPr>
            <a:r>
              <a:rPr lang="en-US" sz="202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Автоматизировать ввод в бухгалтерскую программу 1С следующих документов, полученных от клиентов сервиса: банковские выписки, акты сверок, кадровые документы на приём, увольнение сотрудника, начисление заработной платы и отпускных</a:t>
            </a:r>
            <a:endParaRPr lang="en-US" sz="2025" dirty="0"/>
          </a:p>
        </p:txBody>
      </p:sp>
      <p:sp>
        <p:nvSpPr>
          <p:cNvPr id="13" name="Shape 11"/>
          <p:cNvSpPr/>
          <p:nvPr/>
        </p:nvSpPr>
        <p:spPr>
          <a:xfrm>
            <a:off x="1047750" y="9409906"/>
            <a:ext cx="16192500" cy="9525"/>
          </a:xfrm>
          <a:prstGeom prst="rect">
            <a:avLst/>
          </a:prstGeom>
          <a:solidFill>
            <a:srgbClr val="C8CABF"/>
          </a:solidFill>
          <a:ln/>
        </p:spPr>
      </p:sp>
      <p:sp>
        <p:nvSpPr>
          <p:cNvPr id="14" name="Text 12"/>
          <p:cNvSpPr/>
          <p:nvPr/>
        </p:nvSpPr>
        <p:spPr>
          <a:xfrm>
            <a:off x="1047750" y="9589823"/>
            <a:ext cx="6535486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Онлайн-сервис для ведения и контроля бухгалтерии · ООО «1+1 Бухдеск»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6814933" y="9589823"/>
            <a:ext cx="501518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5 / 17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B2B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23900"/>
            <a:ext cx="17811750" cy="3180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4052"/>
              </a:lnSpc>
              <a:buNone/>
            </a:pPr>
            <a:r>
              <a:rPr lang="en-US" sz="1575" kern="0" spc="189" dirty="0">
                <a:solidFill>
                  <a:srgbClr val="ABAD58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ПРЕДМЕТ ГРАНТА</a:t>
            </a:r>
            <a:endParaRPr lang="en-US" sz="1575" dirty="0"/>
          </a:p>
        </p:txBody>
      </p:sp>
      <p:sp>
        <p:nvSpPr>
          <p:cNvPr id="3" name="Text 1"/>
          <p:cNvSpPr/>
          <p:nvPr/>
        </p:nvSpPr>
        <p:spPr>
          <a:xfrm>
            <a:off x="1047750" y="1156229"/>
            <a:ext cx="14716125" cy="11276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8151"/>
              </a:lnSpc>
              <a:buNone/>
            </a:pPr>
            <a:r>
              <a:rPr lang="en-US" sz="3900" b="1" kern="0" spc="-58" dirty="0">
                <a:solidFill>
                  <a:srgbClr val="F2F3ED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Что планируется доработать в Сервисе за счёт средств Гранта</a:t>
            </a:r>
            <a:endParaRPr lang="en-US" sz="3900" dirty="0"/>
          </a:p>
        </p:txBody>
      </p:sp>
      <p:sp>
        <p:nvSpPr>
          <p:cNvPr id="4" name="Shape 2"/>
          <p:cNvSpPr/>
          <p:nvPr/>
        </p:nvSpPr>
        <p:spPr>
          <a:xfrm>
            <a:off x="1064316" y="3805670"/>
            <a:ext cx="95250" cy="2179108"/>
          </a:xfrm>
          <a:prstGeom prst="rect">
            <a:avLst/>
          </a:prstGeom>
          <a:solidFill>
            <a:srgbClr val="D73A61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581148" y="3805670"/>
            <a:ext cx="16194024" cy="47247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68"/>
              </a:lnSpc>
              <a:buNone/>
            </a:pPr>
            <a:r>
              <a:rPr lang="en-US" sz="3300" dirty="0">
                <a:solidFill>
                  <a:srgbClr val="F2F3ED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Автоматизировать формирование и обработку в 1С первичных документов (счетов, актов, УПД) для клиента в режиме 24/7 без участия бухгалтера путём получения от клиента задачи в виде текста или голосового сообщения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1047750" y="9409906"/>
            <a:ext cx="16192500" cy="9525"/>
          </a:xfrm>
          <a:prstGeom prst="rect">
            <a:avLst/>
          </a:prstGeom>
          <a:solidFill>
            <a:srgbClr val="F2F3ED">
              <a:alpha val="30000"/>
            </a:srgbClr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47750" y="9589823"/>
            <a:ext cx="6535486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350" dirty="0">
                <a:solidFill>
                  <a:srgbClr val="A3A59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Онлайн-сервис для ведения и контроля бухгалтерии · ООО «1+1 Бухдеск»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6821812" y="9589823"/>
            <a:ext cx="494639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350" dirty="0">
                <a:solidFill>
                  <a:srgbClr val="A3A59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6 / 17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23900"/>
            <a:ext cx="17811750" cy="3180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4052"/>
              </a:lnSpc>
              <a:buNone/>
            </a:pPr>
            <a:r>
              <a:rPr lang="en-US" sz="1575" kern="0" spc="189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ПРЕДМЕТ ГРАНТА</a:t>
            </a:r>
            <a:endParaRPr lang="en-US" sz="1575" dirty="0"/>
          </a:p>
        </p:txBody>
      </p:sp>
      <p:sp>
        <p:nvSpPr>
          <p:cNvPr id="3" name="Text 1"/>
          <p:cNvSpPr/>
          <p:nvPr/>
        </p:nvSpPr>
        <p:spPr>
          <a:xfrm>
            <a:off x="1047750" y="1156229"/>
            <a:ext cx="17811750" cy="6347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7000"/>
              </a:lnSpc>
              <a:buNone/>
            </a:pPr>
            <a:r>
              <a:rPr lang="en-US" sz="4350" b="1" kern="0" spc="-6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Суть ИТ-решения</a:t>
            </a:r>
            <a:endParaRPr lang="en-US" sz="4350" dirty="0"/>
          </a:p>
        </p:txBody>
      </p:sp>
      <p:sp>
        <p:nvSpPr>
          <p:cNvPr id="4" name="Text 2"/>
          <p:cNvSpPr/>
          <p:nvPr/>
        </p:nvSpPr>
        <p:spPr>
          <a:xfrm>
            <a:off x="1047750" y="3061494"/>
            <a:ext cx="15206662" cy="14993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0781"/>
              </a:lnSpc>
              <a:buNone/>
            </a:pPr>
            <a:r>
              <a:rPr lang="en-US" sz="24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В нашем онлайн-сервисе клиент обращается к ИИ-помощнику «Бухдеск», который подключается к бухгалтерской базе 1С клиента и по заданию клиента (путём печатного или голосового ввода данных) сервис создаёт счёт на оплату или УПД/акт выполненных работ без помощи бухгалтера.</a:t>
            </a:r>
            <a:endParaRPr lang="en-US" sz="2475" dirty="0"/>
          </a:p>
        </p:txBody>
      </p:sp>
      <p:sp>
        <p:nvSpPr>
          <p:cNvPr id="5" name="Text 3"/>
          <p:cNvSpPr/>
          <p:nvPr/>
        </p:nvSpPr>
        <p:spPr>
          <a:xfrm>
            <a:off x="1047750" y="4903787"/>
            <a:ext cx="15206662" cy="14993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0781"/>
              </a:lnSpc>
              <a:buNone/>
            </a:pPr>
            <a:r>
              <a:rPr lang="en-US" sz="24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Сервис самостоятельно в справочниках учётной системы клиента подбирает необходимых контрагентов и номенклатуру товара или услуги, выставляет необходимое количество и цену, ставку НДС.</a:t>
            </a:r>
            <a:endParaRPr lang="en-US" sz="2475" dirty="0"/>
          </a:p>
        </p:txBody>
      </p:sp>
      <p:sp>
        <p:nvSpPr>
          <p:cNvPr id="6" name="Text 4"/>
          <p:cNvSpPr/>
          <p:nvPr/>
        </p:nvSpPr>
        <p:spPr>
          <a:xfrm>
            <a:off x="1047750" y="6746081"/>
            <a:ext cx="15206662" cy="10122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0781"/>
              </a:lnSpc>
              <a:buNone/>
            </a:pPr>
            <a:r>
              <a:rPr lang="en-US" sz="24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На основании текстовых сообщений или голосовых комментариев от клиента созданные документы корректируются до нужных значений.</a:t>
            </a:r>
            <a:endParaRPr lang="en-US" sz="2475" dirty="0"/>
          </a:p>
        </p:txBody>
      </p:sp>
      <p:sp>
        <p:nvSpPr>
          <p:cNvPr id="7" name="Shape 5"/>
          <p:cNvSpPr/>
          <p:nvPr/>
        </p:nvSpPr>
        <p:spPr>
          <a:xfrm>
            <a:off x="1047750" y="9409906"/>
            <a:ext cx="16192500" cy="9525"/>
          </a:xfrm>
          <a:prstGeom prst="rect">
            <a:avLst/>
          </a:prstGeom>
          <a:solidFill>
            <a:srgbClr val="C8CABF"/>
          </a:solidFill>
          <a:ln/>
        </p:spPr>
      </p:sp>
      <p:sp>
        <p:nvSpPr>
          <p:cNvPr id="8" name="Text 6"/>
          <p:cNvSpPr/>
          <p:nvPr/>
        </p:nvSpPr>
        <p:spPr>
          <a:xfrm>
            <a:off x="1047750" y="9589823"/>
            <a:ext cx="6535486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Онлайн-сервис для ведения и контроля бухгалтерии · ООО «1+1 Бухдеск»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16823531" y="9589823"/>
            <a:ext cx="492919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7 / 17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23900"/>
            <a:ext cx="17811750" cy="6347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7000"/>
              </a:lnSpc>
              <a:buNone/>
            </a:pPr>
            <a:r>
              <a:rPr lang="en-US" sz="4350" b="1" kern="0" spc="-6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Технологическая основа</a:t>
            </a:r>
            <a:endParaRPr lang="en-US" sz="4350" dirty="0"/>
          </a:p>
        </p:txBody>
      </p:sp>
      <p:sp>
        <p:nvSpPr>
          <p:cNvPr id="3" name="Shape 1"/>
          <p:cNvSpPr/>
          <p:nvPr/>
        </p:nvSpPr>
        <p:spPr>
          <a:xfrm>
            <a:off x="1047750" y="1917171"/>
            <a:ext cx="3548063" cy="23774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1047750" y="1917171"/>
            <a:ext cx="3548063" cy="33867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5" name="Text 3"/>
          <p:cNvSpPr/>
          <p:nvPr/>
        </p:nvSpPr>
        <p:spPr>
          <a:xfrm>
            <a:off x="1352550" y="2332038"/>
            <a:ext cx="3232309" cy="3180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4052"/>
              </a:lnSpc>
              <a:buNone/>
            </a:pPr>
            <a:r>
              <a:rPr lang="en-US" sz="1575" kern="0" spc="158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ШАГ 1</a:t>
            </a:r>
            <a:endParaRPr lang="en-US" sz="1575" dirty="0"/>
          </a:p>
        </p:txBody>
      </p:sp>
      <p:sp>
        <p:nvSpPr>
          <p:cNvPr id="6" name="Text 4"/>
          <p:cNvSpPr/>
          <p:nvPr/>
        </p:nvSpPr>
        <p:spPr>
          <a:xfrm>
            <a:off x="1352550" y="2821517"/>
            <a:ext cx="3026616" cy="12811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2344"/>
              </a:lnSpc>
              <a:buNone/>
            </a:pPr>
            <a:r>
              <a:rPr lang="en-US" sz="225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пользователь печатает или надиктовывает текст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4557713" y="3052498"/>
            <a:ext cx="742950" cy="6248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lnSpc>
                <a:spcPct val="117458"/>
              </a:lnSpc>
              <a:buNone/>
            </a:pPr>
            <a:r>
              <a:rPr lang="en-US" sz="3300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→</a:t>
            </a:r>
            <a:endParaRPr lang="en-US" sz="3300" dirty="0"/>
          </a:p>
        </p:txBody>
      </p:sp>
      <p:sp>
        <p:nvSpPr>
          <p:cNvPr id="8" name="Shape 6"/>
          <p:cNvSpPr/>
          <p:nvPr/>
        </p:nvSpPr>
        <p:spPr>
          <a:xfrm>
            <a:off x="5262563" y="1917171"/>
            <a:ext cx="3548063" cy="23774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5262563" y="1917171"/>
            <a:ext cx="3548063" cy="33867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10" name="Text 8"/>
          <p:cNvSpPr/>
          <p:nvPr/>
        </p:nvSpPr>
        <p:spPr>
          <a:xfrm>
            <a:off x="5567363" y="2332038"/>
            <a:ext cx="3232309" cy="3180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4052"/>
              </a:lnSpc>
              <a:buNone/>
            </a:pPr>
            <a:r>
              <a:rPr lang="en-US" sz="1575" kern="0" spc="158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ШАГ 2</a:t>
            </a:r>
            <a:endParaRPr lang="en-US" sz="1575" dirty="0"/>
          </a:p>
        </p:txBody>
      </p:sp>
      <p:sp>
        <p:nvSpPr>
          <p:cNvPr id="11" name="Text 9"/>
          <p:cNvSpPr/>
          <p:nvPr/>
        </p:nvSpPr>
        <p:spPr>
          <a:xfrm>
            <a:off x="5567363" y="2821517"/>
            <a:ext cx="3232309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2344"/>
              </a:lnSpc>
              <a:buNone/>
            </a:pPr>
            <a:r>
              <a:rPr lang="en-US" sz="225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ИИ извлекает данные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8772525" y="3052498"/>
            <a:ext cx="742950" cy="6248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lnSpc>
                <a:spcPct val="117458"/>
              </a:lnSpc>
              <a:buNone/>
            </a:pPr>
            <a:r>
              <a:rPr lang="en-US" sz="3300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→</a:t>
            </a:r>
            <a:endParaRPr lang="en-US" sz="3300" dirty="0"/>
          </a:p>
        </p:txBody>
      </p:sp>
      <p:sp>
        <p:nvSpPr>
          <p:cNvPr id="13" name="Shape 11"/>
          <p:cNvSpPr/>
          <p:nvPr/>
        </p:nvSpPr>
        <p:spPr>
          <a:xfrm>
            <a:off x="9477375" y="1917171"/>
            <a:ext cx="3548063" cy="23774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Shape 12"/>
          <p:cNvSpPr/>
          <p:nvPr/>
        </p:nvSpPr>
        <p:spPr>
          <a:xfrm>
            <a:off x="9477375" y="1917171"/>
            <a:ext cx="3548063" cy="33867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15" name="Text 13"/>
          <p:cNvSpPr/>
          <p:nvPr/>
        </p:nvSpPr>
        <p:spPr>
          <a:xfrm>
            <a:off x="9782175" y="2332038"/>
            <a:ext cx="3232309" cy="3180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4052"/>
              </a:lnSpc>
              <a:buNone/>
            </a:pPr>
            <a:r>
              <a:rPr lang="en-US" sz="1575" kern="0" spc="158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ШАГ 3</a:t>
            </a:r>
            <a:endParaRPr lang="en-US" sz="1575" dirty="0"/>
          </a:p>
        </p:txBody>
      </p:sp>
      <p:sp>
        <p:nvSpPr>
          <p:cNvPr id="16" name="Text 14"/>
          <p:cNvSpPr/>
          <p:nvPr/>
        </p:nvSpPr>
        <p:spPr>
          <a:xfrm>
            <a:off x="9782175" y="2821517"/>
            <a:ext cx="3026616" cy="866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2344"/>
              </a:lnSpc>
              <a:buNone/>
            </a:pPr>
            <a:r>
              <a:rPr lang="en-US" sz="225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создаёт документ в 1С через OData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12987338" y="3052498"/>
            <a:ext cx="742950" cy="6248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lnSpc>
                <a:spcPct val="117458"/>
              </a:lnSpc>
              <a:buNone/>
            </a:pPr>
            <a:r>
              <a:rPr lang="en-US" sz="3300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→</a:t>
            </a:r>
            <a:endParaRPr lang="en-US" sz="3300" dirty="0"/>
          </a:p>
        </p:txBody>
      </p:sp>
      <p:sp>
        <p:nvSpPr>
          <p:cNvPr id="18" name="Shape 16"/>
          <p:cNvSpPr/>
          <p:nvPr/>
        </p:nvSpPr>
        <p:spPr>
          <a:xfrm>
            <a:off x="13692188" y="1917171"/>
            <a:ext cx="3548063" cy="23774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Shape 17"/>
          <p:cNvSpPr/>
          <p:nvPr/>
        </p:nvSpPr>
        <p:spPr>
          <a:xfrm>
            <a:off x="13692188" y="1917171"/>
            <a:ext cx="3548063" cy="33867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20" name="Text 18"/>
          <p:cNvSpPr/>
          <p:nvPr/>
        </p:nvSpPr>
        <p:spPr>
          <a:xfrm>
            <a:off x="13996988" y="2332038"/>
            <a:ext cx="3232309" cy="3180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4052"/>
              </a:lnSpc>
              <a:buNone/>
            </a:pPr>
            <a:r>
              <a:rPr lang="en-US" sz="1575" kern="0" spc="158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ШАГ 4</a:t>
            </a:r>
            <a:endParaRPr lang="en-US" sz="1575" dirty="0"/>
          </a:p>
        </p:txBody>
      </p:sp>
      <p:sp>
        <p:nvSpPr>
          <p:cNvPr id="21" name="Text 19"/>
          <p:cNvSpPr/>
          <p:nvPr/>
        </p:nvSpPr>
        <p:spPr>
          <a:xfrm>
            <a:off x="13996988" y="2821517"/>
            <a:ext cx="3026616" cy="866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2344"/>
              </a:lnSpc>
              <a:buNone/>
            </a:pPr>
            <a:r>
              <a:rPr lang="en-US" sz="225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передаёт документ клиенту</a:t>
            </a:r>
            <a:endParaRPr lang="en-US" sz="2250" dirty="0"/>
          </a:p>
        </p:txBody>
      </p:sp>
      <p:sp>
        <p:nvSpPr>
          <p:cNvPr id="22" name="Shape 20"/>
          <p:cNvSpPr/>
          <p:nvPr/>
        </p:nvSpPr>
        <p:spPr>
          <a:xfrm>
            <a:off x="1047750" y="9409906"/>
            <a:ext cx="16192500" cy="9525"/>
          </a:xfrm>
          <a:prstGeom prst="rect">
            <a:avLst/>
          </a:prstGeom>
          <a:solidFill>
            <a:srgbClr val="C8CABF"/>
          </a:solidFill>
          <a:ln/>
        </p:spPr>
      </p:sp>
      <p:sp>
        <p:nvSpPr>
          <p:cNvPr id="23" name="Text 21"/>
          <p:cNvSpPr/>
          <p:nvPr/>
        </p:nvSpPr>
        <p:spPr>
          <a:xfrm>
            <a:off x="1047750" y="9589823"/>
            <a:ext cx="6535486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Онлайн-сервис для ведения и контроля бухгалтерии · ООО «1+1 Бухдеск»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16830411" y="9589823"/>
            <a:ext cx="486040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8 / 17</a:t>
            </a:r>
            <a:endParaRPr lang="en-US" sz="1350" dirty="0"/>
          </a:p>
        </p:txBody>
      </p:sp>
      <p:pic>
        <p:nvPicPr>
          <p:cNvPr id="3075" name="Picture 3" descr="C:\Users\User\Desktop\1+1\Сайт Бухдеск\images\tild3061-6562-4536-b739-393565333465__2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1560" y="4438739"/>
            <a:ext cx="16194024" cy="47509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514350"/>
            <a:ext cx="17811750" cy="3180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4052"/>
              </a:lnSpc>
              <a:buNone/>
            </a:pPr>
            <a:r>
              <a:rPr lang="en-US" sz="1575" kern="0" spc="189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АКТУАЛЬНОСТЬ И СОЦИАЛЬНАЯ ЗНАЧИМОСТЬ</a:t>
            </a:r>
            <a:endParaRPr lang="en-US" sz="1575" dirty="0"/>
          </a:p>
        </p:txBody>
      </p:sp>
      <p:sp>
        <p:nvSpPr>
          <p:cNvPr id="3" name="Text 1"/>
          <p:cNvSpPr/>
          <p:nvPr/>
        </p:nvSpPr>
        <p:spPr>
          <a:xfrm>
            <a:off x="1047750" y="946679"/>
            <a:ext cx="16187738" cy="10019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1815"/>
              </a:lnSpc>
              <a:buNone/>
            </a:pPr>
            <a:r>
              <a:rPr lang="en-US" sz="3300" b="1" kern="0" spc="-49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Одна из самых частых жалоб предпринимателей на бухгалтеров — НЕОПЕРАТИВНОЕ реагирование на срочные задачи.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1047750" y="2082006"/>
            <a:ext cx="15206662" cy="805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9536"/>
              </a:lnSpc>
              <a:buNone/>
            </a:pPr>
            <a:r>
              <a:rPr lang="en-US" sz="1950" dirty="0">
                <a:solidFill>
                  <a:srgbClr val="3C3C38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ИИ-помощник в бухгалтерии — это поддержка бизнеса в условиях текущей экономической ситуации и возможность компенсировать рост издержек из-за роста налогов.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1047750" y="3173412"/>
            <a:ext cx="17811750" cy="3581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4545"/>
              </a:lnSpc>
              <a:buNone/>
            </a:pPr>
            <a:r>
              <a:rPr lang="en-US" sz="1800" kern="0" spc="108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ЭФФЕКТ ОТ ЗАМЕНЫ БУХГАЛТЕРА-ПЕРВИЧНИКА НА ИИ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047750" y="3664876"/>
            <a:ext cx="16192500" cy="56497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1047750" y="4468283"/>
            <a:ext cx="5334000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8" name="Text 6"/>
          <p:cNvSpPr/>
          <p:nvPr/>
        </p:nvSpPr>
        <p:spPr>
          <a:xfrm>
            <a:off x="1333500" y="3836326"/>
            <a:ext cx="4922520" cy="49860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1500" kern="0" spc="9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ПОКАЗАТЕЛЬ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381750" y="4468283"/>
            <a:ext cx="10858500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10" name="Text 8"/>
          <p:cNvSpPr/>
          <p:nvPr/>
        </p:nvSpPr>
        <p:spPr>
          <a:xfrm>
            <a:off x="6667500" y="3836326"/>
            <a:ext cx="10612755" cy="49860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1500" kern="0" spc="9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ЧТО ОЗНАЧАЕТ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1047750" y="5441024"/>
            <a:ext cx="53340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12" name="Text 10"/>
          <p:cNvSpPr/>
          <p:nvPr/>
        </p:nvSpPr>
        <p:spPr>
          <a:xfrm>
            <a:off x="1333500" y="4694767"/>
            <a:ext cx="4922520" cy="57480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6429"/>
              </a:lnSpc>
              <a:buNone/>
            </a:pPr>
            <a:r>
              <a:rPr lang="en-US" sz="2250" b="1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от 45 до 80 тыс. руб./мес.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6381750" y="5441024"/>
            <a:ext cx="108585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14" name="Text 12"/>
          <p:cNvSpPr/>
          <p:nvPr/>
        </p:nvSpPr>
        <p:spPr>
          <a:xfrm>
            <a:off x="6667500" y="4694767"/>
            <a:ext cx="10612755" cy="57480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643"/>
              </a:lnSpc>
              <a:buNone/>
            </a:pPr>
            <a:r>
              <a:rPr lang="en-US" sz="195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Экономия компании на зарплате сотрудника на 1 сотрудника</a:t>
            </a:r>
            <a:endParaRPr lang="en-US" sz="1950" dirty="0"/>
          </a:p>
        </p:txBody>
      </p:sp>
      <p:sp>
        <p:nvSpPr>
          <p:cNvPr id="15" name="Shape 13"/>
          <p:cNvSpPr/>
          <p:nvPr/>
        </p:nvSpPr>
        <p:spPr>
          <a:xfrm>
            <a:off x="1047750" y="6405298"/>
            <a:ext cx="53340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16" name="Text 14"/>
          <p:cNvSpPr/>
          <p:nvPr/>
        </p:nvSpPr>
        <p:spPr>
          <a:xfrm>
            <a:off x="1333500" y="5659041"/>
            <a:ext cx="4922520" cy="57480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6429"/>
              </a:lnSpc>
              <a:buNone/>
            </a:pPr>
            <a:r>
              <a:rPr lang="en-US" sz="2250" b="1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до 20 часов в месяц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6381750" y="6405298"/>
            <a:ext cx="108585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18" name="Text 16"/>
          <p:cNvSpPr/>
          <p:nvPr/>
        </p:nvSpPr>
        <p:spPr>
          <a:xfrm>
            <a:off x="6667500" y="5659041"/>
            <a:ext cx="10612755" cy="57480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643"/>
              </a:lnSpc>
              <a:buNone/>
            </a:pPr>
            <a:r>
              <a:rPr lang="en-US" sz="195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Экономия времени предпринимателя, который сам выставляет клиентам счета и акты</a:t>
            </a:r>
            <a:endParaRPr lang="en-US" sz="1950" dirty="0"/>
          </a:p>
        </p:txBody>
      </p:sp>
      <p:sp>
        <p:nvSpPr>
          <p:cNvPr id="19" name="Shape 17"/>
          <p:cNvSpPr/>
          <p:nvPr/>
        </p:nvSpPr>
        <p:spPr>
          <a:xfrm>
            <a:off x="1047750" y="7369704"/>
            <a:ext cx="53340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20" name="Text 18"/>
          <p:cNvSpPr/>
          <p:nvPr/>
        </p:nvSpPr>
        <p:spPr>
          <a:xfrm>
            <a:off x="1333500" y="6623315"/>
            <a:ext cx="4922520" cy="574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6429"/>
              </a:lnSpc>
              <a:buNone/>
            </a:pPr>
            <a:r>
              <a:rPr lang="en-US" sz="2250" b="1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до 80–90%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6381750" y="7369704"/>
            <a:ext cx="108585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22" name="Text 20"/>
          <p:cNvSpPr/>
          <p:nvPr/>
        </p:nvSpPr>
        <p:spPr>
          <a:xfrm>
            <a:off x="6667500" y="6623315"/>
            <a:ext cx="10612755" cy="574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643"/>
              </a:lnSpc>
              <a:buNone/>
            </a:pPr>
            <a:r>
              <a:rPr lang="en-US" sz="195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Снижение ошибок в первичке</a:t>
            </a:r>
            <a:endParaRPr lang="en-US" sz="1950" dirty="0"/>
          </a:p>
        </p:txBody>
      </p:sp>
      <p:sp>
        <p:nvSpPr>
          <p:cNvPr id="23" name="Shape 21"/>
          <p:cNvSpPr/>
          <p:nvPr/>
        </p:nvSpPr>
        <p:spPr>
          <a:xfrm>
            <a:off x="1047750" y="8334111"/>
            <a:ext cx="53340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24" name="Text 22"/>
          <p:cNvSpPr/>
          <p:nvPr/>
        </p:nvSpPr>
        <p:spPr>
          <a:xfrm>
            <a:off x="1333500" y="7587721"/>
            <a:ext cx="4922520" cy="574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6429"/>
              </a:lnSpc>
              <a:buNone/>
            </a:pPr>
            <a:r>
              <a:rPr lang="en-US" sz="2250" b="1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в 3–10 раз</a:t>
            </a:r>
            <a:endParaRPr lang="en-US" sz="2250" dirty="0"/>
          </a:p>
        </p:txBody>
      </p:sp>
      <p:sp>
        <p:nvSpPr>
          <p:cNvPr id="25" name="Shape 23"/>
          <p:cNvSpPr/>
          <p:nvPr/>
        </p:nvSpPr>
        <p:spPr>
          <a:xfrm>
            <a:off x="6381750" y="8334111"/>
            <a:ext cx="108585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26" name="Text 24"/>
          <p:cNvSpPr/>
          <p:nvPr/>
        </p:nvSpPr>
        <p:spPr>
          <a:xfrm>
            <a:off x="6667500" y="7587721"/>
            <a:ext cx="10612755" cy="574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643"/>
              </a:lnSpc>
              <a:buNone/>
            </a:pPr>
            <a:r>
              <a:rPr lang="en-US" sz="195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Скорость обработки документов быстрее ручного ввода в круглосуточном режиме</a:t>
            </a:r>
            <a:endParaRPr lang="en-US" sz="1950" dirty="0"/>
          </a:p>
        </p:txBody>
      </p:sp>
      <p:sp>
        <p:nvSpPr>
          <p:cNvPr id="27" name="Text 25"/>
          <p:cNvSpPr/>
          <p:nvPr/>
        </p:nvSpPr>
        <p:spPr>
          <a:xfrm>
            <a:off x="1333500" y="8552127"/>
            <a:ext cx="4922520" cy="59107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6429"/>
              </a:lnSpc>
              <a:buNone/>
            </a:pPr>
            <a:r>
              <a:rPr lang="en-US" sz="2250" b="1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на 20–25%</a:t>
            </a:r>
            <a:endParaRPr lang="en-US" sz="2250" dirty="0"/>
          </a:p>
        </p:txBody>
      </p:sp>
      <p:sp>
        <p:nvSpPr>
          <p:cNvPr id="28" name="Text 26"/>
          <p:cNvSpPr/>
          <p:nvPr/>
        </p:nvSpPr>
        <p:spPr>
          <a:xfrm>
            <a:off x="6667500" y="8552127"/>
            <a:ext cx="10612755" cy="59107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179"/>
              </a:lnSpc>
              <a:buNone/>
            </a:pPr>
            <a:r>
              <a:rPr lang="en-US" sz="195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Увеличение продаж за счёт ускорения реагирования на заявки</a:t>
            </a:r>
            <a:endParaRPr lang="en-US" sz="1950" dirty="0"/>
          </a:p>
        </p:txBody>
      </p:sp>
      <p:sp>
        <p:nvSpPr>
          <p:cNvPr id="29" name="Shape 27"/>
          <p:cNvSpPr/>
          <p:nvPr/>
        </p:nvSpPr>
        <p:spPr>
          <a:xfrm>
            <a:off x="1047750" y="9505156"/>
            <a:ext cx="16192500" cy="9525"/>
          </a:xfrm>
          <a:prstGeom prst="rect">
            <a:avLst/>
          </a:prstGeom>
          <a:solidFill>
            <a:srgbClr val="C8CABF"/>
          </a:solidFill>
          <a:ln/>
        </p:spPr>
      </p:sp>
      <p:sp>
        <p:nvSpPr>
          <p:cNvPr id="30" name="Text 28"/>
          <p:cNvSpPr/>
          <p:nvPr/>
        </p:nvSpPr>
        <p:spPr>
          <a:xfrm>
            <a:off x="1047750" y="9666023"/>
            <a:ext cx="6535486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Онлайн-сервис для ведения и контроля бухгалтерии · ООО «1+1 Бухдеск»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16820488" y="9666023"/>
            <a:ext cx="495961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9 / 17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23900"/>
            <a:ext cx="17811750" cy="6347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7000"/>
              </a:lnSpc>
              <a:buNone/>
            </a:pPr>
            <a:r>
              <a:rPr lang="en-US" sz="4350" b="1" kern="0" spc="-6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Технологическая основа</a:t>
            </a:r>
            <a:endParaRPr lang="en-US" sz="4350" dirty="0"/>
          </a:p>
        </p:txBody>
      </p:sp>
      <p:sp>
        <p:nvSpPr>
          <p:cNvPr id="3" name="Shape 1"/>
          <p:cNvSpPr/>
          <p:nvPr/>
        </p:nvSpPr>
        <p:spPr>
          <a:xfrm>
            <a:off x="1047750" y="2341615"/>
            <a:ext cx="7972425" cy="2651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1047750" y="2341615"/>
            <a:ext cx="42333" cy="2651760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5" name="Text 3"/>
          <p:cNvSpPr/>
          <p:nvPr/>
        </p:nvSpPr>
        <p:spPr>
          <a:xfrm>
            <a:off x="1413933" y="2703565"/>
            <a:ext cx="7500863" cy="128957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5481"/>
              </a:lnSpc>
              <a:buNone/>
            </a:pPr>
            <a:r>
              <a:rPr lang="en-US" sz="21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Веб-интерфейс </a:t>
            </a:r>
            <a:r>
              <a:rPr lang="en-US" sz="21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— удобные формы, шаблоны, история и выгрузки. Сервис не зависит от мессенджеров, которые могут быть заблокированы</a:t>
            </a:r>
            <a:endParaRPr lang="en-US" sz="2175" dirty="0"/>
          </a:p>
        </p:txBody>
      </p:sp>
      <p:sp>
        <p:nvSpPr>
          <p:cNvPr id="6" name="Shape 4"/>
          <p:cNvSpPr/>
          <p:nvPr/>
        </p:nvSpPr>
        <p:spPr>
          <a:xfrm>
            <a:off x="9267825" y="2341615"/>
            <a:ext cx="7972425" cy="2651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9267825" y="2341615"/>
            <a:ext cx="42333" cy="2651760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8" name="Text 6"/>
          <p:cNvSpPr/>
          <p:nvPr/>
        </p:nvSpPr>
        <p:spPr>
          <a:xfrm>
            <a:off x="9634008" y="2703565"/>
            <a:ext cx="7500863" cy="87524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5481"/>
              </a:lnSpc>
              <a:buNone/>
            </a:pPr>
            <a:r>
              <a:rPr lang="en-US" sz="21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Распознавание и понимание </a:t>
            </a:r>
            <a:r>
              <a:rPr lang="en-US" sz="21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— SpeechKit + YandexGPT извлекают данные из речи и текста</a:t>
            </a:r>
            <a:endParaRPr lang="en-US" sz="2175" dirty="0"/>
          </a:p>
        </p:txBody>
      </p:sp>
      <p:sp>
        <p:nvSpPr>
          <p:cNvPr id="9" name="Shape 7"/>
          <p:cNvSpPr/>
          <p:nvPr/>
        </p:nvSpPr>
        <p:spPr>
          <a:xfrm>
            <a:off x="1047750" y="5449824"/>
            <a:ext cx="7972425" cy="2651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1047750" y="5449824"/>
            <a:ext cx="42333" cy="2651760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11" name="Text 9"/>
          <p:cNvSpPr/>
          <p:nvPr/>
        </p:nvSpPr>
        <p:spPr>
          <a:xfrm>
            <a:off x="1413933" y="5815584"/>
            <a:ext cx="7500863" cy="87524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5481"/>
              </a:lnSpc>
              <a:buNone/>
            </a:pPr>
            <a:r>
              <a:rPr lang="en-US" sz="21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Интеграция через OData </a:t>
            </a:r>
            <a:r>
              <a:rPr lang="en-US" sz="21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— создание счетов и актов без доработки конфигурации 1С</a:t>
            </a:r>
            <a:endParaRPr lang="en-US" sz="2175" dirty="0"/>
          </a:p>
        </p:txBody>
      </p:sp>
      <p:sp>
        <p:nvSpPr>
          <p:cNvPr id="12" name="Shape 10"/>
          <p:cNvSpPr/>
          <p:nvPr/>
        </p:nvSpPr>
        <p:spPr>
          <a:xfrm>
            <a:off x="9267825" y="5449824"/>
            <a:ext cx="7972425" cy="2651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9267825" y="5449824"/>
            <a:ext cx="42333" cy="2651760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14" name="Text 12"/>
          <p:cNvSpPr/>
          <p:nvPr/>
        </p:nvSpPr>
        <p:spPr>
          <a:xfrm>
            <a:off x="9634008" y="5815584"/>
            <a:ext cx="7500863" cy="87524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5481"/>
              </a:lnSpc>
              <a:buNone/>
            </a:pPr>
            <a:r>
              <a:rPr lang="en-US" sz="21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Контроль и безопасность </a:t>
            </a:r>
            <a:r>
              <a:rPr lang="en-US" sz="21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— превью документа, подтверждение, роли и полный аудит действий</a:t>
            </a:r>
            <a:endParaRPr lang="en-US" sz="2175" dirty="0"/>
          </a:p>
        </p:txBody>
      </p:sp>
      <p:sp>
        <p:nvSpPr>
          <p:cNvPr id="15" name="Shape 13"/>
          <p:cNvSpPr/>
          <p:nvPr/>
        </p:nvSpPr>
        <p:spPr>
          <a:xfrm>
            <a:off x="1047750" y="9409906"/>
            <a:ext cx="16192500" cy="9525"/>
          </a:xfrm>
          <a:prstGeom prst="rect">
            <a:avLst/>
          </a:prstGeom>
          <a:solidFill>
            <a:srgbClr val="C8CABF"/>
          </a:solidFill>
          <a:ln/>
        </p:spPr>
      </p:sp>
      <p:sp>
        <p:nvSpPr>
          <p:cNvPr id="16" name="Text 14"/>
          <p:cNvSpPr/>
          <p:nvPr/>
        </p:nvSpPr>
        <p:spPr>
          <a:xfrm>
            <a:off x="1047750" y="9589823"/>
            <a:ext cx="6535486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Онлайн-сервис для ведения и контроля бухгалтерии · ООО «1+1 Бухдеск»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16823531" y="9589823"/>
            <a:ext cx="492919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10 / 17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628650"/>
            <a:ext cx="17811750" cy="3180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4052"/>
              </a:lnSpc>
              <a:buNone/>
            </a:pPr>
            <a:r>
              <a:rPr lang="en-US" sz="1575" kern="0" spc="189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СРАВНЕНИЕ С КОНКУРЕНТАМИ</a:t>
            </a:r>
            <a:endParaRPr lang="en-US" sz="1575" dirty="0"/>
          </a:p>
        </p:txBody>
      </p:sp>
      <p:sp>
        <p:nvSpPr>
          <p:cNvPr id="3" name="Text 1"/>
          <p:cNvSpPr/>
          <p:nvPr/>
        </p:nvSpPr>
        <p:spPr>
          <a:xfrm>
            <a:off x="1047750" y="1041929"/>
            <a:ext cx="17811750" cy="5729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6548"/>
              </a:lnSpc>
              <a:buNone/>
            </a:pPr>
            <a:r>
              <a:rPr lang="en-US" sz="3900" b="1" kern="0" spc="-58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Чем «Бухдеск» отличается от аналогов</a:t>
            </a:r>
            <a:endParaRPr lang="en-US" sz="3900" dirty="0"/>
          </a:p>
        </p:txBody>
      </p:sp>
      <p:sp>
        <p:nvSpPr>
          <p:cNvPr id="4" name="Text 2"/>
          <p:cNvSpPr/>
          <p:nvPr/>
        </p:nvSpPr>
        <p:spPr>
          <a:xfrm>
            <a:off x="1047750" y="1729184"/>
            <a:ext cx="14716125" cy="7762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8217"/>
              </a:lnSpc>
              <a:buNone/>
            </a:pPr>
            <a:r>
              <a:rPr lang="en-US" sz="1875" dirty="0">
                <a:solidFill>
                  <a:srgbClr val="3C3C38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На рынке нет подобного сервиса, создающего комплексную инфраструктуру для бухгалтерского, налогового и управленческого учёта компаний.</a:t>
            </a:r>
            <a:endParaRPr lang="en-US" sz="1875" dirty="0"/>
          </a:p>
        </p:txBody>
      </p:sp>
      <p:sp>
        <p:nvSpPr>
          <p:cNvPr id="5" name="Shape 3"/>
          <p:cNvSpPr/>
          <p:nvPr/>
        </p:nvSpPr>
        <p:spPr>
          <a:xfrm>
            <a:off x="1047750" y="2791222"/>
            <a:ext cx="16192500" cy="6428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1047750" y="3614340"/>
            <a:ext cx="6559815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2981722"/>
            <a:ext cx="6261309" cy="48021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1500" kern="0" spc="9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КРИТЕРИЙ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607565" y="3614340"/>
            <a:ext cx="2140611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9" name="Text 7"/>
          <p:cNvSpPr/>
          <p:nvPr/>
        </p:nvSpPr>
        <p:spPr>
          <a:xfrm>
            <a:off x="7740915" y="2981722"/>
            <a:ext cx="1873911" cy="48021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4545"/>
              </a:lnSpc>
              <a:buNone/>
            </a:pPr>
            <a:r>
              <a:rPr lang="en-US" sz="1800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Entera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748176" y="3614340"/>
            <a:ext cx="2140479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11" name="Text 9"/>
          <p:cNvSpPr/>
          <p:nvPr/>
        </p:nvSpPr>
        <p:spPr>
          <a:xfrm>
            <a:off x="9881526" y="2981722"/>
            <a:ext cx="1873779" cy="48021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4545"/>
              </a:lnSpc>
              <a:buNone/>
            </a:pPr>
            <a:r>
              <a:rPr lang="en-US" sz="1800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ARQA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1888656" y="3614340"/>
            <a:ext cx="2589477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13" name="Text 11"/>
          <p:cNvSpPr/>
          <p:nvPr/>
        </p:nvSpPr>
        <p:spPr>
          <a:xfrm>
            <a:off x="12021264" y="2981722"/>
            <a:ext cx="2324261" cy="48021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4545"/>
              </a:lnSpc>
              <a:buNone/>
            </a:pPr>
            <a:r>
              <a:rPr lang="en-US" sz="1800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Кнопка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4478133" y="2791222"/>
            <a:ext cx="2761985" cy="840052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15" name="Text 13"/>
          <p:cNvSpPr/>
          <p:nvPr/>
        </p:nvSpPr>
        <p:spPr>
          <a:xfrm>
            <a:off x="14608153" y="2981722"/>
            <a:ext cx="2501945" cy="4971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4545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Бухдеск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047750" y="4505854"/>
            <a:ext cx="6559815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3840824"/>
            <a:ext cx="6261309" cy="4935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7537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Своя бухгалтерская экспертиза (15 лет)</a:t>
            </a:r>
            <a:endParaRPr lang="en-US" sz="1875" dirty="0"/>
          </a:p>
        </p:txBody>
      </p:sp>
      <p:sp>
        <p:nvSpPr>
          <p:cNvPr id="18" name="Shape 16"/>
          <p:cNvSpPr/>
          <p:nvPr/>
        </p:nvSpPr>
        <p:spPr>
          <a:xfrm>
            <a:off x="7607565" y="4505854"/>
            <a:ext cx="2140611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19" name="Text 17"/>
          <p:cNvSpPr/>
          <p:nvPr/>
        </p:nvSpPr>
        <p:spPr>
          <a:xfrm>
            <a:off x="7740915" y="3840824"/>
            <a:ext cx="1873911" cy="4935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5809"/>
              </a:lnSpc>
              <a:buNone/>
            </a:pPr>
            <a:r>
              <a:rPr lang="en-US" sz="1875" dirty="0">
                <a:solidFill>
                  <a:srgbClr val="8A8C8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Нет</a:t>
            </a:r>
            <a:endParaRPr lang="en-US" sz="1875" dirty="0"/>
          </a:p>
        </p:txBody>
      </p:sp>
      <p:sp>
        <p:nvSpPr>
          <p:cNvPr id="20" name="Shape 18"/>
          <p:cNvSpPr/>
          <p:nvPr/>
        </p:nvSpPr>
        <p:spPr>
          <a:xfrm>
            <a:off x="9748176" y="4505854"/>
            <a:ext cx="2140479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21" name="Text 19"/>
          <p:cNvSpPr/>
          <p:nvPr/>
        </p:nvSpPr>
        <p:spPr>
          <a:xfrm>
            <a:off x="9881526" y="3840824"/>
            <a:ext cx="1873779" cy="4935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5809"/>
              </a:lnSpc>
              <a:buNone/>
            </a:pPr>
            <a:r>
              <a:rPr lang="en-US" sz="1875" dirty="0">
                <a:solidFill>
                  <a:srgbClr val="8A8C8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Нет</a:t>
            </a:r>
            <a:endParaRPr lang="en-US" sz="1875" dirty="0"/>
          </a:p>
        </p:txBody>
      </p:sp>
      <p:sp>
        <p:nvSpPr>
          <p:cNvPr id="22" name="Shape 20"/>
          <p:cNvSpPr/>
          <p:nvPr/>
        </p:nvSpPr>
        <p:spPr>
          <a:xfrm>
            <a:off x="11888656" y="4505854"/>
            <a:ext cx="2589477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23" name="Text 21"/>
          <p:cNvSpPr/>
          <p:nvPr/>
        </p:nvSpPr>
        <p:spPr>
          <a:xfrm>
            <a:off x="12021264" y="3840824"/>
            <a:ext cx="2324261" cy="4935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Да</a:t>
            </a:r>
            <a:endParaRPr lang="en-US" sz="1875" dirty="0"/>
          </a:p>
        </p:txBody>
      </p:sp>
      <p:sp>
        <p:nvSpPr>
          <p:cNvPr id="24" name="Shape 22"/>
          <p:cNvSpPr/>
          <p:nvPr/>
        </p:nvSpPr>
        <p:spPr>
          <a:xfrm>
            <a:off x="14478133" y="3631274"/>
            <a:ext cx="2761985" cy="883047"/>
          </a:xfrm>
          <a:prstGeom prst="rect">
            <a:avLst/>
          </a:prstGeom>
          <a:solidFill>
            <a:srgbClr val="7C7E2E">
              <a:alpha val="12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14608153" y="3840824"/>
            <a:ext cx="2501945" cy="5020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5809"/>
              </a:lnSpc>
              <a:buNone/>
            </a:pPr>
            <a:r>
              <a:rPr lang="en-US" sz="18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Да</a:t>
            </a:r>
            <a:endParaRPr lang="en-US" sz="1875" dirty="0"/>
          </a:p>
        </p:txBody>
      </p:sp>
      <p:sp>
        <p:nvSpPr>
          <p:cNvPr id="26" name="Shape 24"/>
          <p:cNvSpPr/>
          <p:nvPr/>
        </p:nvSpPr>
        <p:spPr>
          <a:xfrm>
            <a:off x="1047750" y="5389033"/>
            <a:ext cx="6559815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27" name="Text 25"/>
          <p:cNvSpPr/>
          <p:nvPr/>
        </p:nvSpPr>
        <p:spPr>
          <a:xfrm>
            <a:off x="1295400" y="4723871"/>
            <a:ext cx="6261309" cy="493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7537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Личный кабинет клиента</a:t>
            </a:r>
            <a:endParaRPr lang="en-US" sz="1875" dirty="0"/>
          </a:p>
        </p:txBody>
      </p:sp>
      <p:sp>
        <p:nvSpPr>
          <p:cNvPr id="28" name="Shape 26"/>
          <p:cNvSpPr/>
          <p:nvPr/>
        </p:nvSpPr>
        <p:spPr>
          <a:xfrm>
            <a:off x="7607565" y="5389033"/>
            <a:ext cx="2140611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29" name="Text 27"/>
          <p:cNvSpPr/>
          <p:nvPr/>
        </p:nvSpPr>
        <p:spPr>
          <a:xfrm>
            <a:off x="7740915" y="4723871"/>
            <a:ext cx="1873911" cy="493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5809"/>
              </a:lnSpc>
              <a:buNone/>
            </a:pPr>
            <a:r>
              <a:rPr lang="en-US" sz="1875" dirty="0">
                <a:solidFill>
                  <a:srgbClr val="8A8C8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Нет</a:t>
            </a:r>
            <a:endParaRPr lang="en-US" sz="1875" dirty="0"/>
          </a:p>
        </p:txBody>
      </p:sp>
      <p:sp>
        <p:nvSpPr>
          <p:cNvPr id="30" name="Shape 28"/>
          <p:cNvSpPr/>
          <p:nvPr/>
        </p:nvSpPr>
        <p:spPr>
          <a:xfrm>
            <a:off x="9748176" y="5389033"/>
            <a:ext cx="2140479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31" name="Text 29"/>
          <p:cNvSpPr/>
          <p:nvPr/>
        </p:nvSpPr>
        <p:spPr>
          <a:xfrm>
            <a:off x="9881526" y="4723871"/>
            <a:ext cx="1873779" cy="493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5809"/>
              </a:lnSpc>
              <a:buNone/>
            </a:pPr>
            <a:r>
              <a:rPr lang="en-US" sz="1875" dirty="0">
                <a:solidFill>
                  <a:srgbClr val="8A8C8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Нет</a:t>
            </a:r>
            <a:endParaRPr lang="en-US" sz="1875" dirty="0"/>
          </a:p>
        </p:txBody>
      </p:sp>
      <p:sp>
        <p:nvSpPr>
          <p:cNvPr id="32" name="Shape 30"/>
          <p:cNvSpPr/>
          <p:nvPr/>
        </p:nvSpPr>
        <p:spPr>
          <a:xfrm>
            <a:off x="11888656" y="5389033"/>
            <a:ext cx="2589477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33" name="Text 31"/>
          <p:cNvSpPr/>
          <p:nvPr/>
        </p:nvSpPr>
        <p:spPr>
          <a:xfrm>
            <a:off x="12021264" y="4723871"/>
            <a:ext cx="2324261" cy="493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Да</a:t>
            </a:r>
            <a:endParaRPr lang="en-US" sz="1875" dirty="0"/>
          </a:p>
        </p:txBody>
      </p:sp>
      <p:sp>
        <p:nvSpPr>
          <p:cNvPr id="34" name="Shape 32"/>
          <p:cNvSpPr/>
          <p:nvPr/>
        </p:nvSpPr>
        <p:spPr>
          <a:xfrm>
            <a:off x="14478133" y="4514321"/>
            <a:ext cx="2761985" cy="883179"/>
          </a:xfrm>
          <a:prstGeom prst="rect">
            <a:avLst/>
          </a:prstGeom>
          <a:solidFill>
            <a:srgbClr val="7C7E2E">
              <a:alpha val="12000"/>
            </a:srgbClr>
          </a:solidFill>
          <a:ln/>
        </p:spPr>
      </p:sp>
      <p:sp>
        <p:nvSpPr>
          <p:cNvPr id="35" name="Text 33"/>
          <p:cNvSpPr/>
          <p:nvPr/>
        </p:nvSpPr>
        <p:spPr>
          <a:xfrm>
            <a:off x="14608153" y="4723871"/>
            <a:ext cx="2501945" cy="50217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5809"/>
              </a:lnSpc>
              <a:buNone/>
            </a:pPr>
            <a:r>
              <a:rPr lang="en-US" sz="18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Да</a:t>
            </a:r>
            <a:endParaRPr lang="en-US" sz="1875" dirty="0"/>
          </a:p>
        </p:txBody>
      </p:sp>
      <p:sp>
        <p:nvSpPr>
          <p:cNvPr id="36" name="Shape 34"/>
          <p:cNvSpPr/>
          <p:nvPr/>
        </p:nvSpPr>
        <p:spPr>
          <a:xfrm>
            <a:off x="1047750" y="6272213"/>
            <a:ext cx="6559815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37" name="Text 35"/>
          <p:cNvSpPr/>
          <p:nvPr/>
        </p:nvSpPr>
        <p:spPr>
          <a:xfrm>
            <a:off x="1295400" y="5607050"/>
            <a:ext cx="6261309" cy="493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7537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Интеграция с 1С</a:t>
            </a:r>
            <a:endParaRPr lang="en-US" sz="1875" dirty="0"/>
          </a:p>
        </p:txBody>
      </p:sp>
      <p:sp>
        <p:nvSpPr>
          <p:cNvPr id="38" name="Shape 36"/>
          <p:cNvSpPr/>
          <p:nvPr/>
        </p:nvSpPr>
        <p:spPr>
          <a:xfrm>
            <a:off x="7607565" y="6272213"/>
            <a:ext cx="2140611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39" name="Text 37"/>
          <p:cNvSpPr/>
          <p:nvPr/>
        </p:nvSpPr>
        <p:spPr>
          <a:xfrm>
            <a:off x="7740915" y="5607050"/>
            <a:ext cx="1873911" cy="493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Да</a:t>
            </a:r>
            <a:endParaRPr lang="en-US" sz="1875" dirty="0"/>
          </a:p>
        </p:txBody>
      </p:sp>
      <p:sp>
        <p:nvSpPr>
          <p:cNvPr id="40" name="Shape 38"/>
          <p:cNvSpPr/>
          <p:nvPr/>
        </p:nvSpPr>
        <p:spPr>
          <a:xfrm>
            <a:off x="9748176" y="6272213"/>
            <a:ext cx="2140479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41" name="Text 39"/>
          <p:cNvSpPr/>
          <p:nvPr/>
        </p:nvSpPr>
        <p:spPr>
          <a:xfrm>
            <a:off x="9881526" y="5607050"/>
            <a:ext cx="1873779" cy="493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Да</a:t>
            </a:r>
            <a:endParaRPr lang="en-US" sz="1875" dirty="0"/>
          </a:p>
        </p:txBody>
      </p:sp>
      <p:sp>
        <p:nvSpPr>
          <p:cNvPr id="42" name="Shape 40"/>
          <p:cNvSpPr/>
          <p:nvPr/>
        </p:nvSpPr>
        <p:spPr>
          <a:xfrm>
            <a:off x="11888656" y="6272213"/>
            <a:ext cx="2589477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43" name="Text 41"/>
          <p:cNvSpPr/>
          <p:nvPr/>
        </p:nvSpPr>
        <p:spPr>
          <a:xfrm>
            <a:off x="12021264" y="5607050"/>
            <a:ext cx="2324261" cy="493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4154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Своя система</a:t>
            </a:r>
            <a:endParaRPr lang="en-US" sz="1875" dirty="0"/>
          </a:p>
        </p:txBody>
      </p:sp>
      <p:sp>
        <p:nvSpPr>
          <p:cNvPr id="44" name="Shape 42"/>
          <p:cNvSpPr/>
          <p:nvPr/>
        </p:nvSpPr>
        <p:spPr>
          <a:xfrm>
            <a:off x="14478133" y="5397500"/>
            <a:ext cx="2761985" cy="883179"/>
          </a:xfrm>
          <a:prstGeom prst="rect">
            <a:avLst/>
          </a:prstGeom>
          <a:solidFill>
            <a:srgbClr val="7C7E2E">
              <a:alpha val="12000"/>
            </a:srgbClr>
          </a:solidFill>
          <a:ln/>
        </p:spPr>
      </p:sp>
      <p:sp>
        <p:nvSpPr>
          <p:cNvPr id="45" name="Text 43"/>
          <p:cNvSpPr/>
          <p:nvPr/>
        </p:nvSpPr>
        <p:spPr>
          <a:xfrm>
            <a:off x="14608153" y="5607050"/>
            <a:ext cx="2501945" cy="50217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5809"/>
              </a:lnSpc>
              <a:buNone/>
            </a:pPr>
            <a:r>
              <a:rPr lang="en-US" sz="18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Да</a:t>
            </a:r>
            <a:endParaRPr lang="en-US" sz="1875" dirty="0"/>
          </a:p>
        </p:txBody>
      </p:sp>
      <p:sp>
        <p:nvSpPr>
          <p:cNvPr id="46" name="Shape 44"/>
          <p:cNvSpPr/>
          <p:nvPr/>
        </p:nvSpPr>
        <p:spPr>
          <a:xfrm>
            <a:off x="1047750" y="7155392"/>
            <a:ext cx="6559815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47" name="Text 45"/>
          <p:cNvSpPr/>
          <p:nvPr/>
        </p:nvSpPr>
        <p:spPr>
          <a:xfrm>
            <a:off x="1295400" y="6490229"/>
            <a:ext cx="6261309" cy="493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7537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Входит в комплекс аутсорсингового обслуживания</a:t>
            </a:r>
            <a:endParaRPr lang="en-US" sz="1875" dirty="0"/>
          </a:p>
        </p:txBody>
      </p:sp>
      <p:sp>
        <p:nvSpPr>
          <p:cNvPr id="48" name="Shape 46"/>
          <p:cNvSpPr/>
          <p:nvPr/>
        </p:nvSpPr>
        <p:spPr>
          <a:xfrm>
            <a:off x="7607565" y="7155392"/>
            <a:ext cx="2140611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49" name="Text 47"/>
          <p:cNvSpPr/>
          <p:nvPr/>
        </p:nvSpPr>
        <p:spPr>
          <a:xfrm>
            <a:off x="7740915" y="6490229"/>
            <a:ext cx="1873911" cy="493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5809"/>
              </a:lnSpc>
              <a:buNone/>
            </a:pPr>
            <a:r>
              <a:rPr lang="en-US" sz="1875" dirty="0">
                <a:solidFill>
                  <a:srgbClr val="8A8C8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Нет</a:t>
            </a:r>
            <a:endParaRPr lang="en-US" sz="1875" dirty="0"/>
          </a:p>
        </p:txBody>
      </p:sp>
      <p:sp>
        <p:nvSpPr>
          <p:cNvPr id="50" name="Shape 48"/>
          <p:cNvSpPr/>
          <p:nvPr/>
        </p:nvSpPr>
        <p:spPr>
          <a:xfrm>
            <a:off x="9748176" y="7155392"/>
            <a:ext cx="2140479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51" name="Text 49"/>
          <p:cNvSpPr/>
          <p:nvPr/>
        </p:nvSpPr>
        <p:spPr>
          <a:xfrm>
            <a:off x="9881526" y="6490229"/>
            <a:ext cx="1873779" cy="493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5809"/>
              </a:lnSpc>
              <a:buNone/>
            </a:pPr>
            <a:r>
              <a:rPr lang="en-US" sz="1875" dirty="0">
                <a:solidFill>
                  <a:srgbClr val="8A8C8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Нет</a:t>
            </a:r>
            <a:endParaRPr lang="en-US" sz="1875" dirty="0"/>
          </a:p>
        </p:txBody>
      </p:sp>
      <p:sp>
        <p:nvSpPr>
          <p:cNvPr id="52" name="Shape 50"/>
          <p:cNvSpPr/>
          <p:nvPr/>
        </p:nvSpPr>
        <p:spPr>
          <a:xfrm>
            <a:off x="11888656" y="7155392"/>
            <a:ext cx="2589477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53" name="Text 51"/>
          <p:cNvSpPr/>
          <p:nvPr/>
        </p:nvSpPr>
        <p:spPr>
          <a:xfrm>
            <a:off x="12021264" y="6490229"/>
            <a:ext cx="2324261" cy="493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Да</a:t>
            </a:r>
            <a:endParaRPr lang="en-US" sz="1875" dirty="0"/>
          </a:p>
        </p:txBody>
      </p:sp>
      <p:sp>
        <p:nvSpPr>
          <p:cNvPr id="54" name="Shape 52"/>
          <p:cNvSpPr/>
          <p:nvPr/>
        </p:nvSpPr>
        <p:spPr>
          <a:xfrm>
            <a:off x="14478133" y="6280679"/>
            <a:ext cx="2761985" cy="883179"/>
          </a:xfrm>
          <a:prstGeom prst="rect">
            <a:avLst/>
          </a:prstGeom>
          <a:solidFill>
            <a:srgbClr val="7C7E2E">
              <a:alpha val="12000"/>
            </a:srgbClr>
          </a:solidFill>
          <a:ln/>
        </p:spPr>
      </p:sp>
      <p:sp>
        <p:nvSpPr>
          <p:cNvPr id="55" name="Text 53"/>
          <p:cNvSpPr/>
          <p:nvPr/>
        </p:nvSpPr>
        <p:spPr>
          <a:xfrm>
            <a:off x="14608153" y="6490229"/>
            <a:ext cx="2501945" cy="50217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5809"/>
              </a:lnSpc>
              <a:buNone/>
            </a:pPr>
            <a:r>
              <a:rPr lang="en-US" sz="18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Да</a:t>
            </a:r>
            <a:endParaRPr lang="en-US" sz="1875" dirty="0"/>
          </a:p>
        </p:txBody>
      </p:sp>
      <p:sp>
        <p:nvSpPr>
          <p:cNvPr id="56" name="Shape 54"/>
          <p:cNvSpPr/>
          <p:nvPr/>
        </p:nvSpPr>
        <p:spPr>
          <a:xfrm>
            <a:off x="1047750" y="8324321"/>
            <a:ext cx="6559815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57" name="Text 55"/>
          <p:cNvSpPr/>
          <p:nvPr/>
        </p:nvSpPr>
        <p:spPr>
          <a:xfrm>
            <a:off x="1295400" y="7373409"/>
            <a:ext cx="6261309" cy="7794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7537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Автоматическая обработка первички (текст → документы 1С)</a:t>
            </a:r>
            <a:endParaRPr lang="en-US" sz="1875" dirty="0"/>
          </a:p>
        </p:txBody>
      </p:sp>
      <p:sp>
        <p:nvSpPr>
          <p:cNvPr id="58" name="Shape 56"/>
          <p:cNvSpPr/>
          <p:nvPr/>
        </p:nvSpPr>
        <p:spPr>
          <a:xfrm>
            <a:off x="7607565" y="8324321"/>
            <a:ext cx="2140611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59" name="Text 57"/>
          <p:cNvSpPr/>
          <p:nvPr/>
        </p:nvSpPr>
        <p:spPr>
          <a:xfrm>
            <a:off x="7740915" y="7373409"/>
            <a:ext cx="1873911" cy="7794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5809"/>
              </a:lnSpc>
              <a:buNone/>
            </a:pPr>
            <a:r>
              <a:rPr lang="en-US" sz="1875" dirty="0">
                <a:solidFill>
                  <a:srgbClr val="8A8C8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Нет</a:t>
            </a:r>
            <a:endParaRPr lang="en-US" sz="1875" dirty="0"/>
          </a:p>
        </p:txBody>
      </p:sp>
      <p:sp>
        <p:nvSpPr>
          <p:cNvPr id="60" name="Shape 58"/>
          <p:cNvSpPr/>
          <p:nvPr/>
        </p:nvSpPr>
        <p:spPr>
          <a:xfrm>
            <a:off x="9748176" y="8324321"/>
            <a:ext cx="2140479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61" name="Text 59"/>
          <p:cNvSpPr/>
          <p:nvPr/>
        </p:nvSpPr>
        <p:spPr>
          <a:xfrm>
            <a:off x="9881526" y="7373409"/>
            <a:ext cx="1873779" cy="7794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5809"/>
              </a:lnSpc>
              <a:buNone/>
            </a:pPr>
            <a:r>
              <a:rPr lang="en-US" sz="1875" dirty="0">
                <a:solidFill>
                  <a:srgbClr val="8A8C8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Нет</a:t>
            </a:r>
            <a:endParaRPr lang="en-US" sz="1875" dirty="0"/>
          </a:p>
        </p:txBody>
      </p:sp>
      <p:sp>
        <p:nvSpPr>
          <p:cNvPr id="62" name="Shape 60"/>
          <p:cNvSpPr/>
          <p:nvPr/>
        </p:nvSpPr>
        <p:spPr>
          <a:xfrm>
            <a:off x="11888656" y="8324321"/>
            <a:ext cx="2589477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63" name="Text 61"/>
          <p:cNvSpPr/>
          <p:nvPr/>
        </p:nvSpPr>
        <p:spPr>
          <a:xfrm>
            <a:off x="12021264" y="7373409"/>
            <a:ext cx="2324261" cy="7794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Да</a:t>
            </a:r>
            <a:endParaRPr lang="en-US" sz="1875" dirty="0"/>
          </a:p>
        </p:txBody>
      </p:sp>
      <p:sp>
        <p:nvSpPr>
          <p:cNvPr id="64" name="Shape 62"/>
          <p:cNvSpPr/>
          <p:nvPr/>
        </p:nvSpPr>
        <p:spPr>
          <a:xfrm>
            <a:off x="14478133" y="7163859"/>
            <a:ext cx="2761985" cy="1168929"/>
          </a:xfrm>
          <a:prstGeom prst="rect">
            <a:avLst/>
          </a:prstGeom>
          <a:solidFill>
            <a:srgbClr val="7C7E2E">
              <a:alpha val="12000"/>
            </a:srgbClr>
          </a:solidFill>
          <a:ln/>
        </p:spPr>
      </p:sp>
      <p:sp>
        <p:nvSpPr>
          <p:cNvPr id="65" name="Text 63"/>
          <p:cNvSpPr/>
          <p:nvPr/>
        </p:nvSpPr>
        <p:spPr>
          <a:xfrm>
            <a:off x="14608153" y="7373409"/>
            <a:ext cx="2501945" cy="7879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5809"/>
              </a:lnSpc>
              <a:buNone/>
            </a:pPr>
            <a:r>
              <a:rPr lang="en-US" sz="18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Да</a:t>
            </a:r>
            <a:endParaRPr lang="en-US" sz="1875" dirty="0"/>
          </a:p>
        </p:txBody>
      </p:sp>
      <p:sp>
        <p:nvSpPr>
          <p:cNvPr id="66" name="Text 64"/>
          <p:cNvSpPr/>
          <p:nvPr/>
        </p:nvSpPr>
        <p:spPr>
          <a:xfrm>
            <a:off x="1295400" y="8542337"/>
            <a:ext cx="6261309" cy="50561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9945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ИИ-агент (голос → документы 1С)</a:t>
            </a:r>
            <a:endParaRPr lang="en-US" sz="1875" dirty="0"/>
          </a:p>
        </p:txBody>
      </p:sp>
      <p:sp>
        <p:nvSpPr>
          <p:cNvPr id="67" name="Text 65"/>
          <p:cNvSpPr/>
          <p:nvPr/>
        </p:nvSpPr>
        <p:spPr>
          <a:xfrm>
            <a:off x="7740915" y="8542337"/>
            <a:ext cx="1873911" cy="50561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Да</a:t>
            </a:r>
            <a:endParaRPr lang="en-US" sz="1875" dirty="0"/>
          </a:p>
        </p:txBody>
      </p:sp>
      <p:sp>
        <p:nvSpPr>
          <p:cNvPr id="68" name="Text 66"/>
          <p:cNvSpPr/>
          <p:nvPr/>
        </p:nvSpPr>
        <p:spPr>
          <a:xfrm>
            <a:off x="9881526" y="8542337"/>
            <a:ext cx="1873779" cy="50561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5809"/>
              </a:lnSpc>
              <a:buNone/>
            </a:pPr>
            <a:r>
              <a:rPr lang="en-US" sz="1875" dirty="0">
                <a:solidFill>
                  <a:srgbClr val="8A8C8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Нет</a:t>
            </a:r>
            <a:endParaRPr lang="en-US" sz="1875" dirty="0"/>
          </a:p>
        </p:txBody>
      </p:sp>
      <p:sp>
        <p:nvSpPr>
          <p:cNvPr id="69" name="Text 67"/>
          <p:cNvSpPr/>
          <p:nvPr/>
        </p:nvSpPr>
        <p:spPr>
          <a:xfrm>
            <a:off x="12021264" y="8542337"/>
            <a:ext cx="2324261" cy="50561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5809"/>
              </a:lnSpc>
              <a:buNone/>
            </a:pPr>
            <a:r>
              <a:rPr lang="en-US" sz="1875" dirty="0">
                <a:solidFill>
                  <a:srgbClr val="8A8C8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Нет</a:t>
            </a:r>
            <a:endParaRPr lang="en-US" sz="1875" dirty="0"/>
          </a:p>
        </p:txBody>
      </p:sp>
      <p:sp>
        <p:nvSpPr>
          <p:cNvPr id="70" name="Shape 68"/>
          <p:cNvSpPr/>
          <p:nvPr/>
        </p:nvSpPr>
        <p:spPr>
          <a:xfrm>
            <a:off x="14478133" y="8332787"/>
            <a:ext cx="2761985" cy="886619"/>
          </a:xfrm>
          <a:prstGeom prst="rect">
            <a:avLst/>
          </a:prstGeom>
          <a:solidFill>
            <a:srgbClr val="7C7E2E">
              <a:alpha val="12000"/>
            </a:srgbClr>
          </a:solidFill>
          <a:ln/>
        </p:spPr>
      </p:sp>
      <p:sp>
        <p:nvSpPr>
          <p:cNvPr id="71" name="Text 69"/>
          <p:cNvSpPr/>
          <p:nvPr/>
        </p:nvSpPr>
        <p:spPr>
          <a:xfrm>
            <a:off x="14608153" y="8542337"/>
            <a:ext cx="2501945" cy="50561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5809"/>
              </a:lnSpc>
              <a:buNone/>
            </a:pPr>
            <a:r>
              <a:rPr lang="en-US" sz="18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Да</a:t>
            </a:r>
            <a:endParaRPr lang="en-US" sz="1875" dirty="0"/>
          </a:p>
        </p:txBody>
      </p:sp>
      <p:sp>
        <p:nvSpPr>
          <p:cNvPr id="72" name="Shape 70"/>
          <p:cNvSpPr/>
          <p:nvPr/>
        </p:nvSpPr>
        <p:spPr>
          <a:xfrm>
            <a:off x="1047750" y="9467056"/>
            <a:ext cx="16192500" cy="9525"/>
          </a:xfrm>
          <a:prstGeom prst="rect">
            <a:avLst/>
          </a:prstGeom>
          <a:solidFill>
            <a:srgbClr val="C8CABF"/>
          </a:solidFill>
          <a:ln/>
        </p:spPr>
      </p:sp>
      <p:sp>
        <p:nvSpPr>
          <p:cNvPr id="73" name="Text 71"/>
          <p:cNvSpPr/>
          <p:nvPr/>
        </p:nvSpPr>
        <p:spPr>
          <a:xfrm>
            <a:off x="1047750" y="9627923"/>
            <a:ext cx="6535486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Онлайн-сервис для ведения и контроля бухгалтерии · ООО «1+1 Бухдеск»</a:t>
            </a:r>
            <a:endParaRPr lang="en-US" sz="1350" dirty="0"/>
          </a:p>
        </p:txBody>
      </p:sp>
      <p:sp>
        <p:nvSpPr>
          <p:cNvPr id="74" name="Text 72"/>
          <p:cNvSpPr/>
          <p:nvPr/>
        </p:nvSpPr>
        <p:spPr>
          <a:xfrm>
            <a:off x="16748125" y="9627923"/>
            <a:ext cx="568325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11 / 17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23900"/>
            <a:ext cx="17811750" cy="3180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4052"/>
              </a:lnSpc>
              <a:buNone/>
            </a:pPr>
            <a:r>
              <a:rPr lang="en-US" sz="1575" kern="0" spc="189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СРАВНЕНИЕ С КОНКУРЕНТАМИ</a:t>
            </a:r>
            <a:endParaRPr lang="en-US" sz="1575" dirty="0"/>
          </a:p>
        </p:txBody>
      </p:sp>
      <p:sp>
        <p:nvSpPr>
          <p:cNvPr id="3" name="Text 1"/>
          <p:cNvSpPr/>
          <p:nvPr/>
        </p:nvSpPr>
        <p:spPr>
          <a:xfrm>
            <a:off x="1047750" y="1156229"/>
            <a:ext cx="17811750" cy="6347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7000"/>
              </a:lnSpc>
              <a:buNone/>
            </a:pPr>
            <a:r>
              <a:rPr lang="en-US" sz="4350" b="1" kern="0" spc="-6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Главное отличие</a:t>
            </a:r>
            <a:endParaRPr lang="en-US" sz="4350" dirty="0"/>
          </a:p>
        </p:txBody>
      </p:sp>
      <p:sp>
        <p:nvSpPr>
          <p:cNvPr id="4" name="Text 2"/>
          <p:cNvSpPr/>
          <p:nvPr/>
        </p:nvSpPr>
        <p:spPr>
          <a:xfrm>
            <a:off x="11009997" y="2769612"/>
            <a:ext cx="6505989" cy="141089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8705"/>
              </a:lnSpc>
              <a:buNone/>
            </a:pPr>
            <a:r>
              <a:rPr lang="en-US" sz="232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«Бухдеск» — не просто софт, а отраслевая вертикаль: 15-летний бухгалтерский опыт + IT-платформа + разрабатываемый ИИ-агент.</a:t>
            </a:r>
            <a:endParaRPr lang="en-US" sz="2325" dirty="0"/>
          </a:p>
        </p:txBody>
      </p:sp>
      <p:sp>
        <p:nvSpPr>
          <p:cNvPr id="5" name="Shape 3"/>
          <p:cNvSpPr/>
          <p:nvPr/>
        </p:nvSpPr>
        <p:spPr>
          <a:xfrm>
            <a:off x="11009997" y="4638214"/>
            <a:ext cx="6009717" cy="45719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6" name="Text 4"/>
          <p:cNvSpPr/>
          <p:nvPr/>
        </p:nvSpPr>
        <p:spPr>
          <a:xfrm>
            <a:off x="11009997" y="4930314"/>
            <a:ext cx="6610689" cy="4854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4052"/>
              </a:lnSpc>
              <a:buNone/>
            </a:pPr>
            <a:r>
              <a:rPr lang="en-US" sz="1575" kern="0" spc="126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КОНКУРЕНТЫ ПРЕДЛАГАЮТ</a:t>
            </a:r>
            <a:endParaRPr lang="en-US" sz="1575" dirty="0"/>
          </a:p>
        </p:txBody>
      </p:sp>
      <p:sp>
        <p:nvSpPr>
          <p:cNvPr id="7" name="Text 5"/>
          <p:cNvSpPr/>
          <p:nvPr/>
        </p:nvSpPr>
        <p:spPr>
          <a:xfrm>
            <a:off x="11009997" y="5415797"/>
            <a:ext cx="6190008" cy="39941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8487"/>
              </a:lnSpc>
              <a:buNone/>
            </a:pPr>
            <a:r>
              <a:rPr lang="en-US" sz="210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Либо софт как отдельную функцию без бухгалтерского аутсорсинга (Entera, при этом сервис запущен только в сентябре 2026 года и работает в тестовом режиме), ARQA), либо еще не реализовали функцию постановки задач голосом (Кнопка), либо предлагают экспертизу без автоматизации (классический аутсорсинг).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1047750" y="9409906"/>
            <a:ext cx="16192500" cy="9525"/>
          </a:xfrm>
          <a:prstGeom prst="rect">
            <a:avLst/>
          </a:prstGeom>
          <a:solidFill>
            <a:srgbClr val="C8CABF"/>
          </a:solidFill>
          <a:ln/>
        </p:spPr>
      </p:sp>
      <p:sp>
        <p:nvSpPr>
          <p:cNvPr id="9" name="Text 7"/>
          <p:cNvSpPr/>
          <p:nvPr/>
        </p:nvSpPr>
        <p:spPr>
          <a:xfrm>
            <a:off x="1047750" y="9589823"/>
            <a:ext cx="6535486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Онлайн-сервис для ведения и контроля бухгалтерии · ООО «1+1 Бухдеск»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6797867" y="9589823"/>
            <a:ext cx="518583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12 / 17</a:t>
            </a:r>
            <a:endParaRPr lang="en-US" sz="1350" dirty="0"/>
          </a:p>
        </p:txBody>
      </p:sp>
      <p:pic>
        <p:nvPicPr>
          <p:cNvPr id="4099" name="Picture 3" descr="C:\Users\User\Desktop\01-vhod-v-kabinet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750" y="2310207"/>
            <a:ext cx="9521629" cy="57256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23900"/>
            <a:ext cx="17811750" cy="6347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7000"/>
              </a:lnSpc>
              <a:buNone/>
            </a:pPr>
            <a:r>
              <a:rPr lang="en-US" sz="4350" b="1" kern="0" spc="-6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Перспективы проекта</a:t>
            </a:r>
            <a:endParaRPr lang="en-US" sz="4350" dirty="0"/>
          </a:p>
        </p:txBody>
      </p:sp>
      <p:sp>
        <p:nvSpPr>
          <p:cNvPr id="3" name="Text 1"/>
          <p:cNvSpPr/>
          <p:nvPr/>
        </p:nvSpPr>
        <p:spPr>
          <a:xfrm>
            <a:off x="1047750" y="3434027"/>
            <a:ext cx="7946708" cy="40147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3846"/>
              </a:lnSpc>
              <a:buNone/>
            </a:pPr>
            <a:r>
              <a:rPr lang="en-US" sz="21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По нашему мнению, передача ввода первичной документации на ИИ — только начинается и в ближайшие годы будет развиваться с помощью множества сервисов. В настоящее время есть единицы таких решений, пока не получившие известности и массового использования из-за большого количества недоработок, отсутствия гарантий конфиденциальности для клиентов (в том числе нет гарантий отсутствия трансграничной передачи данных из-за использования иностранных моделей ИИ).</a:t>
            </a:r>
            <a:endParaRPr lang="en-US" sz="2175" dirty="0"/>
          </a:p>
        </p:txBody>
      </p:sp>
      <p:sp>
        <p:nvSpPr>
          <p:cNvPr id="4" name="Shape 2"/>
          <p:cNvSpPr/>
          <p:nvPr/>
        </p:nvSpPr>
        <p:spPr>
          <a:xfrm>
            <a:off x="9525000" y="3875881"/>
            <a:ext cx="42333" cy="3092979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5" name="Text 3"/>
          <p:cNvSpPr/>
          <p:nvPr/>
        </p:nvSpPr>
        <p:spPr>
          <a:xfrm>
            <a:off x="9929283" y="3875881"/>
            <a:ext cx="7542424" cy="313107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3846"/>
              </a:lnSpc>
              <a:buNone/>
            </a:pPr>
            <a:r>
              <a:rPr lang="en-US" sz="21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Для клиентов, работающих с бухгалтерским аутсорсингом, наше решение будет оптимальным, так как оно является комплексным, клиенты уже доверили нам свою бухгалтерию, и это значит, что они уверены в безопасности данных, кроме того, им не потребуется подключать дополнительные сервисы и вникать в их изучение.</a:t>
            </a:r>
            <a:endParaRPr lang="en-US" sz="2175" dirty="0"/>
          </a:p>
        </p:txBody>
      </p:sp>
      <p:sp>
        <p:nvSpPr>
          <p:cNvPr id="6" name="Shape 4"/>
          <p:cNvSpPr/>
          <p:nvPr/>
        </p:nvSpPr>
        <p:spPr>
          <a:xfrm>
            <a:off x="1047750" y="9409906"/>
            <a:ext cx="16192500" cy="9525"/>
          </a:xfrm>
          <a:prstGeom prst="rect">
            <a:avLst/>
          </a:prstGeom>
          <a:solidFill>
            <a:srgbClr val="C8CABF"/>
          </a:solidFill>
          <a:ln/>
        </p:spPr>
      </p:sp>
      <p:sp>
        <p:nvSpPr>
          <p:cNvPr id="7" name="Text 5"/>
          <p:cNvSpPr/>
          <p:nvPr/>
        </p:nvSpPr>
        <p:spPr>
          <a:xfrm>
            <a:off x="1047750" y="9589823"/>
            <a:ext cx="6535486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Онлайн-сервис для ведения и контроля бухгалтерии · ООО «1+1 Бухдеск»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6766117" y="9589823"/>
            <a:ext cx="550333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13 / 17</a:t>
            </a:r>
            <a:endParaRPr lang="en-US" sz="1350" dirty="0"/>
          </a:p>
        </p:txBody>
      </p:sp>
      <p:pic>
        <p:nvPicPr>
          <p:cNvPr id="7170" name="Picture 2" descr="C:\Users\User\Desktop\1+1\Сайт Бухдеск\images\tild6430-3461-4964-a463-633766343461__group_14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361920" y="731520"/>
            <a:ext cx="1836368" cy="6006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23900"/>
            <a:ext cx="17811750" cy="6347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7000"/>
              </a:lnSpc>
              <a:buNone/>
            </a:pPr>
            <a:r>
              <a:rPr lang="en-US" sz="4350" b="1" kern="0" spc="-6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Перспективы проекта</a:t>
            </a:r>
            <a:endParaRPr lang="en-US" sz="4350" dirty="0"/>
          </a:p>
        </p:txBody>
      </p:sp>
      <p:sp>
        <p:nvSpPr>
          <p:cNvPr id="3" name="Shape 1"/>
          <p:cNvSpPr/>
          <p:nvPr/>
        </p:nvSpPr>
        <p:spPr>
          <a:xfrm>
            <a:off x="1047750" y="3245908"/>
            <a:ext cx="4953000" cy="2857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1047750" y="3245908"/>
            <a:ext cx="4953000" cy="33867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679825"/>
            <a:ext cx="4735830" cy="3180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4052"/>
              </a:lnSpc>
              <a:buNone/>
            </a:pPr>
            <a:r>
              <a:rPr lang="en-US" sz="1575" kern="0" spc="158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01</a:t>
            </a:r>
            <a:endParaRPr lang="en-US" sz="1575" dirty="0"/>
          </a:p>
        </p:txBody>
      </p:sp>
      <p:sp>
        <p:nvSpPr>
          <p:cNvPr id="6" name="Text 4"/>
          <p:cNvSpPr/>
          <p:nvPr/>
        </p:nvSpPr>
        <p:spPr>
          <a:xfrm>
            <a:off x="1371600" y="4169304"/>
            <a:ext cx="4434459" cy="9218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1395"/>
              </a:lnSpc>
              <a:buNone/>
            </a:pPr>
            <a:r>
              <a:rPr lang="en-US" sz="240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Налоговая реформа создала всплеск спроса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962650" y="4354645"/>
            <a:ext cx="742950" cy="6781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lnSpc>
                <a:spcPct val="118125"/>
              </a:lnSpc>
              <a:buNone/>
            </a:pPr>
            <a:r>
              <a:rPr lang="en-US" sz="3600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→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6667500" y="3245908"/>
            <a:ext cx="4953000" cy="2857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6667500" y="3245908"/>
            <a:ext cx="4953000" cy="33867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10" name="Text 8"/>
          <p:cNvSpPr/>
          <p:nvPr/>
        </p:nvSpPr>
        <p:spPr>
          <a:xfrm>
            <a:off x="6991350" y="3679825"/>
            <a:ext cx="4735830" cy="3180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4052"/>
              </a:lnSpc>
              <a:buNone/>
            </a:pPr>
            <a:r>
              <a:rPr lang="en-US" sz="1575" kern="0" spc="158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02</a:t>
            </a:r>
            <a:endParaRPr lang="en-US" sz="1575" dirty="0"/>
          </a:p>
        </p:txBody>
      </p:sp>
      <p:sp>
        <p:nvSpPr>
          <p:cNvPr id="11" name="Text 9"/>
          <p:cNvSpPr/>
          <p:nvPr/>
        </p:nvSpPr>
        <p:spPr>
          <a:xfrm>
            <a:off x="6991350" y="4169304"/>
            <a:ext cx="4434459" cy="9218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1395"/>
              </a:lnSpc>
              <a:buNone/>
            </a:pPr>
            <a:r>
              <a:rPr lang="en-US" sz="240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дефицит кадров стимулирует рост аутсорсинга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1582400" y="4354645"/>
            <a:ext cx="742950" cy="6781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lnSpc>
                <a:spcPct val="118125"/>
              </a:lnSpc>
              <a:buNone/>
            </a:pPr>
            <a:r>
              <a:rPr lang="en-US" sz="3600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→</a:t>
            </a:r>
            <a:endParaRPr lang="en-US" sz="3600" dirty="0"/>
          </a:p>
        </p:txBody>
      </p:sp>
      <p:sp>
        <p:nvSpPr>
          <p:cNvPr id="13" name="Shape 11"/>
          <p:cNvSpPr/>
          <p:nvPr/>
        </p:nvSpPr>
        <p:spPr>
          <a:xfrm>
            <a:off x="12287250" y="3129227"/>
            <a:ext cx="4953000" cy="309086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Shape 12"/>
          <p:cNvSpPr/>
          <p:nvPr/>
        </p:nvSpPr>
        <p:spPr>
          <a:xfrm>
            <a:off x="12287250" y="3129227"/>
            <a:ext cx="4953000" cy="33867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15" name="Text 13"/>
          <p:cNvSpPr/>
          <p:nvPr/>
        </p:nvSpPr>
        <p:spPr>
          <a:xfrm>
            <a:off x="12611100" y="3563144"/>
            <a:ext cx="4735830" cy="3180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4052"/>
              </a:lnSpc>
              <a:buNone/>
            </a:pPr>
            <a:r>
              <a:rPr lang="en-US" sz="1575" kern="0" spc="158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03</a:t>
            </a:r>
            <a:endParaRPr lang="en-US" sz="1575" dirty="0"/>
          </a:p>
        </p:txBody>
      </p:sp>
      <p:sp>
        <p:nvSpPr>
          <p:cNvPr id="16" name="Text 14"/>
          <p:cNvSpPr/>
          <p:nvPr/>
        </p:nvSpPr>
        <p:spPr>
          <a:xfrm>
            <a:off x="12611100" y="4052623"/>
            <a:ext cx="4434459" cy="18055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1395"/>
              </a:lnSpc>
              <a:buNone/>
            </a:pPr>
            <a:r>
              <a:rPr lang="en-US" sz="240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ИИ-автоматизация — единственный способ масштабироваться без увеличения штата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047750" y="6734440"/>
            <a:ext cx="17811750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2074"/>
              </a:lnSpc>
              <a:buNone/>
            </a:pPr>
            <a:r>
              <a:rPr lang="en-US" sz="2550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«Бухдеск» находится в точке пересечения всех трёх трендов.</a:t>
            </a:r>
            <a:endParaRPr lang="en-US" sz="2550" dirty="0"/>
          </a:p>
        </p:txBody>
      </p:sp>
      <p:sp>
        <p:nvSpPr>
          <p:cNvPr id="18" name="Shape 16"/>
          <p:cNvSpPr/>
          <p:nvPr/>
        </p:nvSpPr>
        <p:spPr>
          <a:xfrm>
            <a:off x="1047750" y="9409906"/>
            <a:ext cx="16192500" cy="9525"/>
          </a:xfrm>
          <a:prstGeom prst="rect">
            <a:avLst/>
          </a:prstGeom>
          <a:solidFill>
            <a:srgbClr val="C8CABF"/>
          </a:solidFill>
          <a:ln/>
        </p:spPr>
      </p:sp>
      <p:sp>
        <p:nvSpPr>
          <p:cNvPr id="19" name="Text 17"/>
          <p:cNvSpPr/>
          <p:nvPr/>
        </p:nvSpPr>
        <p:spPr>
          <a:xfrm>
            <a:off x="1047750" y="9589823"/>
            <a:ext cx="6535486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Онлайн-сервис для ведения и контроля бухгалтерии · ООО «1+1 Бухдеск»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6765323" y="9589823"/>
            <a:ext cx="551127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14 / 17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628650"/>
            <a:ext cx="17811750" cy="6347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7000"/>
              </a:lnSpc>
              <a:buNone/>
            </a:pPr>
            <a:r>
              <a:rPr lang="en-US" sz="4350" b="1" kern="0" spc="-6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Бюджет</a:t>
            </a:r>
            <a:endParaRPr lang="en-US" sz="4350" dirty="0"/>
          </a:p>
        </p:txBody>
      </p:sp>
      <p:sp>
        <p:nvSpPr>
          <p:cNvPr id="3" name="Shape 1"/>
          <p:cNvSpPr/>
          <p:nvPr/>
        </p:nvSpPr>
        <p:spPr>
          <a:xfrm>
            <a:off x="1047750" y="1549135"/>
            <a:ext cx="16192500" cy="675216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1047750" y="2271051"/>
            <a:ext cx="857250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1720585"/>
            <a:ext cx="552450" cy="4171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096"/>
              </a:lnSpc>
              <a:buNone/>
            </a:pPr>
            <a:r>
              <a:rPr lang="en-US" sz="1425" kern="0" spc="86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№</a:t>
            </a:r>
            <a:endParaRPr lang="en-US" sz="1425" dirty="0"/>
          </a:p>
        </p:txBody>
      </p:sp>
      <p:sp>
        <p:nvSpPr>
          <p:cNvPr id="6" name="Shape 4"/>
          <p:cNvSpPr/>
          <p:nvPr/>
        </p:nvSpPr>
        <p:spPr>
          <a:xfrm>
            <a:off x="1905000" y="2271051"/>
            <a:ext cx="5953125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7" name="Text 5"/>
          <p:cNvSpPr/>
          <p:nvPr/>
        </p:nvSpPr>
        <p:spPr>
          <a:xfrm>
            <a:off x="2095500" y="1720585"/>
            <a:ext cx="5750719" cy="4171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096"/>
              </a:lnSpc>
              <a:buNone/>
            </a:pPr>
            <a:r>
              <a:rPr lang="en-US" sz="1425" kern="0" spc="86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СТАТЬЯ РАСХОДОВ</a:t>
            </a:r>
            <a:endParaRPr lang="en-US" sz="1425" dirty="0"/>
          </a:p>
        </p:txBody>
      </p:sp>
      <p:sp>
        <p:nvSpPr>
          <p:cNvPr id="8" name="Shape 6"/>
          <p:cNvSpPr/>
          <p:nvPr/>
        </p:nvSpPr>
        <p:spPr>
          <a:xfrm>
            <a:off x="7858125" y="2271051"/>
            <a:ext cx="2190750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9" name="Text 7"/>
          <p:cNvSpPr/>
          <p:nvPr/>
        </p:nvSpPr>
        <p:spPr>
          <a:xfrm>
            <a:off x="7972425" y="1720585"/>
            <a:ext cx="1885950" cy="4171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5096"/>
              </a:lnSpc>
              <a:buNone/>
            </a:pPr>
            <a:r>
              <a:rPr lang="en-US" sz="1425" kern="0" spc="86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СУММА, ₽</a:t>
            </a:r>
            <a:endParaRPr lang="en-US" sz="1425" dirty="0"/>
          </a:p>
        </p:txBody>
      </p:sp>
      <p:sp>
        <p:nvSpPr>
          <p:cNvPr id="10" name="Shape 8"/>
          <p:cNvSpPr/>
          <p:nvPr/>
        </p:nvSpPr>
        <p:spPr>
          <a:xfrm>
            <a:off x="10048875" y="2271051"/>
            <a:ext cx="1238250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11" name="Text 9"/>
          <p:cNvSpPr/>
          <p:nvPr/>
        </p:nvSpPr>
        <p:spPr>
          <a:xfrm>
            <a:off x="10163175" y="1720585"/>
            <a:ext cx="933450" cy="4171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5096"/>
              </a:lnSpc>
              <a:buNone/>
            </a:pPr>
            <a:r>
              <a:rPr lang="en-US" sz="1425" kern="0" spc="86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ДОЛЯ</a:t>
            </a:r>
            <a:endParaRPr lang="en-US" sz="1425" dirty="0"/>
          </a:p>
        </p:txBody>
      </p:sp>
      <p:sp>
        <p:nvSpPr>
          <p:cNvPr id="12" name="Shape 10"/>
          <p:cNvSpPr/>
          <p:nvPr/>
        </p:nvSpPr>
        <p:spPr>
          <a:xfrm>
            <a:off x="11287125" y="2271051"/>
            <a:ext cx="5953125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13" name="Text 11"/>
          <p:cNvSpPr/>
          <p:nvPr/>
        </p:nvSpPr>
        <p:spPr>
          <a:xfrm>
            <a:off x="11477625" y="1720585"/>
            <a:ext cx="5750719" cy="4171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096"/>
              </a:lnSpc>
              <a:buNone/>
            </a:pPr>
            <a:r>
              <a:rPr lang="en-US" sz="1425" kern="0" spc="86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ЗАНЯТОСТЬ</a:t>
            </a:r>
            <a:endParaRPr lang="en-US" sz="1425" dirty="0"/>
          </a:p>
        </p:txBody>
      </p:sp>
      <p:sp>
        <p:nvSpPr>
          <p:cNvPr id="14" name="Shape 12"/>
          <p:cNvSpPr/>
          <p:nvPr/>
        </p:nvSpPr>
        <p:spPr>
          <a:xfrm>
            <a:off x="1047750" y="3128036"/>
            <a:ext cx="8572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15" name="Text 13"/>
          <p:cNvSpPr/>
          <p:nvPr/>
        </p:nvSpPr>
        <p:spPr>
          <a:xfrm>
            <a:off x="1238250" y="2478484"/>
            <a:ext cx="552450" cy="4971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809"/>
              </a:lnSpc>
              <a:buNone/>
            </a:pPr>
            <a:r>
              <a:rPr lang="en-US" sz="1875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1.1</a:t>
            </a:r>
            <a:endParaRPr lang="en-US" sz="1875" dirty="0"/>
          </a:p>
        </p:txBody>
      </p:sp>
      <p:sp>
        <p:nvSpPr>
          <p:cNvPr id="16" name="Shape 14"/>
          <p:cNvSpPr/>
          <p:nvPr/>
        </p:nvSpPr>
        <p:spPr>
          <a:xfrm>
            <a:off x="1905000" y="3128036"/>
            <a:ext cx="5953125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17" name="Text 15"/>
          <p:cNvSpPr/>
          <p:nvPr/>
        </p:nvSpPr>
        <p:spPr>
          <a:xfrm>
            <a:off x="2095500" y="2478484"/>
            <a:ext cx="5750719" cy="4971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Python/AI-разработчик (Middle)</a:t>
            </a:r>
            <a:endParaRPr lang="en-US" sz="1875" dirty="0"/>
          </a:p>
        </p:txBody>
      </p:sp>
      <p:sp>
        <p:nvSpPr>
          <p:cNvPr id="18" name="Shape 16"/>
          <p:cNvSpPr/>
          <p:nvPr/>
        </p:nvSpPr>
        <p:spPr>
          <a:xfrm>
            <a:off x="7858125" y="3128036"/>
            <a:ext cx="21907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19" name="Text 17"/>
          <p:cNvSpPr/>
          <p:nvPr/>
        </p:nvSpPr>
        <p:spPr>
          <a:xfrm>
            <a:off x="7972425" y="2478484"/>
            <a:ext cx="1885950" cy="4971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2500"/>
              </a:lnSpc>
              <a:buNone/>
            </a:pPr>
            <a:r>
              <a:rPr lang="en-US" sz="18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575 000</a:t>
            </a:r>
            <a:endParaRPr lang="en-US" sz="1875" dirty="0"/>
          </a:p>
        </p:txBody>
      </p:sp>
      <p:sp>
        <p:nvSpPr>
          <p:cNvPr id="20" name="Shape 18"/>
          <p:cNvSpPr/>
          <p:nvPr/>
        </p:nvSpPr>
        <p:spPr>
          <a:xfrm>
            <a:off x="10048875" y="3128036"/>
            <a:ext cx="12382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21" name="Text 19"/>
          <p:cNvSpPr/>
          <p:nvPr/>
        </p:nvSpPr>
        <p:spPr>
          <a:xfrm>
            <a:off x="10163175" y="2478484"/>
            <a:ext cx="933450" cy="4971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13,8%</a:t>
            </a:r>
            <a:endParaRPr lang="en-US" sz="1875" dirty="0"/>
          </a:p>
        </p:txBody>
      </p:sp>
      <p:sp>
        <p:nvSpPr>
          <p:cNvPr id="22" name="Shape 20"/>
          <p:cNvSpPr/>
          <p:nvPr/>
        </p:nvSpPr>
        <p:spPr>
          <a:xfrm>
            <a:off x="11287125" y="3128036"/>
            <a:ext cx="5953125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23" name="Text 21"/>
          <p:cNvSpPr/>
          <p:nvPr/>
        </p:nvSpPr>
        <p:spPr>
          <a:xfrm>
            <a:off x="11477625" y="2478484"/>
            <a:ext cx="5750719" cy="4971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855"/>
              </a:lnSpc>
              <a:buNone/>
            </a:pPr>
            <a:r>
              <a:rPr lang="en-US" sz="1725" dirty="0">
                <a:solidFill>
                  <a:srgbClr val="3C3C38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250 000 ₽, 4 мес, 50%</a:t>
            </a:r>
            <a:endParaRPr lang="en-US" sz="1725" dirty="0"/>
          </a:p>
        </p:txBody>
      </p:sp>
      <p:sp>
        <p:nvSpPr>
          <p:cNvPr id="24" name="Shape 22"/>
          <p:cNvSpPr/>
          <p:nvPr/>
        </p:nvSpPr>
        <p:spPr>
          <a:xfrm>
            <a:off x="1047750" y="3976555"/>
            <a:ext cx="8572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25" name="Text 23"/>
          <p:cNvSpPr/>
          <p:nvPr/>
        </p:nvSpPr>
        <p:spPr>
          <a:xfrm>
            <a:off x="1238250" y="3327003"/>
            <a:ext cx="552450" cy="4971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809"/>
              </a:lnSpc>
              <a:buNone/>
            </a:pPr>
            <a:r>
              <a:rPr lang="en-US" sz="1875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1.2</a:t>
            </a:r>
            <a:endParaRPr lang="en-US" sz="1875" dirty="0"/>
          </a:p>
        </p:txBody>
      </p:sp>
      <p:sp>
        <p:nvSpPr>
          <p:cNvPr id="26" name="Shape 24"/>
          <p:cNvSpPr/>
          <p:nvPr/>
        </p:nvSpPr>
        <p:spPr>
          <a:xfrm>
            <a:off x="1905000" y="3976555"/>
            <a:ext cx="5953125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27" name="Text 25"/>
          <p:cNvSpPr/>
          <p:nvPr/>
        </p:nvSpPr>
        <p:spPr>
          <a:xfrm>
            <a:off x="2095500" y="3327003"/>
            <a:ext cx="5750719" cy="4971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Бэкенд-разработчик / архитектор</a:t>
            </a:r>
            <a:endParaRPr lang="en-US" sz="1875" dirty="0"/>
          </a:p>
        </p:txBody>
      </p:sp>
      <p:sp>
        <p:nvSpPr>
          <p:cNvPr id="28" name="Shape 26"/>
          <p:cNvSpPr/>
          <p:nvPr/>
        </p:nvSpPr>
        <p:spPr>
          <a:xfrm>
            <a:off x="7858125" y="3976555"/>
            <a:ext cx="21907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29" name="Text 27"/>
          <p:cNvSpPr/>
          <p:nvPr/>
        </p:nvSpPr>
        <p:spPr>
          <a:xfrm>
            <a:off x="7972425" y="3327003"/>
            <a:ext cx="1885950" cy="4971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2500"/>
              </a:lnSpc>
              <a:buNone/>
            </a:pPr>
            <a:r>
              <a:rPr lang="en-US" sz="18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1 265 000</a:t>
            </a:r>
            <a:endParaRPr lang="en-US" sz="1875" dirty="0"/>
          </a:p>
        </p:txBody>
      </p:sp>
      <p:sp>
        <p:nvSpPr>
          <p:cNvPr id="30" name="Shape 28"/>
          <p:cNvSpPr/>
          <p:nvPr/>
        </p:nvSpPr>
        <p:spPr>
          <a:xfrm>
            <a:off x="10048875" y="3976555"/>
            <a:ext cx="12382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31" name="Text 29"/>
          <p:cNvSpPr/>
          <p:nvPr/>
        </p:nvSpPr>
        <p:spPr>
          <a:xfrm>
            <a:off x="10163175" y="3327003"/>
            <a:ext cx="933450" cy="4971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30,5%</a:t>
            </a:r>
            <a:endParaRPr lang="en-US" sz="1875" dirty="0"/>
          </a:p>
        </p:txBody>
      </p:sp>
      <p:sp>
        <p:nvSpPr>
          <p:cNvPr id="32" name="Shape 30"/>
          <p:cNvSpPr/>
          <p:nvPr/>
        </p:nvSpPr>
        <p:spPr>
          <a:xfrm>
            <a:off x="11287125" y="3976555"/>
            <a:ext cx="5953125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33" name="Text 31"/>
          <p:cNvSpPr/>
          <p:nvPr/>
        </p:nvSpPr>
        <p:spPr>
          <a:xfrm>
            <a:off x="11477625" y="3327003"/>
            <a:ext cx="5750719" cy="4971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855"/>
              </a:lnSpc>
              <a:buNone/>
            </a:pPr>
            <a:r>
              <a:rPr lang="en-US" sz="1725" dirty="0">
                <a:solidFill>
                  <a:srgbClr val="3C3C38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220 000 ₽, 5 мес, 100%</a:t>
            </a:r>
            <a:endParaRPr lang="en-US" sz="1725" dirty="0"/>
          </a:p>
        </p:txBody>
      </p:sp>
      <p:sp>
        <p:nvSpPr>
          <p:cNvPr id="34" name="Shape 32"/>
          <p:cNvSpPr/>
          <p:nvPr/>
        </p:nvSpPr>
        <p:spPr>
          <a:xfrm>
            <a:off x="1047750" y="4825074"/>
            <a:ext cx="8572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35" name="Text 33"/>
          <p:cNvSpPr/>
          <p:nvPr/>
        </p:nvSpPr>
        <p:spPr>
          <a:xfrm>
            <a:off x="1238250" y="4175522"/>
            <a:ext cx="552450" cy="4971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809"/>
              </a:lnSpc>
              <a:buNone/>
            </a:pPr>
            <a:r>
              <a:rPr lang="en-US" sz="1875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1.3</a:t>
            </a:r>
            <a:endParaRPr lang="en-US" sz="1875" dirty="0"/>
          </a:p>
        </p:txBody>
      </p:sp>
      <p:sp>
        <p:nvSpPr>
          <p:cNvPr id="36" name="Shape 34"/>
          <p:cNvSpPr/>
          <p:nvPr/>
        </p:nvSpPr>
        <p:spPr>
          <a:xfrm>
            <a:off x="1905000" y="4825074"/>
            <a:ext cx="5953125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37" name="Text 35"/>
          <p:cNvSpPr/>
          <p:nvPr/>
        </p:nvSpPr>
        <p:spPr>
          <a:xfrm>
            <a:off x="2095500" y="4175522"/>
            <a:ext cx="5750719" cy="4971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Фронтенд-разработчик (React/Vue)</a:t>
            </a:r>
            <a:endParaRPr lang="en-US" sz="1875" dirty="0"/>
          </a:p>
        </p:txBody>
      </p:sp>
      <p:sp>
        <p:nvSpPr>
          <p:cNvPr id="38" name="Shape 36"/>
          <p:cNvSpPr/>
          <p:nvPr/>
        </p:nvSpPr>
        <p:spPr>
          <a:xfrm>
            <a:off x="7858125" y="4825074"/>
            <a:ext cx="21907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39" name="Text 37"/>
          <p:cNvSpPr/>
          <p:nvPr/>
        </p:nvSpPr>
        <p:spPr>
          <a:xfrm>
            <a:off x="7972425" y="4175522"/>
            <a:ext cx="1885950" cy="4971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2500"/>
              </a:lnSpc>
              <a:buNone/>
            </a:pPr>
            <a:r>
              <a:rPr lang="en-US" sz="18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828 000</a:t>
            </a:r>
            <a:endParaRPr lang="en-US" sz="1875" dirty="0"/>
          </a:p>
        </p:txBody>
      </p:sp>
      <p:sp>
        <p:nvSpPr>
          <p:cNvPr id="40" name="Shape 38"/>
          <p:cNvSpPr/>
          <p:nvPr/>
        </p:nvSpPr>
        <p:spPr>
          <a:xfrm>
            <a:off x="10048875" y="4825074"/>
            <a:ext cx="12382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41" name="Text 39"/>
          <p:cNvSpPr/>
          <p:nvPr/>
        </p:nvSpPr>
        <p:spPr>
          <a:xfrm>
            <a:off x="10163175" y="4175522"/>
            <a:ext cx="933450" cy="4971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19,9%</a:t>
            </a:r>
            <a:endParaRPr lang="en-US" sz="1875" dirty="0"/>
          </a:p>
        </p:txBody>
      </p:sp>
      <p:sp>
        <p:nvSpPr>
          <p:cNvPr id="42" name="Shape 40"/>
          <p:cNvSpPr/>
          <p:nvPr/>
        </p:nvSpPr>
        <p:spPr>
          <a:xfrm>
            <a:off x="11287125" y="4825074"/>
            <a:ext cx="5953125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43" name="Text 41"/>
          <p:cNvSpPr/>
          <p:nvPr/>
        </p:nvSpPr>
        <p:spPr>
          <a:xfrm>
            <a:off x="11477625" y="4175522"/>
            <a:ext cx="5750719" cy="4971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855"/>
              </a:lnSpc>
              <a:buNone/>
            </a:pPr>
            <a:r>
              <a:rPr lang="en-US" sz="1725" dirty="0">
                <a:solidFill>
                  <a:srgbClr val="3C3C38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180 000 ₽, 4 мес, 100%</a:t>
            </a:r>
            <a:endParaRPr lang="en-US" sz="1725" dirty="0"/>
          </a:p>
        </p:txBody>
      </p:sp>
      <p:sp>
        <p:nvSpPr>
          <p:cNvPr id="44" name="Shape 42"/>
          <p:cNvSpPr/>
          <p:nvPr/>
        </p:nvSpPr>
        <p:spPr>
          <a:xfrm>
            <a:off x="1047750" y="5673725"/>
            <a:ext cx="8572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45" name="Text 43"/>
          <p:cNvSpPr/>
          <p:nvPr/>
        </p:nvSpPr>
        <p:spPr>
          <a:xfrm>
            <a:off x="1238250" y="5024041"/>
            <a:ext cx="552450" cy="4972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809"/>
              </a:lnSpc>
              <a:buNone/>
            </a:pPr>
            <a:r>
              <a:rPr lang="en-US" sz="1875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1.4</a:t>
            </a:r>
            <a:endParaRPr lang="en-US" sz="1875" dirty="0"/>
          </a:p>
        </p:txBody>
      </p:sp>
      <p:sp>
        <p:nvSpPr>
          <p:cNvPr id="46" name="Shape 44"/>
          <p:cNvSpPr/>
          <p:nvPr/>
        </p:nvSpPr>
        <p:spPr>
          <a:xfrm>
            <a:off x="1905000" y="5673725"/>
            <a:ext cx="5953125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47" name="Text 45"/>
          <p:cNvSpPr/>
          <p:nvPr/>
        </p:nvSpPr>
        <p:spPr>
          <a:xfrm>
            <a:off x="2095500" y="5024041"/>
            <a:ext cx="5750719" cy="4972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Тестировщик</a:t>
            </a:r>
            <a:endParaRPr lang="en-US" sz="1875" dirty="0"/>
          </a:p>
        </p:txBody>
      </p:sp>
      <p:sp>
        <p:nvSpPr>
          <p:cNvPr id="48" name="Shape 46"/>
          <p:cNvSpPr/>
          <p:nvPr/>
        </p:nvSpPr>
        <p:spPr>
          <a:xfrm>
            <a:off x="7858125" y="5673725"/>
            <a:ext cx="21907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49" name="Text 47"/>
          <p:cNvSpPr/>
          <p:nvPr/>
        </p:nvSpPr>
        <p:spPr>
          <a:xfrm>
            <a:off x="7972425" y="5024041"/>
            <a:ext cx="1885950" cy="4972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2500"/>
              </a:lnSpc>
              <a:buNone/>
            </a:pPr>
            <a:r>
              <a:rPr lang="en-US" sz="18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460 000</a:t>
            </a:r>
            <a:endParaRPr lang="en-US" sz="1875" dirty="0"/>
          </a:p>
        </p:txBody>
      </p:sp>
      <p:sp>
        <p:nvSpPr>
          <p:cNvPr id="50" name="Shape 48"/>
          <p:cNvSpPr/>
          <p:nvPr/>
        </p:nvSpPr>
        <p:spPr>
          <a:xfrm>
            <a:off x="10048875" y="5673725"/>
            <a:ext cx="12382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51" name="Text 49"/>
          <p:cNvSpPr/>
          <p:nvPr/>
        </p:nvSpPr>
        <p:spPr>
          <a:xfrm>
            <a:off x="10163175" y="5024041"/>
            <a:ext cx="933450" cy="4972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11,1%</a:t>
            </a:r>
            <a:endParaRPr lang="en-US" sz="1875" dirty="0"/>
          </a:p>
        </p:txBody>
      </p:sp>
      <p:sp>
        <p:nvSpPr>
          <p:cNvPr id="52" name="Shape 50"/>
          <p:cNvSpPr/>
          <p:nvPr/>
        </p:nvSpPr>
        <p:spPr>
          <a:xfrm>
            <a:off x="11287125" y="5673725"/>
            <a:ext cx="5953125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53" name="Text 51"/>
          <p:cNvSpPr/>
          <p:nvPr/>
        </p:nvSpPr>
        <p:spPr>
          <a:xfrm>
            <a:off x="11477625" y="5024041"/>
            <a:ext cx="5750719" cy="4972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855"/>
              </a:lnSpc>
              <a:buNone/>
            </a:pPr>
            <a:r>
              <a:rPr lang="en-US" sz="1725" dirty="0">
                <a:solidFill>
                  <a:srgbClr val="3C3C38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80 000 ₽, 5 мес, 100%</a:t>
            </a:r>
            <a:endParaRPr lang="en-US" sz="1725" dirty="0"/>
          </a:p>
        </p:txBody>
      </p:sp>
      <p:sp>
        <p:nvSpPr>
          <p:cNvPr id="54" name="Shape 52"/>
          <p:cNvSpPr/>
          <p:nvPr/>
        </p:nvSpPr>
        <p:spPr>
          <a:xfrm>
            <a:off x="1047750" y="6522376"/>
            <a:ext cx="8572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55" name="Text 53"/>
          <p:cNvSpPr/>
          <p:nvPr/>
        </p:nvSpPr>
        <p:spPr>
          <a:xfrm>
            <a:off x="1238250" y="5872692"/>
            <a:ext cx="552450" cy="4972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809"/>
              </a:lnSpc>
              <a:buNone/>
            </a:pPr>
            <a:r>
              <a:rPr lang="en-US" sz="1875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1.5</a:t>
            </a:r>
            <a:endParaRPr lang="en-US" sz="1875" dirty="0"/>
          </a:p>
        </p:txBody>
      </p:sp>
      <p:sp>
        <p:nvSpPr>
          <p:cNvPr id="56" name="Shape 54"/>
          <p:cNvSpPr/>
          <p:nvPr/>
        </p:nvSpPr>
        <p:spPr>
          <a:xfrm>
            <a:off x="1905000" y="6522376"/>
            <a:ext cx="5953125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57" name="Text 55"/>
          <p:cNvSpPr/>
          <p:nvPr/>
        </p:nvSpPr>
        <p:spPr>
          <a:xfrm>
            <a:off x="2095500" y="5872692"/>
            <a:ext cx="5750719" cy="4972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Системный аналитик</a:t>
            </a:r>
            <a:endParaRPr lang="en-US" sz="1875" dirty="0"/>
          </a:p>
        </p:txBody>
      </p:sp>
      <p:sp>
        <p:nvSpPr>
          <p:cNvPr id="58" name="Shape 56"/>
          <p:cNvSpPr/>
          <p:nvPr/>
        </p:nvSpPr>
        <p:spPr>
          <a:xfrm>
            <a:off x="7858125" y="6522376"/>
            <a:ext cx="21907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59" name="Text 57"/>
          <p:cNvSpPr/>
          <p:nvPr/>
        </p:nvSpPr>
        <p:spPr>
          <a:xfrm>
            <a:off x="7972425" y="5872692"/>
            <a:ext cx="1885950" cy="4972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2500"/>
              </a:lnSpc>
              <a:buNone/>
            </a:pPr>
            <a:r>
              <a:rPr lang="en-US" sz="18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431 250</a:t>
            </a:r>
            <a:endParaRPr lang="en-US" sz="1875" dirty="0"/>
          </a:p>
        </p:txBody>
      </p:sp>
      <p:sp>
        <p:nvSpPr>
          <p:cNvPr id="60" name="Shape 58"/>
          <p:cNvSpPr/>
          <p:nvPr/>
        </p:nvSpPr>
        <p:spPr>
          <a:xfrm>
            <a:off x="10048875" y="6522376"/>
            <a:ext cx="12382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61" name="Text 59"/>
          <p:cNvSpPr/>
          <p:nvPr/>
        </p:nvSpPr>
        <p:spPr>
          <a:xfrm>
            <a:off x="10163175" y="5872692"/>
            <a:ext cx="933450" cy="4972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10,4%</a:t>
            </a:r>
            <a:endParaRPr lang="en-US" sz="1875" dirty="0"/>
          </a:p>
        </p:txBody>
      </p:sp>
      <p:sp>
        <p:nvSpPr>
          <p:cNvPr id="62" name="Shape 60"/>
          <p:cNvSpPr/>
          <p:nvPr/>
        </p:nvSpPr>
        <p:spPr>
          <a:xfrm>
            <a:off x="11287125" y="6522376"/>
            <a:ext cx="5953125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63" name="Text 61"/>
          <p:cNvSpPr/>
          <p:nvPr/>
        </p:nvSpPr>
        <p:spPr>
          <a:xfrm>
            <a:off x="11477625" y="5872692"/>
            <a:ext cx="5750719" cy="4972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855"/>
              </a:lnSpc>
              <a:buNone/>
            </a:pPr>
            <a:r>
              <a:rPr lang="en-US" sz="1725" dirty="0">
                <a:solidFill>
                  <a:srgbClr val="3C3C38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150 000 ₽, 5 мес, 50%</a:t>
            </a:r>
            <a:endParaRPr lang="en-US" sz="1725" dirty="0"/>
          </a:p>
        </p:txBody>
      </p:sp>
      <p:sp>
        <p:nvSpPr>
          <p:cNvPr id="64" name="Shape 62"/>
          <p:cNvSpPr/>
          <p:nvPr/>
        </p:nvSpPr>
        <p:spPr>
          <a:xfrm>
            <a:off x="1047750" y="7371027"/>
            <a:ext cx="8572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65" name="Text 63"/>
          <p:cNvSpPr/>
          <p:nvPr/>
        </p:nvSpPr>
        <p:spPr>
          <a:xfrm>
            <a:off x="1238250" y="6721343"/>
            <a:ext cx="552450" cy="4972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809"/>
              </a:lnSpc>
              <a:buNone/>
            </a:pPr>
            <a:r>
              <a:rPr lang="en-US" sz="1875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1.6</a:t>
            </a:r>
            <a:endParaRPr lang="en-US" sz="1875" dirty="0"/>
          </a:p>
        </p:txBody>
      </p:sp>
      <p:sp>
        <p:nvSpPr>
          <p:cNvPr id="66" name="Shape 64"/>
          <p:cNvSpPr/>
          <p:nvPr/>
        </p:nvSpPr>
        <p:spPr>
          <a:xfrm>
            <a:off x="1905000" y="7371027"/>
            <a:ext cx="5953125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67" name="Text 65"/>
          <p:cNvSpPr/>
          <p:nvPr/>
        </p:nvSpPr>
        <p:spPr>
          <a:xfrm>
            <a:off x="2095500" y="6721343"/>
            <a:ext cx="5750719" cy="4972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Руководитель проекта</a:t>
            </a:r>
            <a:endParaRPr lang="en-US" sz="1875" dirty="0"/>
          </a:p>
        </p:txBody>
      </p:sp>
      <p:sp>
        <p:nvSpPr>
          <p:cNvPr id="68" name="Shape 66"/>
          <p:cNvSpPr/>
          <p:nvPr/>
        </p:nvSpPr>
        <p:spPr>
          <a:xfrm>
            <a:off x="7858125" y="7371027"/>
            <a:ext cx="21907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69" name="Text 67"/>
          <p:cNvSpPr/>
          <p:nvPr/>
        </p:nvSpPr>
        <p:spPr>
          <a:xfrm>
            <a:off x="7972425" y="6721343"/>
            <a:ext cx="1885950" cy="4972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2500"/>
              </a:lnSpc>
              <a:buNone/>
            </a:pPr>
            <a:r>
              <a:rPr lang="en-US" sz="18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258 750</a:t>
            </a:r>
            <a:endParaRPr lang="en-US" sz="1875" dirty="0"/>
          </a:p>
        </p:txBody>
      </p:sp>
      <p:sp>
        <p:nvSpPr>
          <p:cNvPr id="70" name="Shape 68"/>
          <p:cNvSpPr/>
          <p:nvPr/>
        </p:nvSpPr>
        <p:spPr>
          <a:xfrm>
            <a:off x="10048875" y="7371027"/>
            <a:ext cx="12382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71" name="Text 69"/>
          <p:cNvSpPr/>
          <p:nvPr/>
        </p:nvSpPr>
        <p:spPr>
          <a:xfrm>
            <a:off x="10163175" y="6721343"/>
            <a:ext cx="933450" cy="4972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6,2%</a:t>
            </a:r>
            <a:endParaRPr lang="en-US" sz="1875" dirty="0"/>
          </a:p>
        </p:txBody>
      </p:sp>
      <p:sp>
        <p:nvSpPr>
          <p:cNvPr id="72" name="Shape 70"/>
          <p:cNvSpPr/>
          <p:nvPr/>
        </p:nvSpPr>
        <p:spPr>
          <a:xfrm>
            <a:off x="11287125" y="7371027"/>
            <a:ext cx="5953125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73" name="Text 71"/>
          <p:cNvSpPr/>
          <p:nvPr/>
        </p:nvSpPr>
        <p:spPr>
          <a:xfrm>
            <a:off x="11477625" y="6721343"/>
            <a:ext cx="5750719" cy="4972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855"/>
              </a:lnSpc>
              <a:buNone/>
            </a:pPr>
            <a:r>
              <a:rPr lang="en-US" sz="1725" dirty="0">
                <a:solidFill>
                  <a:srgbClr val="3C3C38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150 000 ₽, 5 мес, 30%</a:t>
            </a:r>
            <a:endParaRPr lang="en-US" sz="1725" dirty="0"/>
          </a:p>
        </p:txBody>
      </p:sp>
      <p:sp>
        <p:nvSpPr>
          <p:cNvPr id="74" name="Shape 72"/>
          <p:cNvSpPr/>
          <p:nvPr/>
        </p:nvSpPr>
        <p:spPr>
          <a:xfrm>
            <a:off x="1047750" y="7379494"/>
            <a:ext cx="857250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75" name="Shape 73"/>
          <p:cNvSpPr/>
          <p:nvPr/>
        </p:nvSpPr>
        <p:spPr>
          <a:xfrm>
            <a:off x="1905000" y="7379494"/>
            <a:ext cx="5953125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76" name="Text 74"/>
          <p:cNvSpPr/>
          <p:nvPr/>
        </p:nvSpPr>
        <p:spPr>
          <a:xfrm>
            <a:off x="2095500" y="7605977"/>
            <a:ext cx="5750719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1908"/>
              </a:lnSpc>
              <a:buNone/>
            </a:pPr>
            <a:r>
              <a:rPr lang="en-US" sz="202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Итого по ФОТ</a:t>
            </a:r>
            <a:endParaRPr lang="en-US" sz="2025" dirty="0"/>
          </a:p>
        </p:txBody>
      </p:sp>
      <p:sp>
        <p:nvSpPr>
          <p:cNvPr id="77" name="Shape 75"/>
          <p:cNvSpPr/>
          <p:nvPr/>
        </p:nvSpPr>
        <p:spPr>
          <a:xfrm>
            <a:off x="7858125" y="7379494"/>
            <a:ext cx="2190750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78" name="Text 76"/>
          <p:cNvSpPr/>
          <p:nvPr/>
        </p:nvSpPr>
        <p:spPr>
          <a:xfrm>
            <a:off x="7972425" y="7605977"/>
            <a:ext cx="1885950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1908"/>
              </a:lnSpc>
              <a:buNone/>
            </a:pPr>
            <a:r>
              <a:rPr lang="en-US" sz="202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3 818 000</a:t>
            </a:r>
            <a:endParaRPr lang="en-US" sz="2025" dirty="0"/>
          </a:p>
        </p:txBody>
      </p:sp>
      <p:sp>
        <p:nvSpPr>
          <p:cNvPr id="79" name="Shape 77"/>
          <p:cNvSpPr/>
          <p:nvPr/>
        </p:nvSpPr>
        <p:spPr>
          <a:xfrm>
            <a:off x="10048875" y="7379494"/>
            <a:ext cx="1238250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80" name="Text 78"/>
          <p:cNvSpPr/>
          <p:nvPr/>
        </p:nvSpPr>
        <p:spPr>
          <a:xfrm>
            <a:off x="10163175" y="7605977"/>
            <a:ext cx="933450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1908"/>
              </a:lnSpc>
              <a:buNone/>
            </a:pPr>
            <a:r>
              <a:rPr lang="en-US" sz="202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91,9%</a:t>
            </a:r>
            <a:endParaRPr lang="en-US" sz="2025" dirty="0"/>
          </a:p>
        </p:txBody>
      </p:sp>
      <p:sp>
        <p:nvSpPr>
          <p:cNvPr id="81" name="Shape 79"/>
          <p:cNvSpPr/>
          <p:nvPr/>
        </p:nvSpPr>
        <p:spPr>
          <a:xfrm>
            <a:off x="11287125" y="7379494"/>
            <a:ext cx="5953125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82" name="Text 80"/>
          <p:cNvSpPr/>
          <p:nvPr/>
        </p:nvSpPr>
        <p:spPr>
          <a:xfrm>
            <a:off x="11477625" y="7605977"/>
            <a:ext cx="5750719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855"/>
              </a:lnSpc>
              <a:buNone/>
            </a:pPr>
            <a:r>
              <a:rPr lang="en-US" sz="1725" dirty="0">
                <a:solidFill>
                  <a:srgbClr val="3C3C38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ФОТ 3 320 000 ₽ + взносы 498 000 ₽</a:t>
            </a:r>
            <a:endParaRPr lang="en-US" sz="1725" dirty="0"/>
          </a:p>
        </p:txBody>
      </p:sp>
      <p:sp>
        <p:nvSpPr>
          <p:cNvPr id="83" name="Text 81"/>
          <p:cNvSpPr/>
          <p:nvPr/>
        </p:nvSpPr>
        <p:spPr>
          <a:xfrm>
            <a:off x="1047750" y="8548952"/>
            <a:ext cx="15697200" cy="7466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6818"/>
              </a:lnSpc>
              <a:buNone/>
            </a:pPr>
            <a:r>
              <a:rPr lang="en-US" sz="1800" dirty="0">
                <a:solidFill>
                  <a:srgbClr val="3C3C38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Этапы: подготовительный (разработка архитектуры) — 1 месяц; разработка сервиса — 3 месяца; наладка бета-версии и тестовая эксплуатация — 2 месяца.</a:t>
            </a:r>
            <a:endParaRPr lang="en-US" sz="1800" dirty="0"/>
          </a:p>
        </p:txBody>
      </p:sp>
      <p:sp>
        <p:nvSpPr>
          <p:cNvPr id="84" name="Shape 82"/>
          <p:cNvSpPr/>
          <p:nvPr/>
        </p:nvSpPr>
        <p:spPr>
          <a:xfrm>
            <a:off x="1047750" y="9467056"/>
            <a:ext cx="16192500" cy="9525"/>
          </a:xfrm>
          <a:prstGeom prst="rect">
            <a:avLst/>
          </a:prstGeom>
          <a:solidFill>
            <a:srgbClr val="C8CABF"/>
          </a:solidFill>
          <a:ln/>
        </p:spPr>
      </p:sp>
      <p:sp>
        <p:nvSpPr>
          <p:cNvPr id="85" name="Text 83"/>
          <p:cNvSpPr/>
          <p:nvPr/>
        </p:nvSpPr>
        <p:spPr>
          <a:xfrm>
            <a:off x="1047750" y="9627923"/>
            <a:ext cx="6535486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Онлайн-сервис для ведения и контроля бухгалтерии · ООО «1+1 Бухдеск»</a:t>
            </a:r>
            <a:endParaRPr lang="en-US" sz="1350" dirty="0"/>
          </a:p>
        </p:txBody>
      </p:sp>
      <p:sp>
        <p:nvSpPr>
          <p:cNvPr id="86" name="Text 84"/>
          <p:cNvSpPr/>
          <p:nvPr/>
        </p:nvSpPr>
        <p:spPr>
          <a:xfrm>
            <a:off x="16756724" y="9627923"/>
            <a:ext cx="559726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15 / 17</a:t>
            </a:r>
            <a:endParaRPr lang="en-US" sz="13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457200"/>
            <a:ext cx="17811750" cy="6347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7000"/>
              </a:lnSpc>
              <a:buNone/>
            </a:pPr>
            <a:r>
              <a:rPr lang="en-US" sz="4350" b="1" kern="0" spc="-6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Бюджет</a:t>
            </a:r>
            <a:endParaRPr lang="en-US" sz="4350" dirty="0"/>
          </a:p>
        </p:txBody>
      </p:sp>
      <p:sp>
        <p:nvSpPr>
          <p:cNvPr id="3" name="Shape 1"/>
          <p:cNvSpPr/>
          <p:nvPr/>
        </p:nvSpPr>
        <p:spPr>
          <a:xfrm>
            <a:off x="1047750" y="1282435"/>
            <a:ext cx="16192500" cy="731043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1047750" y="2029883"/>
            <a:ext cx="952500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5" name="Text 3"/>
          <p:cNvSpPr/>
          <p:nvPr/>
        </p:nvSpPr>
        <p:spPr>
          <a:xfrm>
            <a:off x="1257300" y="1453885"/>
            <a:ext cx="609600" cy="4426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096"/>
              </a:lnSpc>
              <a:buNone/>
            </a:pPr>
            <a:r>
              <a:rPr lang="en-US" sz="1425" kern="0" spc="86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№</a:t>
            </a:r>
            <a:endParaRPr lang="en-US" sz="1425" dirty="0"/>
          </a:p>
        </p:txBody>
      </p:sp>
      <p:sp>
        <p:nvSpPr>
          <p:cNvPr id="6" name="Shape 4"/>
          <p:cNvSpPr/>
          <p:nvPr/>
        </p:nvSpPr>
        <p:spPr>
          <a:xfrm>
            <a:off x="2000250" y="2029883"/>
            <a:ext cx="11525250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7" name="Text 5"/>
          <p:cNvSpPr/>
          <p:nvPr/>
        </p:nvSpPr>
        <p:spPr>
          <a:xfrm>
            <a:off x="2209800" y="1453885"/>
            <a:ext cx="11451908" cy="4426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096"/>
              </a:lnSpc>
              <a:buNone/>
            </a:pPr>
            <a:r>
              <a:rPr lang="en-US" sz="1425" kern="0" spc="86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СТАТЬЯ РАСХОДОВ</a:t>
            </a:r>
            <a:endParaRPr lang="en-US" sz="1425" dirty="0"/>
          </a:p>
        </p:txBody>
      </p:sp>
      <p:sp>
        <p:nvSpPr>
          <p:cNvPr id="8" name="Shape 6"/>
          <p:cNvSpPr/>
          <p:nvPr/>
        </p:nvSpPr>
        <p:spPr>
          <a:xfrm>
            <a:off x="13525500" y="2029883"/>
            <a:ext cx="2286000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9" name="Text 7"/>
          <p:cNvSpPr/>
          <p:nvPr/>
        </p:nvSpPr>
        <p:spPr>
          <a:xfrm>
            <a:off x="13658850" y="1453885"/>
            <a:ext cx="1943100" cy="4426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5096"/>
              </a:lnSpc>
              <a:buNone/>
            </a:pPr>
            <a:r>
              <a:rPr lang="en-US" sz="1425" kern="0" spc="86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СУММА, ₽</a:t>
            </a:r>
            <a:endParaRPr lang="en-US" sz="1425" dirty="0"/>
          </a:p>
        </p:txBody>
      </p:sp>
      <p:sp>
        <p:nvSpPr>
          <p:cNvPr id="10" name="Shape 8"/>
          <p:cNvSpPr/>
          <p:nvPr/>
        </p:nvSpPr>
        <p:spPr>
          <a:xfrm>
            <a:off x="15811500" y="2029883"/>
            <a:ext cx="1428750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11" name="Text 9"/>
          <p:cNvSpPr/>
          <p:nvPr/>
        </p:nvSpPr>
        <p:spPr>
          <a:xfrm>
            <a:off x="15944850" y="1453885"/>
            <a:ext cx="1085850" cy="4426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5096"/>
              </a:lnSpc>
              <a:buNone/>
            </a:pPr>
            <a:r>
              <a:rPr lang="en-US" sz="1425" kern="0" spc="86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ДОЛЯ</a:t>
            </a:r>
            <a:endParaRPr lang="en-US" sz="1425" dirty="0"/>
          </a:p>
        </p:txBody>
      </p:sp>
      <p:sp>
        <p:nvSpPr>
          <p:cNvPr id="12" name="Shape 10"/>
          <p:cNvSpPr/>
          <p:nvPr/>
        </p:nvSpPr>
        <p:spPr>
          <a:xfrm>
            <a:off x="1047750" y="2046817"/>
            <a:ext cx="16192500" cy="643599"/>
          </a:xfrm>
          <a:prstGeom prst="rect">
            <a:avLst/>
          </a:prstGeom>
          <a:solidFill>
            <a:srgbClr val="ABAD58">
              <a:alpha val="2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047750" y="2681949"/>
            <a:ext cx="161925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14" name="Text 12"/>
          <p:cNvSpPr/>
          <p:nvPr/>
        </p:nvSpPr>
        <p:spPr>
          <a:xfrm>
            <a:off x="1257300" y="2142067"/>
            <a:ext cx="16259175" cy="4827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500"/>
              </a:lnSpc>
              <a:buNone/>
            </a:pPr>
            <a:r>
              <a:rPr lang="en-US" sz="1650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2. Yandex AI API и облако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1047750" y="3308482"/>
            <a:ext cx="9525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16" name="Text 14"/>
          <p:cNvSpPr/>
          <p:nvPr/>
        </p:nvSpPr>
        <p:spPr>
          <a:xfrm>
            <a:off x="1257300" y="2757091"/>
            <a:ext cx="60960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809"/>
              </a:lnSpc>
              <a:buNone/>
            </a:pPr>
            <a:r>
              <a:rPr lang="en-US" sz="1875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2.1</a:t>
            </a:r>
            <a:endParaRPr lang="en-US" sz="1875" dirty="0"/>
          </a:p>
        </p:txBody>
      </p:sp>
      <p:sp>
        <p:nvSpPr>
          <p:cNvPr id="17" name="Shape 15"/>
          <p:cNvSpPr/>
          <p:nvPr/>
        </p:nvSpPr>
        <p:spPr>
          <a:xfrm>
            <a:off x="2000250" y="3308482"/>
            <a:ext cx="115252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18" name="Text 16"/>
          <p:cNvSpPr/>
          <p:nvPr/>
        </p:nvSpPr>
        <p:spPr>
          <a:xfrm>
            <a:off x="2209800" y="2757091"/>
            <a:ext cx="11451908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YandexGPT API (Foundation Models)</a:t>
            </a:r>
            <a:endParaRPr lang="en-US" sz="1875" dirty="0"/>
          </a:p>
        </p:txBody>
      </p:sp>
      <p:sp>
        <p:nvSpPr>
          <p:cNvPr id="19" name="Shape 17"/>
          <p:cNvSpPr/>
          <p:nvPr/>
        </p:nvSpPr>
        <p:spPr>
          <a:xfrm>
            <a:off x="13525500" y="3308482"/>
            <a:ext cx="22860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20" name="Text 18"/>
          <p:cNvSpPr/>
          <p:nvPr/>
        </p:nvSpPr>
        <p:spPr>
          <a:xfrm>
            <a:off x="13658850" y="2757091"/>
            <a:ext cx="194310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2500"/>
              </a:lnSpc>
              <a:buNone/>
            </a:pPr>
            <a:r>
              <a:rPr lang="en-US" sz="18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72 000</a:t>
            </a:r>
            <a:endParaRPr lang="en-US" sz="1875" dirty="0"/>
          </a:p>
        </p:txBody>
      </p:sp>
      <p:sp>
        <p:nvSpPr>
          <p:cNvPr id="21" name="Shape 19"/>
          <p:cNvSpPr/>
          <p:nvPr/>
        </p:nvSpPr>
        <p:spPr>
          <a:xfrm>
            <a:off x="15811500" y="3308482"/>
            <a:ext cx="14287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22" name="Text 20"/>
          <p:cNvSpPr/>
          <p:nvPr/>
        </p:nvSpPr>
        <p:spPr>
          <a:xfrm>
            <a:off x="15944850" y="2757091"/>
            <a:ext cx="108585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1,7%</a:t>
            </a:r>
            <a:endParaRPr lang="en-US" sz="1875" dirty="0"/>
          </a:p>
        </p:txBody>
      </p:sp>
      <p:sp>
        <p:nvSpPr>
          <p:cNvPr id="23" name="Shape 21"/>
          <p:cNvSpPr/>
          <p:nvPr/>
        </p:nvSpPr>
        <p:spPr>
          <a:xfrm>
            <a:off x="1047750" y="3935016"/>
            <a:ext cx="9525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24" name="Text 22"/>
          <p:cNvSpPr/>
          <p:nvPr/>
        </p:nvSpPr>
        <p:spPr>
          <a:xfrm>
            <a:off x="1257300" y="3383624"/>
            <a:ext cx="60960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809"/>
              </a:lnSpc>
              <a:buNone/>
            </a:pPr>
            <a:r>
              <a:rPr lang="en-US" sz="1875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2.2</a:t>
            </a:r>
            <a:endParaRPr lang="en-US" sz="1875" dirty="0"/>
          </a:p>
        </p:txBody>
      </p:sp>
      <p:sp>
        <p:nvSpPr>
          <p:cNvPr id="25" name="Shape 23"/>
          <p:cNvSpPr/>
          <p:nvPr/>
        </p:nvSpPr>
        <p:spPr>
          <a:xfrm>
            <a:off x="2000250" y="3935016"/>
            <a:ext cx="115252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26" name="Text 24"/>
          <p:cNvSpPr/>
          <p:nvPr/>
        </p:nvSpPr>
        <p:spPr>
          <a:xfrm>
            <a:off x="2209800" y="3383624"/>
            <a:ext cx="11451908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Yandex SpeechKit STT</a:t>
            </a:r>
            <a:endParaRPr lang="en-US" sz="1875" dirty="0"/>
          </a:p>
        </p:txBody>
      </p:sp>
      <p:sp>
        <p:nvSpPr>
          <p:cNvPr id="27" name="Shape 25"/>
          <p:cNvSpPr/>
          <p:nvPr/>
        </p:nvSpPr>
        <p:spPr>
          <a:xfrm>
            <a:off x="13525500" y="3935016"/>
            <a:ext cx="22860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28" name="Text 26"/>
          <p:cNvSpPr/>
          <p:nvPr/>
        </p:nvSpPr>
        <p:spPr>
          <a:xfrm>
            <a:off x="13658850" y="3383624"/>
            <a:ext cx="194310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2500"/>
              </a:lnSpc>
              <a:buNone/>
            </a:pPr>
            <a:r>
              <a:rPr lang="en-US" sz="18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36 000</a:t>
            </a:r>
            <a:endParaRPr lang="en-US" sz="1875" dirty="0"/>
          </a:p>
        </p:txBody>
      </p:sp>
      <p:sp>
        <p:nvSpPr>
          <p:cNvPr id="29" name="Shape 27"/>
          <p:cNvSpPr/>
          <p:nvPr/>
        </p:nvSpPr>
        <p:spPr>
          <a:xfrm>
            <a:off x="15811500" y="3935016"/>
            <a:ext cx="14287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30" name="Text 28"/>
          <p:cNvSpPr/>
          <p:nvPr/>
        </p:nvSpPr>
        <p:spPr>
          <a:xfrm>
            <a:off x="15944850" y="3383624"/>
            <a:ext cx="108585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0,9%</a:t>
            </a:r>
            <a:endParaRPr lang="en-US" sz="1875" dirty="0"/>
          </a:p>
        </p:txBody>
      </p:sp>
      <p:sp>
        <p:nvSpPr>
          <p:cNvPr id="31" name="Shape 29"/>
          <p:cNvSpPr/>
          <p:nvPr/>
        </p:nvSpPr>
        <p:spPr>
          <a:xfrm>
            <a:off x="1047750" y="4561549"/>
            <a:ext cx="9525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32" name="Text 30"/>
          <p:cNvSpPr/>
          <p:nvPr/>
        </p:nvSpPr>
        <p:spPr>
          <a:xfrm>
            <a:off x="1257300" y="4010157"/>
            <a:ext cx="60960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809"/>
              </a:lnSpc>
              <a:buNone/>
            </a:pPr>
            <a:r>
              <a:rPr lang="en-US" sz="1875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2.3</a:t>
            </a:r>
            <a:endParaRPr lang="en-US" sz="1875" dirty="0"/>
          </a:p>
        </p:txBody>
      </p:sp>
      <p:sp>
        <p:nvSpPr>
          <p:cNvPr id="33" name="Shape 31"/>
          <p:cNvSpPr/>
          <p:nvPr/>
        </p:nvSpPr>
        <p:spPr>
          <a:xfrm>
            <a:off x="2000250" y="4561549"/>
            <a:ext cx="115252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34" name="Text 32"/>
          <p:cNvSpPr/>
          <p:nvPr/>
        </p:nvSpPr>
        <p:spPr>
          <a:xfrm>
            <a:off x="2209800" y="4010157"/>
            <a:ext cx="11451908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Yandex Cloud — ВМ, хранилище</a:t>
            </a:r>
            <a:endParaRPr lang="en-US" sz="1875" dirty="0"/>
          </a:p>
        </p:txBody>
      </p:sp>
      <p:sp>
        <p:nvSpPr>
          <p:cNvPr id="35" name="Shape 33"/>
          <p:cNvSpPr/>
          <p:nvPr/>
        </p:nvSpPr>
        <p:spPr>
          <a:xfrm>
            <a:off x="13525500" y="4561549"/>
            <a:ext cx="22860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36" name="Text 34"/>
          <p:cNvSpPr/>
          <p:nvPr/>
        </p:nvSpPr>
        <p:spPr>
          <a:xfrm>
            <a:off x="13658850" y="4010157"/>
            <a:ext cx="194310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2500"/>
              </a:lnSpc>
              <a:buNone/>
            </a:pPr>
            <a:r>
              <a:rPr lang="en-US" sz="18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120 000</a:t>
            </a:r>
            <a:endParaRPr lang="en-US" sz="1875" dirty="0"/>
          </a:p>
        </p:txBody>
      </p:sp>
      <p:sp>
        <p:nvSpPr>
          <p:cNvPr id="37" name="Shape 35"/>
          <p:cNvSpPr/>
          <p:nvPr/>
        </p:nvSpPr>
        <p:spPr>
          <a:xfrm>
            <a:off x="15811500" y="4561549"/>
            <a:ext cx="14287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38" name="Text 36"/>
          <p:cNvSpPr/>
          <p:nvPr/>
        </p:nvSpPr>
        <p:spPr>
          <a:xfrm>
            <a:off x="15944850" y="4010157"/>
            <a:ext cx="108585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2,9%</a:t>
            </a:r>
            <a:endParaRPr lang="en-US" sz="1875" dirty="0"/>
          </a:p>
        </p:txBody>
      </p:sp>
      <p:sp>
        <p:nvSpPr>
          <p:cNvPr id="39" name="Shape 37"/>
          <p:cNvSpPr/>
          <p:nvPr/>
        </p:nvSpPr>
        <p:spPr>
          <a:xfrm>
            <a:off x="1047750" y="5188082"/>
            <a:ext cx="9525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40" name="Text 38"/>
          <p:cNvSpPr/>
          <p:nvPr/>
        </p:nvSpPr>
        <p:spPr>
          <a:xfrm>
            <a:off x="1257300" y="4636691"/>
            <a:ext cx="60960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809"/>
              </a:lnSpc>
              <a:buNone/>
            </a:pPr>
            <a:r>
              <a:rPr lang="en-US" sz="1875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2.4</a:t>
            </a:r>
            <a:endParaRPr lang="en-US" sz="1875" dirty="0"/>
          </a:p>
        </p:txBody>
      </p:sp>
      <p:sp>
        <p:nvSpPr>
          <p:cNvPr id="41" name="Shape 39"/>
          <p:cNvSpPr/>
          <p:nvPr/>
        </p:nvSpPr>
        <p:spPr>
          <a:xfrm>
            <a:off x="2000250" y="5188082"/>
            <a:ext cx="115252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42" name="Text 40"/>
          <p:cNvSpPr/>
          <p:nvPr/>
        </p:nvSpPr>
        <p:spPr>
          <a:xfrm>
            <a:off x="2209800" y="4636691"/>
            <a:ext cx="11451908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Yandex Cloud — мониторинг, логи</a:t>
            </a:r>
            <a:endParaRPr lang="en-US" sz="1875" dirty="0"/>
          </a:p>
        </p:txBody>
      </p:sp>
      <p:sp>
        <p:nvSpPr>
          <p:cNvPr id="43" name="Shape 41"/>
          <p:cNvSpPr/>
          <p:nvPr/>
        </p:nvSpPr>
        <p:spPr>
          <a:xfrm>
            <a:off x="13525500" y="5188082"/>
            <a:ext cx="22860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44" name="Text 42"/>
          <p:cNvSpPr/>
          <p:nvPr/>
        </p:nvSpPr>
        <p:spPr>
          <a:xfrm>
            <a:off x="13658850" y="4636691"/>
            <a:ext cx="194310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2500"/>
              </a:lnSpc>
              <a:buNone/>
            </a:pPr>
            <a:r>
              <a:rPr lang="en-US" sz="18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14 400</a:t>
            </a:r>
            <a:endParaRPr lang="en-US" sz="1875" dirty="0"/>
          </a:p>
        </p:txBody>
      </p:sp>
      <p:sp>
        <p:nvSpPr>
          <p:cNvPr id="45" name="Shape 43"/>
          <p:cNvSpPr/>
          <p:nvPr/>
        </p:nvSpPr>
        <p:spPr>
          <a:xfrm>
            <a:off x="15811500" y="5188082"/>
            <a:ext cx="14287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46" name="Text 44"/>
          <p:cNvSpPr/>
          <p:nvPr/>
        </p:nvSpPr>
        <p:spPr>
          <a:xfrm>
            <a:off x="15944850" y="4636691"/>
            <a:ext cx="108585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0,3%</a:t>
            </a:r>
            <a:endParaRPr lang="en-US" sz="1875" dirty="0"/>
          </a:p>
        </p:txBody>
      </p:sp>
      <p:sp>
        <p:nvSpPr>
          <p:cNvPr id="47" name="Shape 45"/>
          <p:cNvSpPr/>
          <p:nvPr/>
        </p:nvSpPr>
        <p:spPr>
          <a:xfrm>
            <a:off x="1047750" y="5196549"/>
            <a:ext cx="16192500" cy="643599"/>
          </a:xfrm>
          <a:prstGeom prst="rect">
            <a:avLst/>
          </a:prstGeom>
          <a:solidFill>
            <a:srgbClr val="ABAD58">
              <a:alpha val="25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1047750" y="5831681"/>
            <a:ext cx="161925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49" name="Text 47"/>
          <p:cNvSpPr/>
          <p:nvPr/>
        </p:nvSpPr>
        <p:spPr>
          <a:xfrm>
            <a:off x="1257300" y="5291799"/>
            <a:ext cx="16259175" cy="4827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500"/>
              </a:lnSpc>
              <a:buNone/>
            </a:pPr>
            <a:r>
              <a:rPr lang="en-US" sz="1650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3. Лицензии и ПО</a:t>
            </a:r>
            <a:endParaRPr lang="en-US" sz="1650" dirty="0"/>
          </a:p>
        </p:txBody>
      </p:sp>
      <p:sp>
        <p:nvSpPr>
          <p:cNvPr id="50" name="Shape 48"/>
          <p:cNvSpPr/>
          <p:nvPr/>
        </p:nvSpPr>
        <p:spPr>
          <a:xfrm>
            <a:off x="1047750" y="6458215"/>
            <a:ext cx="9525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51" name="Text 49"/>
          <p:cNvSpPr/>
          <p:nvPr/>
        </p:nvSpPr>
        <p:spPr>
          <a:xfrm>
            <a:off x="1257300" y="5906823"/>
            <a:ext cx="60960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809"/>
              </a:lnSpc>
              <a:buNone/>
            </a:pPr>
            <a:r>
              <a:rPr lang="en-US" sz="1875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3.1</a:t>
            </a:r>
            <a:endParaRPr lang="en-US" sz="1875" dirty="0"/>
          </a:p>
        </p:txBody>
      </p:sp>
      <p:sp>
        <p:nvSpPr>
          <p:cNvPr id="52" name="Shape 50"/>
          <p:cNvSpPr/>
          <p:nvPr/>
        </p:nvSpPr>
        <p:spPr>
          <a:xfrm>
            <a:off x="2000250" y="6458215"/>
            <a:ext cx="115252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53" name="Text 51"/>
          <p:cNvSpPr/>
          <p:nvPr/>
        </p:nvSpPr>
        <p:spPr>
          <a:xfrm>
            <a:off x="2209800" y="5906823"/>
            <a:ext cx="11451908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SSL-сертификат, домен</a:t>
            </a:r>
            <a:endParaRPr lang="en-US" sz="1875" dirty="0"/>
          </a:p>
        </p:txBody>
      </p:sp>
      <p:sp>
        <p:nvSpPr>
          <p:cNvPr id="54" name="Shape 52"/>
          <p:cNvSpPr/>
          <p:nvPr/>
        </p:nvSpPr>
        <p:spPr>
          <a:xfrm>
            <a:off x="13525500" y="6458215"/>
            <a:ext cx="22860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55" name="Text 53"/>
          <p:cNvSpPr/>
          <p:nvPr/>
        </p:nvSpPr>
        <p:spPr>
          <a:xfrm>
            <a:off x="13658850" y="5906823"/>
            <a:ext cx="194310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2500"/>
              </a:lnSpc>
              <a:buNone/>
            </a:pPr>
            <a:r>
              <a:rPr lang="en-US" sz="18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8 000</a:t>
            </a:r>
            <a:endParaRPr lang="en-US" sz="1875" dirty="0"/>
          </a:p>
        </p:txBody>
      </p:sp>
      <p:sp>
        <p:nvSpPr>
          <p:cNvPr id="56" name="Shape 54"/>
          <p:cNvSpPr/>
          <p:nvPr/>
        </p:nvSpPr>
        <p:spPr>
          <a:xfrm>
            <a:off x="15811500" y="6458215"/>
            <a:ext cx="14287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57" name="Text 55"/>
          <p:cNvSpPr/>
          <p:nvPr/>
        </p:nvSpPr>
        <p:spPr>
          <a:xfrm>
            <a:off x="15944850" y="5906823"/>
            <a:ext cx="108585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0,2%</a:t>
            </a:r>
            <a:endParaRPr lang="en-US" sz="1875" dirty="0"/>
          </a:p>
        </p:txBody>
      </p:sp>
      <p:sp>
        <p:nvSpPr>
          <p:cNvPr id="58" name="Shape 56"/>
          <p:cNvSpPr/>
          <p:nvPr/>
        </p:nvSpPr>
        <p:spPr>
          <a:xfrm>
            <a:off x="1047750" y="7084748"/>
            <a:ext cx="9525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59" name="Text 57"/>
          <p:cNvSpPr/>
          <p:nvPr/>
        </p:nvSpPr>
        <p:spPr>
          <a:xfrm>
            <a:off x="1257300" y="6533356"/>
            <a:ext cx="60960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809"/>
              </a:lnSpc>
              <a:buNone/>
            </a:pPr>
            <a:r>
              <a:rPr lang="en-US" sz="1875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3.2</a:t>
            </a:r>
            <a:endParaRPr lang="en-US" sz="1875" dirty="0"/>
          </a:p>
        </p:txBody>
      </p:sp>
      <p:sp>
        <p:nvSpPr>
          <p:cNvPr id="60" name="Shape 58"/>
          <p:cNvSpPr/>
          <p:nvPr/>
        </p:nvSpPr>
        <p:spPr>
          <a:xfrm>
            <a:off x="2000250" y="7084748"/>
            <a:ext cx="115252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61" name="Text 59"/>
          <p:cNvSpPr/>
          <p:nvPr/>
        </p:nvSpPr>
        <p:spPr>
          <a:xfrm>
            <a:off x="2209800" y="6533356"/>
            <a:ext cx="11451908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CI/CD, инструменты разработки</a:t>
            </a:r>
            <a:endParaRPr lang="en-US" sz="1875" dirty="0"/>
          </a:p>
        </p:txBody>
      </p:sp>
      <p:sp>
        <p:nvSpPr>
          <p:cNvPr id="62" name="Shape 60"/>
          <p:cNvSpPr/>
          <p:nvPr/>
        </p:nvSpPr>
        <p:spPr>
          <a:xfrm>
            <a:off x="13525500" y="7084748"/>
            <a:ext cx="22860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63" name="Text 61"/>
          <p:cNvSpPr/>
          <p:nvPr/>
        </p:nvSpPr>
        <p:spPr>
          <a:xfrm>
            <a:off x="13658850" y="6533356"/>
            <a:ext cx="194310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2500"/>
              </a:lnSpc>
              <a:buNone/>
            </a:pPr>
            <a:r>
              <a:rPr lang="en-US" sz="18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45 000</a:t>
            </a:r>
            <a:endParaRPr lang="en-US" sz="1875" dirty="0"/>
          </a:p>
        </p:txBody>
      </p:sp>
      <p:sp>
        <p:nvSpPr>
          <p:cNvPr id="64" name="Shape 62"/>
          <p:cNvSpPr/>
          <p:nvPr/>
        </p:nvSpPr>
        <p:spPr>
          <a:xfrm>
            <a:off x="15811500" y="7084748"/>
            <a:ext cx="14287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65" name="Text 63"/>
          <p:cNvSpPr/>
          <p:nvPr/>
        </p:nvSpPr>
        <p:spPr>
          <a:xfrm>
            <a:off x="15944850" y="6533356"/>
            <a:ext cx="108585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1,1%</a:t>
            </a:r>
            <a:endParaRPr lang="en-US" sz="1875" dirty="0"/>
          </a:p>
        </p:txBody>
      </p:sp>
      <p:sp>
        <p:nvSpPr>
          <p:cNvPr id="66" name="Shape 64"/>
          <p:cNvSpPr/>
          <p:nvPr/>
        </p:nvSpPr>
        <p:spPr>
          <a:xfrm>
            <a:off x="1047750" y="7711281"/>
            <a:ext cx="9525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67" name="Text 65"/>
          <p:cNvSpPr/>
          <p:nvPr/>
        </p:nvSpPr>
        <p:spPr>
          <a:xfrm>
            <a:off x="1257300" y="7159890"/>
            <a:ext cx="60960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809"/>
              </a:lnSpc>
              <a:buNone/>
            </a:pPr>
            <a:r>
              <a:rPr lang="en-US" sz="1875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3.3</a:t>
            </a:r>
            <a:endParaRPr lang="en-US" sz="1875" dirty="0"/>
          </a:p>
        </p:txBody>
      </p:sp>
      <p:sp>
        <p:nvSpPr>
          <p:cNvPr id="68" name="Shape 66"/>
          <p:cNvSpPr/>
          <p:nvPr/>
        </p:nvSpPr>
        <p:spPr>
          <a:xfrm>
            <a:off x="2000250" y="7711281"/>
            <a:ext cx="115252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69" name="Text 67"/>
          <p:cNvSpPr/>
          <p:nvPr/>
        </p:nvSpPr>
        <p:spPr>
          <a:xfrm>
            <a:off x="2209800" y="7159890"/>
            <a:ext cx="11451908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Тестовые лицензии 1С</a:t>
            </a:r>
            <a:endParaRPr lang="en-US" sz="1875" dirty="0"/>
          </a:p>
        </p:txBody>
      </p:sp>
      <p:sp>
        <p:nvSpPr>
          <p:cNvPr id="70" name="Shape 68"/>
          <p:cNvSpPr/>
          <p:nvPr/>
        </p:nvSpPr>
        <p:spPr>
          <a:xfrm>
            <a:off x="13525500" y="7711281"/>
            <a:ext cx="22860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71" name="Text 69"/>
          <p:cNvSpPr/>
          <p:nvPr/>
        </p:nvSpPr>
        <p:spPr>
          <a:xfrm>
            <a:off x="13658850" y="7159890"/>
            <a:ext cx="194310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2500"/>
              </a:lnSpc>
              <a:buNone/>
            </a:pPr>
            <a:r>
              <a:rPr lang="en-US" sz="18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40 000</a:t>
            </a:r>
            <a:endParaRPr lang="en-US" sz="1875" dirty="0"/>
          </a:p>
        </p:txBody>
      </p:sp>
      <p:sp>
        <p:nvSpPr>
          <p:cNvPr id="72" name="Shape 70"/>
          <p:cNvSpPr/>
          <p:nvPr/>
        </p:nvSpPr>
        <p:spPr>
          <a:xfrm>
            <a:off x="15811500" y="7711281"/>
            <a:ext cx="14287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73" name="Text 71"/>
          <p:cNvSpPr/>
          <p:nvPr/>
        </p:nvSpPr>
        <p:spPr>
          <a:xfrm>
            <a:off x="15944850" y="7159890"/>
            <a:ext cx="108585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1,0%</a:t>
            </a:r>
            <a:endParaRPr lang="en-US" sz="1875" dirty="0"/>
          </a:p>
        </p:txBody>
      </p:sp>
      <p:sp>
        <p:nvSpPr>
          <p:cNvPr id="74" name="Shape 72"/>
          <p:cNvSpPr/>
          <p:nvPr/>
        </p:nvSpPr>
        <p:spPr>
          <a:xfrm>
            <a:off x="1047750" y="7719748"/>
            <a:ext cx="952500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75" name="Shape 73"/>
          <p:cNvSpPr/>
          <p:nvPr/>
        </p:nvSpPr>
        <p:spPr>
          <a:xfrm>
            <a:off x="2000250" y="7719748"/>
            <a:ext cx="11525250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76" name="Text 74"/>
          <p:cNvSpPr/>
          <p:nvPr/>
        </p:nvSpPr>
        <p:spPr>
          <a:xfrm>
            <a:off x="2209800" y="7889081"/>
            <a:ext cx="11451908" cy="5894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244"/>
              </a:lnSpc>
              <a:buNone/>
            </a:pPr>
            <a:r>
              <a:rPr lang="en-US" sz="2250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ИТОГО ПО СМЕТЕ</a:t>
            </a:r>
            <a:endParaRPr lang="en-US" sz="2250" dirty="0"/>
          </a:p>
        </p:txBody>
      </p:sp>
      <p:sp>
        <p:nvSpPr>
          <p:cNvPr id="77" name="Shape 75"/>
          <p:cNvSpPr/>
          <p:nvPr/>
        </p:nvSpPr>
        <p:spPr>
          <a:xfrm>
            <a:off x="13525500" y="7719748"/>
            <a:ext cx="2286000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78" name="Text 76"/>
          <p:cNvSpPr/>
          <p:nvPr/>
        </p:nvSpPr>
        <p:spPr>
          <a:xfrm>
            <a:off x="13658850" y="7889081"/>
            <a:ext cx="1943100" cy="5894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5244"/>
              </a:lnSpc>
              <a:buNone/>
            </a:pPr>
            <a:r>
              <a:rPr lang="en-US" sz="2250" b="1" dirty="0">
                <a:solidFill>
                  <a:srgbClr val="D73A61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4 153 400</a:t>
            </a:r>
            <a:endParaRPr lang="en-US" sz="2250" dirty="0"/>
          </a:p>
        </p:txBody>
      </p:sp>
      <p:sp>
        <p:nvSpPr>
          <p:cNvPr id="79" name="Shape 77"/>
          <p:cNvSpPr/>
          <p:nvPr/>
        </p:nvSpPr>
        <p:spPr>
          <a:xfrm>
            <a:off x="15811500" y="7719748"/>
            <a:ext cx="1428750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80" name="Text 78"/>
          <p:cNvSpPr/>
          <p:nvPr/>
        </p:nvSpPr>
        <p:spPr>
          <a:xfrm>
            <a:off x="15944850" y="7889081"/>
            <a:ext cx="1085850" cy="5894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15244"/>
              </a:lnSpc>
              <a:buNone/>
            </a:pPr>
            <a:r>
              <a:rPr lang="en-US" sz="2250" b="1" dirty="0">
                <a:solidFill>
                  <a:srgbClr val="D73A61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100%</a:t>
            </a:r>
            <a:endParaRPr lang="en-US" sz="2250" dirty="0"/>
          </a:p>
        </p:txBody>
      </p:sp>
      <p:sp>
        <p:nvSpPr>
          <p:cNvPr id="81" name="Text 79"/>
          <p:cNvSpPr/>
          <p:nvPr/>
        </p:nvSpPr>
        <p:spPr>
          <a:xfrm>
            <a:off x="1047750" y="8745273"/>
            <a:ext cx="16187738" cy="6455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9625"/>
              </a:lnSpc>
              <a:buNone/>
            </a:pPr>
            <a:r>
              <a:rPr lang="en-US" sz="1650" dirty="0">
                <a:solidFill>
                  <a:srgbClr val="3C3C38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Срок реализации — 6 месяцев. Страховые взносы — по ставке IT-аккредитации Минцифры: 15% до предельной базы 2 979 000 ₽, 7,6% сверх базы. Зарплаты на уровне региональных ставок (Алтайский край, Барнаул).</a:t>
            </a:r>
            <a:endParaRPr lang="en-US" sz="1650" dirty="0"/>
          </a:p>
        </p:txBody>
      </p:sp>
      <p:sp>
        <p:nvSpPr>
          <p:cNvPr id="82" name="Shape 80"/>
          <p:cNvSpPr/>
          <p:nvPr/>
        </p:nvSpPr>
        <p:spPr>
          <a:xfrm>
            <a:off x="1047750" y="9543256"/>
            <a:ext cx="16192500" cy="9525"/>
          </a:xfrm>
          <a:prstGeom prst="rect">
            <a:avLst/>
          </a:prstGeom>
          <a:solidFill>
            <a:srgbClr val="C8CABF"/>
          </a:solidFill>
          <a:ln/>
        </p:spPr>
      </p:sp>
      <p:sp>
        <p:nvSpPr>
          <p:cNvPr id="83" name="Text 81"/>
          <p:cNvSpPr/>
          <p:nvPr/>
        </p:nvSpPr>
        <p:spPr>
          <a:xfrm>
            <a:off x="1047750" y="9704123"/>
            <a:ext cx="6535486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Онлайн-сервис для ведения и контроля бухгалтерии · ООО «1+1 Бухдеск»</a:t>
            </a:r>
            <a:endParaRPr lang="en-US" sz="1350" dirty="0"/>
          </a:p>
        </p:txBody>
      </p:sp>
      <p:sp>
        <p:nvSpPr>
          <p:cNvPr id="84" name="Text 82"/>
          <p:cNvSpPr/>
          <p:nvPr/>
        </p:nvSpPr>
        <p:spPr>
          <a:xfrm>
            <a:off x="16763604" y="9704123"/>
            <a:ext cx="552847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16 / 17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2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23900"/>
            <a:ext cx="17811750" cy="3180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4052"/>
              </a:lnSpc>
              <a:buNone/>
            </a:pPr>
            <a:r>
              <a:rPr lang="en-US" sz="1575" kern="0" spc="189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КРАТКО О КОМПАНИИ</a:t>
            </a:r>
            <a:endParaRPr lang="en-US" sz="1575" dirty="0"/>
          </a:p>
        </p:txBody>
      </p:sp>
      <p:sp>
        <p:nvSpPr>
          <p:cNvPr id="3" name="Text 1"/>
          <p:cNvSpPr/>
          <p:nvPr/>
        </p:nvSpPr>
        <p:spPr>
          <a:xfrm>
            <a:off x="1047750" y="1156229"/>
            <a:ext cx="17811750" cy="6347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7000"/>
              </a:lnSpc>
              <a:buNone/>
            </a:pPr>
            <a:r>
              <a:rPr lang="en-US" sz="4350" b="1" kern="0" spc="-6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ООО «1+1 Бухдеск»</a:t>
            </a:r>
            <a:endParaRPr lang="en-US" sz="4350" dirty="0"/>
          </a:p>
        </p:txBody>
      </p:sp>
      <p:sp>
        <p:nvSpPr>
          <p:cNvPr id="4" name="Text 2"/>
          <p:cNvSpPr/>
          <p:nvPr/>
        </p:nvSpPr>
        <p:spPr>
          <a:xfrm>
            <a:off x="1047750" y="3079750"/>
            <a:ext cx="9038562" cy="29310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8487"/>
              </a:lnSpc>
              <a:buNone/>
            </a:pPr>
            <a:r>
              <a:rPr lang="en-US" sz="210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ООО «1+1 Бухдеск» — IT-компания из Барнаула, зарегистрирована 10 сентября 2025 года. Создана как технологичный преемник бухгалтерской фирмы ООО «1+1», которая более 15 лет оказывает бухгалтерские и юридические услуги в Алтайском крае и имеет </a:t>
            </a:r>
            <a:r>
              <a:rPr lang="en-US" sz="2100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более 450 клиентов </a:t>
            </a:r>
            <a:r>
              <a:rPr lang="en-US" sz="210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на постоянном обслуживании, находится на 37-м месте в рейтинге </a:t>
            </a:r>
            <a:r>
              <a:rPr lang="en-US" sz="2100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RAEX </a:t>
            </a:r>
            <a:r>
              <a:rPr lang="en-US" sz="210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среди 15 тысяч бухгалтерских аутсорсинговых компаний.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047750" y="6239404"/>
            <a:ext cx="9038562" cy="8646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8487"/>
              </a:lnSpc>
              <a:buNone/>
            </a:pPr>
            <a:r>
              <a:rPr lang="en-US" sz="210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В нашей компании знают все боли предпринимателей, связанные с бухгалтерским и налоговым учётом.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047750" y="7332662"/>
            <a:ext cx="9038562" cy="8646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192"/>
              </a:lnSpc>
              <a:buNone/>
            </a:pPr>
            <a:r>
              <a:rPr lang="en-US" sz="2100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Наша задача — облегчить процесс предпринимательства и минимизировать их расходы при сохранении качества учёта.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10489803" y="2436283"/>
            <a:ext cx="6750447" cy="17373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10489803" y="2436283"/>
            <a:ext cx="42333" cy="1737360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9" name="Text 7"/>
          <p:cNvSpPr/>
          <p:nvPr/>
        </p:nvSpPr>
        <p:spPr>
          <a:xfrm>
            <a:off x="10836936" y="2702983"/>
            <a:ext cx="6708365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1522"/>
              </a:lnSpc>
              <a:buNone/>
            </a:pPr>
            <a:r>
              <a:rPr lang="en-US" sz="3750" b="1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15 лет</a:t>
            </a:r>
            <a:endParaRPr lang="en-US" sz="3750" dirty="0"/>
          </a:p>
        </p:txBody>
      </p:sp>
      <p:sp>
        <p:nvSpPr>
          <p:cNvPr id="10" name="Text 8"/>
          <p:cNvSpPr/>
          <p:nvPr/>
        </p:nvSpPr>
        <p:spPr>
          <a:xfrm>
            <a:off x="10836936" y="3274483"/>
            <a:ext cx="6281928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028"/>
              </a:lnSpc>
              <a:buNone/>
            </a:pPr>
            <a:r>
              <a:rPr lang="en-US" sz="172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бухгалтерских и юридических услуг в Алтайском крае</a:t>
            </a:r>
            <a:endParaRPr lang="en-US" sz="1725" dirty="0"/>
          </a:p>
        </p:txBody>
      </p:sp>
      <p:sp>
        <p:nvSpPr>
          <p:cNvPr id="11" name="Shape 9"/>
          <p:cNvSpPr/>
          <p:nvPr/>
        </p:nvSpPr>
        <p:spPr>
          <a:xfrm>
            <a:off x="10489803" y="4360212"/>
            <a:ext cx="6750447" cy="14225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489803" y="4360212"/>
            <a:ext cx="42333" cy="1422532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13" name="Text 11"/>
          <p:cNvSpPr/>
          <p:nvPr/>
        </p:nvSpPr>
        <p:spPr>
          <a:xfrm>
            <a:off x="10836936" y="4626912"/>
            <a:ext cx="6708365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1522"/>
              </a:lnSpc>
              <a:buNone/>
            </a:pPr>
            <a:r>
              <a:rPr lang="en-US" sz="3750" b="1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450+</a:t>
            </a:r>
            <a:endParaRPr lang="en-US" sz="3750" dirty="0"/>
          </a:p>
        </p:txBody>
      </p:sp>
      <p:sp>
        <p:nvSpPr>
          <p:cNvPr id="14" name="Text 12"/>
          <p:cNvSpPr/>
          <p:nvPr/>
        </p:nvSpPr>
        <p:spPr>
          <a:xfrm>
            <a:off x="10836936" y="5198412"/>
            <a:ext cx="6708365" cy="3557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1028"/>
              </a:lnSpc>
              <a:buNone/>
            </a:pPr>
            <a:r>
              <a:rPr lang="en-US" sz="172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клиентов на постоянном обслуживании</a:t>
            </a:r>
            <a:endParaRPr lang="en-US" sz="1725" dirty="0"/>
          </a:p>
        </p:txBody>
      </p:sp>
      <p:sp>
        <p:nvSpPr>
          <p:cNvPr id="15" name="Shape 13"/>
          <p:cNvSpPr/>
          <p:nvPr/>
        </p:nvSpPr>
        <p:spPr>
          <a:xfrm>
            <a:off x="10489803" y="5973244"/>
            <a:ext cx="6750447" cy="17401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489803" y="5973244"/>
            <a:ext cx="42333" cy="1740165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17" name="Text 15"/>
          <p:cNvSpPr/>
          <p:nvPr/>
        </p:nvSpPr>
        <p:spPr>
          <a:xfrm>
            <a:off x="10836936" y="6239944"/>
            <a:ext cx="6708365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1522"/>
              </a:lnSpc>
              <a:buNone/>
            </a:pPr>
            <a:r>
              <a:rPr lang="en-US" sz="3750" b="1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37-е место</a:t>
            </a:r>
            <a:endParaRPr lang="en-US" sz="3750" dirty="0"/>
          </a:p>
        </p:txBody>
      </p:sp>
      <p:sp>
        <p:nvSpPr>
          <p:cNvPr id="18" name="Text 16"/>
          <p:cNvSpPr/>
          <p:nvPr/>
        </p:nvSpPr>
        <p:spPr>
          <a:xfrm>
            <a:off x="10836936" y="6811444"/>
            <a:ext cx="6281469" cy="6733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1028"/>
              </a:lnSpc>
              <a:buNone/>
            </a:pPr>
            <a:r>
              <a:rPr lang="en-US" sz="172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в рейтинге RAEX среди 15 тысяч бухгалтерских аутсорсинговых компаний</a:t>
            </a:r>
            <a:endParaRPr lang="en-US" sz="1725" dirty="0"/>
          </a:p>
        </p:txBody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71428" y="8044070"/>
            <a:ext cx="1665011" cy="1145650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1047750" y="9409906"/>
            <a:ext cx="16192500" cy="9525"/>
          </a:xfrm>
          <a:prstGeom prst="rect">
            <a:avLst/>
          </a:prstGeom>
          <a:solidFill>
            <a:srgbClr val="C8CABF"/>
          </a:solidFill>
          <a:ln/>
        </p:spPr>
      </p:sp>
      <p:sp>
        <p:nvSpPr>
          <p:cNvPr id="21" name="Text 18"/>
          <p:cNvSpPr/>
          <p:nvPr/>
        </p:nvSpPr>
        <p:spPr>
          <a:xfrm>
            <a:off x="1047750" y="9589823"/>
            <a:ext cx="6535486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Онлайн-сервис для ведения и контроля бухгалтерии · ООО «1+1 Бухдеск»</a:t>
            </a:r>
            <a:endParaRPr lang="en-US" sz="1350" dirty="0"/>
          </a:p>
        </p:txBody>
      </p:sp>
      <p:sp>
        <p:nvSpPr>
          <p:cNvPr id="22" name="Text 19"/>
          <p:cNvSpPr/>
          <p:nvPr/>
        </p:nvSpPr>
        <p:spPr>
          <a:xfrm>
            <a:off x="16765323" y="9589823"/>
            <a:ext cx="551127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17 / 17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1661</Words>
  <Application>Microsoft Office PowerPoint</Application>
  <PresentationFormat>Произвольный</PresentationFormat>
  <Paragraphs>275</Paragraphs>
  <Slides>16</Slides>
  <Notes>16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16</vt:i4>
      </vt:variant>
    </vt:vector>
  </HeadingPairs>
  <TitlesOfParts>
    <vt:vector size="17" baseType="lpstr"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User</cp:lastModifiedBy>
  <cp:revision>3</cp:revision>
  <dcterms:created xsi:type="dcterms:W3CDTF">2026-10-03T07:35:27Z</dcterms:created>
  <dcterms:modified xsi:type="dcterms:W3CDTF">2026-10-03T08:14:35Z</dcterms:modified>
</cp:coreProperties>
</file>