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Заявка на грант. Название проекта, сумма, срок, заявитель.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действующие функции сервиса.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Показатели компании, свидетельство и реестр отечественного ПО.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Доработки 2026–2027 гг. за счёт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слайд заявки: что делается за счёт средств гранта.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работает ИИ-помощник в связке с базой 1С клиента.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Сценарий в четыре шага.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и пять показателей эффекта.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Технологическая основа. Модели российские: SpeechKit и YandexGPT.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по шести критериям. Колонка «Бухдеск» выделена.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Отраслевая вертикаль против предложений конкурентов.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 только формируется; почему решение оптимально для клиентов аутсорсинга.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Налоговая реформа, дефицит кадров, ИИ-автоматизация.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Фонд оплаты труда: 3 818 000 ₽, 91,9% сметы. Ниже этапы реализации.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Прочие расходы и итог по смете 4 153 400 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Компания, её происхождение и позиция в рейтинге RAEX.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hyperlink" Target="https://service.buh-desk.ru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876300"/>
            <a:ext cx="178308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47750" y="2450592"/>
            <a:ext cx="2633927" cy="358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545"/>
              </a:lnSpc>
              <a:buNone/>
            </a:pPr>
            <a:r>
              <a:rPr lang="en-US" sz="1800" spc="252" kern="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ЗАЯВКА НА ГРАНТ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1047750" y="3882231"/>
            <a:ext cx="14716125" cy="17581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368"/>
              </a:lnSpc>
              <a:buNone/>
            </a:pPr>
            <a:r>
              <a:rPr lang="en-US" sz="6450" b="1" spc="-129" kern="0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ИИ-агент для создания счетов и актов в 1С через OData</a:t>
            </a:r>
            <a:endParaRPr lang="en-US" sz="6450" dirty="0"/>
          </a:p>
        </p:txBody>
      </p:sp>
      <p:sp>
        <p:nvSpPr>
          <p:cNvPr id="5" name="Text 2"/>
          <p:cNvSpPr/>
          <p:nvPr/>
        </p:nvSpPr>
        <p:spPr>
          <a:xfrm>
            <a:off x="1047750" y="5926138"/>
            <a:ext cx="15716250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449"/>
              </a:lnSpc>
              <a:buNone/>
            </a:pPr>
            <a:r>
              <a:rPr lang="en-US" sz="2700" dirty="0">
                <a:solidFill>
                  <a:srgbClr val="D9DAD2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— онлайн-сервис для ведения и контроля бухгалтерии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1047750" y="7895828"/>
            <a:ext cx="16192500" cy="16933"/>
          </a:xfrm>
          <a:prstGeom prst="rect">
            <a:avLst/>
          </a:prstGeom>
          <a:solidFill>
            <a:srgbClr val="F2F3ED">
              <a:alpha val="35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47750" y="8236612"/>
            <a:ext cx="54762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150" kern="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ЗАПРАШИВАЕМАЯ СУММА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47750" y="8617612"/>
            <a:ext cx="547624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836"/>
              </a:lnSpc>
              <a:buNone/>
            </a:pPr>
            <a:r>
              <a:rPr lang="en-US" sz="36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4 153 400 ₽</a:t>
            </a:r>
            <a:endParaRPr lang="en-US" sz="3600" dirty="0"/>
          </a:p>
        </p:txBody>
      </p:sp>
      <p:sp>
        <p:nvSpPr>
          <p:cNvPr id="9" name="Shape 6"/>
          <p:cNvSpPr/>
          <p:nvPr/>
        </p:nvSpPr>
        <p:spPr>
          <a:xfrm>
            <a:off x="6445250" y="7912762"/>
            <a:ext cx="9525" cy="1878939"/>
          </a:xfrm>
          <a:prstGeom prst="rect">
            <a:avLst/>
          </a:prstGeom>
          <a:solidFill>
            <a:srgbClr val="F2F3ED">
              <a:alpha val="22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6872817" y="8236612"/>
            <a:ext cx="5005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150" kern="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СРОК РЕАЛИЗАЦИИ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72817" y="8617612"/>
            <a:ext cx="5005917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836"/>
              </a:lnSpc>
              <a:buNone/>
            </a:pPr>
            <a:r>
              <a:rPr lang="en-US" sz="36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месяцев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11842750" y="7912762"/>
            <a:ext cx="9525" cy="1878939"/>
          </a:xfrm>
          <a:prstGeom prst="rect">
            <a:avLst/>
          </a:prstGeom>
          <a:solidFill>
            <a:srgbClr val="F2F3ED">
              <a:alpha val="22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12270317" y="8236612"/>
            <a:ext cx="546692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150" kern="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ЗАЯВИТЕЛЬ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2270317" y="8617612"/>
            <a:ext cx="5466927" cy="4586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909"/>
              </a:lnSpc>
              <a:buNone/>
            </a:pPr>
            <a:r>
              <a:rPr lang="en-US" sz="24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2270317" y="9152467"/>
            <a:ext cx="5466927" cy="3534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909"/>
              </a:lnSpc>
              <a:buNone/>
            </a:pPr>
            <a:r>
              <a:rPr lang="en-US" sz="180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Барнаул,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СЕГОДНЯ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делает сервис уже сейчас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59256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46874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Автоматизированный приём задач и первичных документов от клиентов для целей бухгалтерского, налогового, управленческого учёта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483081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7" name="Text 5"/>
          <p:cNvSpPr/>
          <p:nvPr/>
        </p:nvSpPr>
        <p:spPr>
          <a:xfrm>
            <a:off x="1428750" y="470699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Веб-интерфейс отображает бухгалтерские задачи и статус их выполнения, начисленные и уплаченные налоги, даты предстоящих платежей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047750" y="606906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9" name="Text 7"/>
          <p:cNvSpPr/>
          <p:nvPr/>
        </p:nvSpPr>
        <p:spPr>
          <a:xfrm>
            <a:off x="1428750" y="594524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62"/>
              </a:lnSpc>
              <a:buNone/>
            </a:pPr>
            <a:r>
              <a:rPr lang="en-US" sz="22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У клиента есть доступ </a:t>
            </a:r>
            <a:pPr algn="l" indent="0" marL="0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 всем отчётам, документам и результатам работ бухгалтерии 24/7. Документооборот каждой компании в собственном профиле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3" name="Text 10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6824458" y="9589823"/>
            <a:ext cx="49199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 / 16</a:t>
            </a:r>
            <a:endParaRPr lang="en-US" sz="1350" dirty="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35840" y="2926080"/>
            <a:ext cx="4800600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Дополнительная информация о Сервисе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047750" y="1511035"/>
            <a:ext cx="13620750" cy="3923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18"/>
              </a:lnSpc>
              <a:buNone/>
            </a:pPr>
            <a:r>
              <a:rPr lang="en-US" sz="180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Описание функционала сервиса и оферта для подключения размещены на сайте: </a:t>
            </a:r>
            <a:pPr algn="l" indent="0" marL="0">
              <a:lnSpc>
                <a:spcPct val="126818"/>
              </a:lnSpc>
              <a:buNone/>
            </a:pPr>
            <a:r>
              <a:rPr lang="en-US" sz="1800" u="sng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https://service.buh-desk.ru/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4775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04775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</a:t>
            </a:r>
            <a:endParaRPr lang="en-US" sz="6900" dirty="0"/>
          </a:p>
        </p:txBody>
      </p:sp>
      <p:sp>
        <p:nvSpPr>
          <p:cNvPr id="7" name="Text 5"/>
          <p:cNvSpPr/>
          <p:nvPr/>
        </p:nvSpPr>
        <p:spPr>
          <a:xfrm>
            <a:off x="137160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сотрудников трудоустроено в ООО «1+1 Бухдеск» по состоянию на 01.10.2026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2780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52780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685165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71 </a:t>
            </a:r>
            <a:pPr algn="l" indent="0" marL="0">
              <a:lnSpc>
                <a:spcPct val="80859"/>
              </a:lnSpc>
              <a:buNone/>
            </a:pPr>
            <a:r>
              <a:rPr lang="en-US" sz="31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тыс. руб.</a:t>
            </a:r>
            <a:endParaRPr lang="en-US" sz="6900" dirty="0"/>
          </a:p>
        </p:txBody>
      </p:sp>
      <p:sp>
        <p:nvSpPr>
          <p:cNvPr id="11" name="Text 9"/>
          <p:cNvSpPr/>
          <p:nvPr/>
        </p:nvSpPr>
        <p:spPr>
          <a:xfrm>
            <a:off x="685165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среднемесячная заработная плата за 9 мес. 2026 г. в ООО «1+1 Бухдеск»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00785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785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4" name="Text 12"/>
          <p:cNvSpPr/>
          <p:nvPr/>
        </p:nvSpPr>
        <p:spPr>
          <a:xfrm>
            <a:off x="1233170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50+</a:t>
            </a:r>
            <a:endParaRPr lang="en-US" sz="6900" dirty="0"/>
          </a:p>
        </p:txBody>
      </p:sp>
      <p:sp>
        <p:nvSpPr>
          <p:cNvPr id="15" name="Text 13"/>
          <p:cNvSpPr/>
          <p:nvPr/>
        </p:nvSpPr>
        <p:spPr>
          <a:xfrm>
            <a:off x="1233170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клиентов, с которыми заключены лицензионные соглашения (на 01.10.2026)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6025224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7750" y="6224190"/>
            <a:ext cx="272415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62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 202569021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3790950" y="6291924"/>
            <a:ext cx="147942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357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Свидетельство о государственной регистрации программ для ЭВМ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47750" y="7698449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7750" y="7897416"/>
            <a:ext cx="272415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62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 32932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3790950" y="7965149"/>
            <a:ext cx="147942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357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включён в Реестр отечественного ПО (от 31.03.2026)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 / 16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 СВОЙ СЧЁТ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планируется доработать в Сервисе в 2026–2027 гг.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0477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" y="4542896"/>
            <a:ext cx="5297805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разбор, систематизацию и организацию хранения (по видам и срокам) переданных в обработку документов для их последующего распознавания и автоматического ввода в учётную систему клиента и обеспечения быстрого поиска документов в ходе проверок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65722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8" name="Text 6"/>
          <p:cNvSpPr/>
          <p:nvPr/>
        </p:nvSpPr>
        <p:spPr>
          <a:xfrm>
            <a:off x="65722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572250" y="4542896"/>
            <a:ext cx="56578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Добавить чат для общения с бухгалтером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20967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1" name="Text 9"/>
          <p:cNvSpPr/>
          <p:nvPr/>
        </p:nvSpPr>
        <p:spPr>
          <a:xfrm>
            <a:off x="120967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6750" y="4542896"/>
            <a:ext cx="5297805" cy="2738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ввод в бухгалтерскую программу 1С следующих документов, полученных от клиентов сервиса: банковские выписки, акты сверок, кадровые документы на приём, увольнение сотрудника, начисление заработной платы и отпускных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6814933" y="9589823"/>
            <a:ext cx="501518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/ 16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2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ПРЕДМЕТ ГРАНТА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4716125" cy="1127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151"/>
              </a:lnSpc>
              <a:buNone/>
            </a:pPr>
            <a:r>
              <a:rPr lang="en-US" sz="3900" b="1" spc="-58" kern="0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планируется доработать в Сервисе за счёт средств Гранта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1047750" y="4547791"/>
            <a:ext cx="95250" cy="2179108"/>
          </a:xfrm>
          <a:prstGeom prst="rect">
            <a:avLst/>
          </a:prstGeom>
          <a:solidFill>
            <a:srgbClr val="D73A61"/>
          </a:solidFill>
          <a:ln/>
        </p:spPr>
      </p:sp>
      <p:sp>
        <p:nvSpPr>
          <p:cNvPr id="5" name="Text 3"/>
          <p:cNvSpPr/>
          <p:nvPr/>
        </p:nvSpPr>
        <p:spPr>
          <a:xfrm>
            <a:off x="1581150" y="4547791"/>
            <a:ext cx="14716125" cy="2217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68"/>
              </a:lnSpc>
              <a:buNone/>
            </a:pPr>
            <a:r>
              <a:rPr lang="en-US" sz="3300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формирование и обработку в 1С первичных документов (счетов, актов, УПД) для клиента в режиме 24/7 без участия бухгалтера путём получения от клиента задачи в виде текста или голосового сообщения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F2F3ED">
              <a:alpha val="3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821812" y="9589823"/>
            <a:ext cx="49463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 / 16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ПРЕДМЕТ ГРАНТА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Суть ИТ-решения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3061494"/>
            <a:ext cx="15206662" cy="149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нашем онлайн-сервисе клиент обращается к ИИ-помощнику «Бухдеск», который подключается к бухгалтерской базе 1С клиента и по заданию клиента (путём печатного или голосового ввода данных) сервис создаёт счёт на оплату или УПД/акт выполненных работ без помощи бухгалтера.</a:t>
            </a:r>
            <a:endParaRPr lang="en-US" sz="2475" dirty="0"/>
          </a:p>
        </p:txBody>
      </p:sp>
      <p:sp>
        <p:nvSpPr>
          <p:cNvPr id="5" name="Text 3"/>
          <p:cNvSpPr/>
          <p:nvPr/>
        </p:nvSpPr>
        <p:spPr>
          <a:xfrm>
            <a:off x="1047750" y="4903787"/>
            <a:ext cx="15206662" cy="149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самостоятельно в справочниках учётной системы клиента подбирает необходимых контрагентов и номенклатуру товара или услуги, выставляет необходимое количество и цену, ставку НДС.</a:t>
            </a:r>
            <a:endParaRPr lang="en-US" sz="2475" dirty="0"/>
          </a:p>
        </p:txBody>
      </p:sp>
      <p:sp>
        <p:nvSpPr>
          <p:cNvPr id="6" name="Text 4"/>
          <p:cNvSpPr/>
          <p:nvPr/>
        </p:nvSpPr>
        <p:spPr>
          <a:xfrm>
            <a:off x="1047750" y="6746081"/>
            <a:ext cx="15206662" cy="1012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основании текстовых сообщений или голосовых комментариев от клиента созданные документы корректируются до нужных значений.</a:t>
            </a:r>
            <a:endParaRPr lang="en-US" sz="2475" dirty="0"/>
          </a:p>
        </p:txBody>
      </p:sp>
      <p:sp>
        <p:nvSpPr>
          <p:cNvPr id="7" name="Shape 5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" name="Text 6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/ 16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Технологическая основа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4431771"/>
            <a:ext cx="3548063" cy="3566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44317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352550" y="48466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52550" y="5336117"/>
            <a:ext cx="302661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пользователь печатает или надиктовывает текст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557713" y="55670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262563" y="4431771"/>
            <a:ext cx="3548063" cy="3566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5262563" y="44317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5567363" y="48466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5567363" y="5336117"/>
            <a:ext cx="3232309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 извлекает данные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8772525" y="55670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477375" y="4431771"/>
            <a:ext cx="3548063" cy="3566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9477375" y="44317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782175" y="48466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9782175" y="5336117"/>
            <a:ext cx="302661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создаёт документ в 1С через OData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987338" y="55670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13692188" y="4431771"/>
            <a:ext cx="3548063" cy="3566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13692188" y="44317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20" name="Text 18"/>
          <p:cNvSpPr/>
          <p:nvPr/>
        </p:nvSpPr>
        <p:spPr>
          <a:xfrm>
            <a:off x="13996988" y="48466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4</a:t>
            </a:r>
            <a:endParaRPr lang="en-US" sz="1575" dirty="0"/>
          </a:p>
        </p:txBody>
      </p:sp>
      <p:sp>
        <p:nvSpPr>
          <p:cNvPr id="21" name="Text 19"/>
          <p:cNvSpPr/>
          <p:nvPr/>
        </p:nvSpPr>
        <p:spPr>
          <a:xfrm>
            <a:off x="13996988" y="5336117"/>
            <a:ext cx="302661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передаёт документ клиенту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6830411" y="9589823"/>
            <a:ext cx="486040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 / 16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51435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АКТУАЛЬНОСТЬ И СОЦИАЛЬНАЯ ЗНАЧИМОСТЬ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946679"/>
            <a:ext cx="16187738" cy="10019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815"/>
              </a:lnSpc>
              <a:buNone/>
            </a:pPr>
            <a:r>
              <a:rPr lang="en-US" sz="3300" b="1" spc="-49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Одна из самых частых жалоб предпринимателей на бухгалтеров — НЕОПЕРАТИВНОЕ реагирование на срочные задачи.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047750" y="2082006"/>
            <a:ext cx="15206662" cy="80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536"/>
              </a:lnSpc>
              <a:buNone/>
            </a:pPr>
            <a:r>
              <a:rPr lang="en-US" sz="195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ИИ-помощник в бухгалтерии — это поддержка бизнеса в условиях текущей экономической ситуации и возможность компенсировать рост издержек из-за роста налогов.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47750" y="3173412"/>
            <a:ext cx="17811750" cy="358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545"/>
              </a:lnSpc>
              <a:buNone/>
            </a:pPr>
            <a:r>
              <a:rPr lang="en-US" sz="1800" spc="108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ЭФФЕКТ ОТ ЗАМЕНЫ БУХГАЛТЕРА-ПЕРВИЧНИКА НА ИИ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7750" y="3664876"/>
            <a:ext cx="16192500" cy="5649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047750" y="4468283"/>
            <a:ext cx="5334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836326"/>
            <a:ext cx="4922520" cy="4986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90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ПОКАЗАТЕЛЬ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81750" y="4468283"/>
            <a:ext cx="10858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0" name="Text 8"/>
          <p:cNvSpPr/>
          <p:nvPr/>
        </p:nvSpPr>
        <p:spPr>
          <a:xfrm>
            <a:off x="6667500" y="3836326"/>
            <a:ext cx="10612755" cy="4986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90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ОЗНАЧАЕТ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47750" y="5441024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4694767"/>
            <a:ext cx="4922520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от 45 до 80 тыс. руб./мес.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6381750" y="5441024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6667500" y="4694767"/>
            <a:ext cx="10612755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Экономия компании на зарплате сотрудника на 1 сотрудника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47750" y="6405298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5659041"/>
            <a:ext cx="4922520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 20 часов в месяц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6381750" y="6405298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6667500" y="5659041"/>
            <a:ext cx="10612755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Экономия времени предпринимателя, который сам выставляет клиентам счета и акты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47750" y="7369704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6623315"/>
            <a:ext cx="4922520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 80–90%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6381750" y="7369704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2" name="Text 20"/>
          <p:cNvSpPr/>
          <p:nvPr/>
        </p:nvSpPr>
        <p:spPr>
          <a:xfrm>
            <a:off x="6667500" y="6623315"/>
            <a:ext cx="10612755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Снижение ошибок в первичке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047750" y="8334111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333500" y="7587721"/>
            <a:ext cx="4922520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3–10 раз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6381750" y="8334111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6" name="Text 24"/>
          <p:cNvSpPr/>
          <p:nvPr/>
        </p:nvSpPr>
        <p:spPr>
          <a:xfrm>
            <a:off x="6667500" y="7587721"/>
            <a:ext cx="10612755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Скорость обработки документов быстрее ручного ввода в круглосуточном режиме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333500" y="8552127"/>
            <a:ext cx="4922520" cy="59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20–25%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6667500" y="8552127"/>
            <a:ext cx="10612755" cy="59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79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Увеличение продаж за счёт ускорения реагирования на заявки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047750" y="95051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30" name="Text 28"/>
          <p:cNvSpPr/>
          <p:nvPr/>
        </p:nvSpPr>
        <p:spPr>
          <a:xfrm>
            <a:off x="1047750" y="96660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6820488" y="9666023"/>
            <a:ext cx="495961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 / 16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Технологическая основа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2341615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341615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413933" y="2703565"/>
            <a:ext cx="7500863" cy="12895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Веб-интерфейс </a:t>
            </a:r>
            <a:pPr algn="l" indent="0" marL="0">
              <a:lnSpc>
                <a:spcPct val="125481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удобные формы, шаблоны, история и выгрузки. Сервис не зависит от мессенджеров, которые могут быть заблокированы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267825" y="2341615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267825" y="2341615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8" name="Text 6"/>
          <p:cNvSpPr/>
          <p:nvPr/>
        </p:nvSpPr>
        <p:spPr>
          <a:xfrm>
            <a:off x="9634008" y="2703565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Распознавание и понимание </a:t>
            </a:r>
            <a:pPr algn="l" indent="0" marL="0">
              <a:lnSpc>
                <a:spcPct val="125481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SpeechKit + YandexGPT извлекают данные из речи и текста</a:t>
            </a:r>
            <a:endParaRPr lang="en-US" sz="2175" dirty="0"/>
          </a:p>
        </p:txBody>
      </p:sp>
      <p:sp>
        <p:nvSpPr>
          <p:cNvPr id="9" name="Shape 7"/>
          <p:cNvSpPr/>
          <p:nvPr/>
        </p:nvSpPr>
        <p:spPr>
          <a:xfrm>
            <a:off x="1047750" y="5449824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047750" y="5449824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1" name="Text 9"/>
          <p:cNvSpPr/>
          <p:nvPr/>
        </p:nvSpPr>
        <p:spPr>
          <a:xfrm>
            <a:off x="1413933" y="5815584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Интеграция через OData </a:t>
            </a:r>
            <a:pPr algn="l" indent="0" marL="0">
              <a:lnSpc>
                <a:spcPct val="125481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создание счетов и актов без доработки конфигурации 1С</a:t>
            </a:r>
            <a:endParaRPr lang="en-US" sz="2175" dirty="0"/>
          </a:p>
        </p:txBody>
      </p:sp>
      <p:sp>
        <p:nvSpPr>
          <p:cNvPr id="12" name="Shape 10"/>
          <p:cNvSpPr/>
          <p:nvPr/>
        </p:nvSpPr>
        <p:spPr>
          <a:xfrm>
            <a:off x="9267825" y="5449824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267825" y="5449824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4" name="Text 12"/>
          <p:cNvSpPr/>
          <p:nvPr/>
        </p:nvSpPr>
        <p:spPr>
          <a:xfrm>
            <a:off x="9634008" y="5815584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Контроль и безопасность </a:t>
            </a:r>
            <a:pPr algn="l" indent="0" marL="0">
              <a:lnSpc>
                <a:spcPct val="125481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превью документа, подтверждение, роли и полный аудит действий</a:t>
            </a:r>
            <a:endParaRPr lang="en-US" sz="2175" dirty="0"/>
          </a:p>
        </p:txBody>
      </p:sp>
      <p:sp>
        <p:nvSpPr>
          <p:cNvPr id="15" name="Shape 13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6" name="Text 14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9 / 16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62865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СРАВНЕНИЕ С КОНКУРЕНТАМИ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041929"/>
            <a:ext cx="17811750" cy="572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548"/>
              </a:lnSpc>
              <a:buNone/>
            </a:pPr>
            <a:r>
              <a:rPr lang="en-US" sz="3900" b="1" spc="-58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Чем «Бухдеск» отличается от аналогов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047750" y="1729184"/>
            <a:ext cx="14716125" cy="776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217"/>
              </a:lnSpc>
              <a:buNone/>
            </a:pPr>
            <a:r>
              <a:rPr lang="en-US" sz="187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рынке нет подобного сервиса, создающего комплексную инфраструктуру для бухгалтерского, налогового и управленческого учёта компаний.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1047750" y="2791222"/>
            <a:ext cx="16192500" cy="6428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47750" y="3614340"/>
            <a:ext cx="655981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2981722"/>
            <a:ext cx="6261309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90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КРИТЕРИЙ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07565" y="3614340"/>
            <a:ext cx="2140611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7740915" y="2981722"/>
            <a:ext cx="1873911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Entera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748176" y="3614340"/>
            <a:ext cx="2140479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9881526" y="2981722"/>
            <a:ext cx="1873779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ARQA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888656" y="3614340"/>
            <a:ext cx="2589477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21264" y="2981722"/>
            <a:ext cx="2324261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Кнопка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4478133" y="2791222"/>
            <a:ext cx="2761985" cy="840052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14608153" y="2981722"/>
            <a:ext cx="2501945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Бухдеск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4505854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3840824"/>
            <a:ext cx="6261309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Своя бухгалтерская экспертиза (15 лет)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7607565" y="4505854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7740915" y="3840824"/>
            <a:ext cx="1873911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748176" y="4505854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9881526" y="3840824"/>
            <a:ext cx="1873779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1888656" y="4505854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3" name="Text 21"/>
          <p:cNvSpPr/>
          <p:nvPr/>
        </p:nvSpPr>
        <p:spPr>
          <a:xfrm>
            <a:off x="12021264" y="3840824"/>
            <a:ext cx="2324261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14478133" y="3631274"/>
            <a:ext cx="2761985" cy="883047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4608153" y="3840824"/>
            <a:ext cx="2501945" cy="502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1047750" y="5389033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7" name="Text 25"/>
          <p:cNvSpPr/>
          <p:nvPr/>
        </p:nvSpPr>
        <p:spPr>
          <a:xfrm>
            <a:off x="1295400" y="4723871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Личный кабинет клиента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7607565" y="5389033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740915" y="4723871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9748176" y="5389033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9881526" y="4723871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1888656" y="5389033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2021264" y="4723871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14478133" y="4514321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4608153" y="4723871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047750" y="6272213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7" name="Text 35"/>
          <p:cNvSpPr/>
          <p:nvPr/>
        </p:nvSpPr>
        <p:spPr>
          <a:xfrm>
            <a:off x="1295400" y="5607050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Интеграция с 1С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7607565" y="6272213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9" name="Text 37"/>
          <p:cNvSpPr/>
          <p:nvPr/>
        </p:nvSpPr>
        <p:spPr>
          <a:xfrm>
            <a:off x="7740915" y="5607050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9748176" y="6272213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1" name="Text 39"/>
          <p:cNvSpPr/>
          <p:nvPr/>
        </p:nvSpPr>
        <p:spPr>
          <a:xfrm>
            <a:off x="9881526" y="5607050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1888656" y="6272213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3" name="Text 41"/>
          <p:cNvSpPr/>
          <p:nvPr/>
        </p:nvSpPr>
        <p:spPr>
          <a:xfrm>
            <a:off x="12021264" y="5607050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4154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Своя система</a:t>
            </a:r>
            <a:endParaRPr lang="en-US" sz="1875" dirty="0"/>
          </a:p>
        </p:txBody>
      </p:sp>
      <p:sp>
        <p:nvSpPr>
          <p:cNvPr id="44" name="Shape 42"/>
          <p:cNvSpPr/>
          <p:nvPr/>
        </p:nvSpPr>
        <p:spPr>
          <a:xfrm>
            <a:off x="14478133" y="5397500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14608153" y="5607050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1047750" y="7155392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7" name="Text 45"/>
          <p:cNvSpPr/>
          <p:nvPr/>
        </p:nvSpPr>
        <p:spPr>
          <a:xfrm>
            <a:off x="1295400" y="6490229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Входит в комплекс аутсорсингового обслуживания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7607565" y="7155392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7740915" y="6490229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9748176" y="7155392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9881526" y="6490229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1888656" y="7155392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12021264" y="6490229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54" name="Shape 52"/>
          <p:cNvSpPr/>
          <p:nvPr/>
        </p:nvSpPr>
        <p:spPr>
          <a:xfrm>
            <a:off x="14478133" y="6280679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4608153" y="6490229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047750" y="8324321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1295400" y="7373409"/>
            <a:ext cx="6261309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Автоматическая обработка первички (текст → документы 1С)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7607565" y="8324321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7740915" y="7373409"/>
            <a:ext cx="1873911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9748176" y="8324321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9881526" y="7373409"/>
            <a:ext cx="1873779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1888656" y="8324321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2021264" y="7373409"/>
            <a:ext cx="2324261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14478133" y="7163859"/>
            <a:ext cx="2761985" cy="116892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4608153" y="7373409"/>
            <a:ext cx="2501945" cy="7879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6" name="Text 64"/>
          <p:cNvSpPr/>
          <p:nvPr/>
        </p:nvSpPr>
        <p:spPr>
          <a:xfrm>
            <a:off x="1295400" y="8542337"/>
            <a:ext cx="6261309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945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ИИ-агент (голос → документы 1С)</a:t>
            </a:r>
            <a:endParaRPr lang="en-US" sz="1875" dirty="0"/>
          </a:p>
        </p:txBody>
      </p:sp>
      <p:sp>
        <p:nvSpPr>
          <p:cNvPr id="67" name="Text 65"/>
          <p:cNvSpPr/>
          <p:nvPr/>
        </p:nvSpPr>
        <p:spPr>
          <a:xfrm>
            <a:off x="7740915" y="8542337"/>
            <a:ext cx="1873911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8" name="Text 66"/>
          <p:cNvSpPr/>
          <p:nvPr/>
        </p:nvSpPr>
        <p:spPr>
          <a:xfrm>
            <a:off x="9881526" y="8542337"/>
            <a:ext cx="1873779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9" name="Text 67"/>
          <p:cNvSpPr/>
          <p:nvPr/>
        </p:nvSpPr>
        <p:spPr>
          <a:xfrm>
            <a:off x="12021264" y="8542337"/>
            <a:ext cx="2324261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4478133" y="8332787"/>
            <a:ext cx="2761985" cy="88661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4608153" y="8542337"/>
            <a:ext cx="2501945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047750" y="94670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73" name="Text 71"/>
          <p:cNvSpPr/>
          <p:nvPr/>
        </p:nvSpPr>
        <p:spPr>
          <a:xfrm>
            <a:off x="1047750" y="96279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16748125" y="9627923"/>
            <a:ext cx="568325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 / 16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СРАВНЕНИЕ С КОНКУРЕНТАМИ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Главное отличие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4933024"/>
            <a:ext cx="7995761" cy="1410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705"/>
              </a:lnSpc>
              <a:buNone/>
            </a:pPr>
            <a:r>
              <a:rPr lang="en-US" sz="23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— не просто софт, а отраслевая вертикаль: 15-летний бухгалтерский опыт + IT-платформа + разрабатываемый ИИ-агент.</a:t>
            </a:r>
            <a:endParaRPr lang="en-US" sz="2325" dirty="0"/>
          </a:p>
        </p:txBody>
      </p:sp>
      <p:sp>
        <p:nvSpPr>
          <p:cNvPr id="5" name="Shape 3"/>
          <p:cNvSpPr/>
          <p:nvPr/>
        </p:nvSpPr>
        <p:spPr>
          <a:xfrm>
            <a:off x="9477375" y="3988858"/>
            <a:ext cx="7762875" cy="25400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6" name="Text 4"/>
          <p:cNvSpPr/>
          <p:nvPr/>
        </p:nvSpPr>
        <p:spPr>
          <a:xfrm>
            <a:off x="9477375" y="4280958"/>
            <a:ext cx="8539163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2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КОНКУРЕНТЫ ПРЕДЛАГАЮТ</a:t>
            </a:r>
            <a:endParaRPr lang="en-US" sz="1575" dirty="0"/>
          </a:p>
        </p:txBody>
      </p:sp>
      <p:sp>
        <p:nvSpPr>
          <p:cNvPr id="7" name="Text 5"/>
          <p:cNvSpPr/>
          <p:nvPr/>
        </p:nvSpPr>
        <p:spPr>
          <a:xfrm>
            <a:off x="9477375" y="4770438"/>
            <a:ext cx="7995761" cy="2517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Либо софт как отдельную функцию без бухгалтерского аутсорсинга (Entera, при этом сервис запущен только в сентябре 2026 года и работает в тестовом режиме), ARQA), либо еще не реализовали функцию постановки задач голосом (Кнопка), либо предлагают экспертизу без автоматизации (классический аутсорсинг).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9" name="Text 7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797867" y="9589823"/>
            <a:ext cx="51858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11 / 16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Перспективы проекта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047750" y="3434027"/>
            <a:ext cx="7946708" cy="4014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3846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 нашему мнению, передача ввода первичной документации на ИИ — только начинается и в ближайшие годы будет развиваться с помощью множества сервисов. В настоящее время есть единицы таких решений, пока не получившие известности и массового использования из-за большого количества недоработок, отсутствия гарантий конфиденциальности для клиентов (в том числе нет гарантий отсутствия трансграничной передачи данных из-за использования иностранных моделей ИИ).</a:t>
            </a:r>
            <a:endParaRPr lang="en-US" sz="2175" dirty="0"/>
          </a:p>
        </p:txBody>
      </p:sp>
      <p:sp>
        <p:nvSpPr>
          <p:cNvPr id="4" name="Shape 2"/>
          <p:cNvSpPr/>
          <p:nvPr/>
        </p:nvSpPr>
        <p:spPr>
          <a:xfrm>
            <a:off x="9525000" y="3875881"/>
            <a:ext cx="42333" cy="3092979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9929283" y="3875881"/>
            <a:ext cx="7542424" cy="313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3846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Для клиентов, работающих с бухгалтерским аутсорсингом, наше решение будет оптимальным, так как оно является комплексным, клиенты уже доверили нам свою бухгалтерию, и это значит, что они уверены в безопасности данных, кроме того, им не потребуется подключать дополнительные сервисы и вникать в их изучение.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7" name="Text 5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766117" y="9589823"/>
            <a:ext cx="55033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12 / 16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Перспективы проекта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245908"/>
            <a:ext cx="4953000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3245908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79825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71600" y="4169304"/>
            <a:ext cx="4434459" cy="921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Налоговая реформа создала всплеск спроса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62650" y="4354645"/>
            <a:ext cx="74295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8125"/>
              </a:lnSpc>
              <a:buNone/>
            </a:pPr>
            <a:r>
              <a:rPr lang="en-US" sz="36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667500" y="3245908"/>
            <a:ext cx="4953000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667500" y="3245908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6991350" y="3679825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6991350" y="4169304"/>
            <a:ext cx="4434459" cy="921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дефицит кадров стимулирует рост аутсорсинга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582400" y="4354645"/>
            <a:ext cx="74295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8125"/>
              </a:lnSpc>
              <a:buNone/>
            </a:pPr>
            <a:r>
              <a:rPr lang="en-US" sz="36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2287250" y="3129227"/>
            <a:ext cx="4953000" cy="30908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287250" y="3129227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11100" y="3563144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12611100" y="4052623"/>
            <a:ext cx="4434459" cy="18055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ИИ-автоматизация — единственный способ масштабироваться без увеличения штата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47750" y="6734440"/>
            <a:ext cx="178117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74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находится в точке пересечения всех трёх трендов.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9" name="Text 17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6765323" y="9589823"/>
            <a:ext cx="55112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13 / 16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62865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Бюджет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549135"/>
            <a:ext cx="16192500" cy="67521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271051"/>
            <a:ext cx="857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1720585"/>
            <a:ext cx="5524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1905000" y="2271051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2095500" y="1720585"/>
            <a:ext cx="5750719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СТАТЬЯ РАСХОДОВ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7858125" y="2271051"/>
            <a:ext cx="2190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7972425" y="1720585"/>
            <a:ext cx="18859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СУММА, ₽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10048875" y="2271051"/>
            <a:ext cx="1238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10163175" y="1720585"/>
            <a:ext cx="9334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ДОЛЯ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1287125" y="2271051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77625" y="1720585"/>
            <a:ext cx="5750719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ЗАНЯТОСТЬ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1047750" y="3128036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" y="2478484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1.1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905000" y="312803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2095500" y="2478484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Python/AI-разработчик (Middle)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7858125" y="3128036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7972425" y="2478484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575 000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0048875" y="3128036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10163175" y="2478484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13,8%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1287125" y="312803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3" name="Text 21"/>
          <p:cNvSpPr/>
          <p:nvPr/>
        </p:nvSpPr>
        <p:spPr>
          <a:xfrm>
            <a:off x="11477625" y="2478484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250 000 ₽, 4 мес, 50%</a:t>
            </a:r>
            <a:endParaRPr lang="en-US" sz="1725" dirty="0"/>
          </a:p>
        </p:txBody>
      </p:sp>
      <p:sp>
        <p:nvSpPr>
          <p:cNvPr id="24" name="Shape 22"/>
          <p:cNvSpPr/>
          <p:nvPr/>
        </p:nvSpPr>
        <p:spPr>
          <a:xfrm>
            <a:off x="1047750" y="3976555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5" name="Text 23"/>
          <p:cNvSpPr/>
          <p:nvPr/>
        </p:nvSpPr>
        <p:spPr>
          <a:xfrm>
            <a:off x="1238250" y="3327003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1.2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1905000" y="397655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7" name="Text 25"/>
          <p:cNvSpPr/>
          <p:nvPr/>
        </p:nvSpPr>
        <p:spPr>
          <a:xfrm>
            <a:off x="2095500" y="3327003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Бэкенд-разработчик / архитектор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7858125" y="3976555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972425" y="3327003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1 265 000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10048875" y="3976555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10163175" y="3327003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30,5%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1287125" y="397655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1477625" y="3327003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220 000 ₽, 5 мес, 100%</a:t>
            </a:r>
            <a:endParaRPr lang="en-US" sz="1725" dirty="0"/>
          </a:p>
        </p:txBody>
      </p:sp>
      <p:sp>
        <p:nvSpPr>
          <p:cNvPr id="34" name="Shape 32"/>
          <p:cNvSpPr/>
          <p:nvPr/>
        </p:nvSpPr>
        <p:spPr>
          <a:xfrm>
            <a:off x="1047750" y="4825074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5" name="Text 33"/>
          <p:cNvSpPr/>
          <p:nvPr/>
        </p:nvSpPr>
        <p:spPr>
          <a:xfrm>
            <a:off x="1238250" y="4175522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1.3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905000" y="4825074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7" name="Text 35"/>
          <p:cNvSpPr/>
          <p:nvPr/>
        </p:nvSpPr>
        <p:spPr>
          <a:xfrm>
            <a:off x="2095500" y="4175522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Фронтенд-разработчик (React/Vue)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7858125" y="4825074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9" name="Text 37"/>
          <p:cNvSpPr/>
          <p:nvPr/>
        </p:nvSpPr>
        <p:spPr>
          <a:xfrm>
            <a:off x="7972425" y="4175522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828 000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10048875" y="4825074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1" name="Text 39"/>
          <p:cNvSpPr/>
          <p:nvPr/>
        </p:nvSpPr>
        <p:spPr>
          <a:xfrm>
            <a:off x="10163175" y="4175522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19,9%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1287125" y="4825074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3" name="Text 41"/>
          <p:cNvSpPr/>
          <p:nvPr/>
        </p:nvSpPr>
        <p:spPr>
          <a:xfrm>
            <a:off x="11477625" y="4175522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180 000 ₽, 4 мес, 100%</a:t>
            </a:r>
            <a:endParaRPr lang="en-US" sz="1725" dirty="0"/>
          </a:p>
        </p:txBody>
      </p:sp>
      <p:sp>
        <p:nvSpPr>
          <p:cNvPr id="44" name="Shape 42"/>
          <p:cNvSpPr/>
          <p:nvPr/>
        </p:nvSpPr>
        <p:spPr>
          <a:xfrm>
            <a:off x="1047750" y="5673725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5" name="Text 43"/>
          <p:cNvSpPr/>
          <p:nvPr/>
        </p:nvSpPr>
        <p:spPr>
          <a:xfrm>
            <a:off x="1238250" y="5024041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1.4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1905000" y="567372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7" name="Text 45"/>
          <p:cNvSpPr/>
          <p:nvPr/>
        </p:nvSpPr>
        <p:spPr>
          <a:xfrm>
            <a:off x="2095500" y="5024041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Тестировщик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7858125" y="5673725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7972425" y="5024041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460 000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10048875" y="5673725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10163175" y="5024041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11,1%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1287125" y="567372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11477625" y="5024041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80 000 ₽, 5 мес, 100%</a:t>
            </a:r>
            <a:endParaRPr lang="en-US" sz="1725" dirty="0"/>
          </a:p>
        </p:txBody>
      </p:sp>
      <p:sp>
        <p:nvSpPr>
          <p:cNvPr id="54" name="Shape 52"/>
          <p:cNvSpPr/>
          <p:nvPr/>
        </p:nvSpPr>
        <p:spPr>
          <a:xfrm>
            <a:off x="1047750" y="6522376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5" name="Text 53"/>
          <p:cNvSpPr/>
          <p:nvPr/>
        </p:nvSpPr>
        <p:spPr>
          <a:xfrm>
            <a:off x="1238250" y="5872692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1.5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905000" y="652237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2095500" y="5872692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Системный аналитик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7858125" y="6522376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7972425" y="5872692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431 250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10048875" y="6522376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10163175" y="5872692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10,4%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1287125" y="652237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1477625" y="5872692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150 000 ₽, 5 мес, 50%</a:t>
            </a:r>
            <a:endParaRPr lang="en-US" sz="1725" dirty="0"/>
          </a:p>
        </p:txBody>
      </p:sp>
      <p:sp>
        <p:nvSpPr>
          <p:cNvPr id="64" name="Shape 62"/>
          <p:cNvSpPr/>
          <p:nvPr/>
        </p:nvSpPr>
        <p:spPr>
          <a:xfrm>
            <a:off x="1047750" y="7371027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5" name="Text 63"/>
          <p:cNvSpPr/>
          <p:nvPr/>
        </p:nvSpPr>
        <p:spPr>
          <a:xfrm>
            <a:off x="1238250" y="6721343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1.6</a:t>
            </a:r>
            <a:endParaRPr lang="en-US" sz="1875" dirty="0"/>
          </a:p>
        </p:txBody>
      </p:sp>
      <p:sp>
        <p:nvSpPr>
          <p:cNvPr id="66" name="Shape 64"/>
          <p:cNvSpPr/>
          <p:nvPr/>
        </p:nvSpPr>
        <p:spPr>
          <a:xfrm>
            <a:off x="1905000" y="7371027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7" name="Text 65"/>
          <p:cNvSpPr/>
          <p:nvPr/>
        </p:nvSpPr>
        <p:spPr>
          <a:xfrm>
            <a:off x="2095500" y="6721343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Руководитель проекта</a:t>
            </a:r>
            <a:endParaRPr lang="en-US" sz="1875" dirty="0"/>
          </a:p>
        </p:txBody>
      </p:sp>
      <p:sp>
        <p:nvSpPr>
          <p:cNvPr id="68" name="Shape 66"/>
          <p:cNvSpPr/>
          <p:nvPr/>
        </p:nvSpPr>
        <p:spPr>
          <a:xfrm>
            <a:off x="7858125" y="7371027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9" name="Text 67"/>
          <p:cNvSpPr/>
          <p:nvPr/>
        </p:nvSpPr>
        <p:spPr>
          <a:xfrm>
            <a:off x="7972425" y="6721343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258 750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0048875" y="7371027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1" name="Text 69"/>
          <p:cNvSpPr/>
          <p:nvPr/>
        </p:nvSpPr>
        <p:spPr>
          <a:xfrm>
            <a:off x="10163175" y="6721343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6,2%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1287125" y="7371027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3" name="Text 71"/>
          <p:cNvSpPr/>
          <p:nvPr/>
        </p:nvSpPr>
        <p:spPr>
          <a:xfrm>
            <a:off x="11477625" y="6721343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150 000 ₽, 5 мес, 30%</a:t>
            </a:r>
            <a:endParaRPr lang="en-US" sz="1725" dirty="0"/>
          </a:p>
        </p:txBody>
      </p:sp>
      <p:sp>
        <p:nvSpPr>
          <p:cNvPr id="74" name="Shape 72"/>
          <p:cNvSpPr/>
          <p:nvPr/>
        </p:nvSpPr>
        <p:spPr>
          <a:xfrm>
            <a:off x="1047750" y="7379494"/>
            <a:ext cx="857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5" name="Shape 73"/>
          <p:cNvSpPr/>
          <p:nvPr/>
        </p:nvSpPr>
        <p:spPr>
          <a:xfrm>
            <a:off x="1905000" y="7379494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6" name="Text 74"/>
          <p:cNvSpPr/>
          <p:nvPr/>
        </p:nvSpPr>
        <p:spPr>
          <a:xfrm>
            <a:off x="2095500" y="7605977"/>
            <a:ext cx="575071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Итого по ФОТ</a:t>
            </a:r>
            <a:endParaRPr lang="en-US" sz="2025" dirty="0"/>
          </a:p>
        </p:txBody>
      </p:sp>
      <p:sp>
        <p:nvSpPr>
          <p:cNvPr id="77" name="Shape 75"/>
          <p:cNvSpPr/>
          <p:nvPr/>
        </p:nvSpPr>
        <p:spPr>
          <a:xfrm>
            <a:off x="7858125" y="7379494"/>
            <a:ext cx="2190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8" name="Text 76"/>
          <p:cNvSpPr/>
          <p:nvPr/>
        </p:nvSpPr>
        <p:spPr>
          <a:xfrm>
            <a:off x="7972425" y="7605977"/>
            <a:ext cx="18859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3 818 000</a:t>
            </a:r>
            <a:endParaRPr lang="en-US" sz="2025" dirty="0"/>
          </a:p>
        </p:txBody>
      </p:sp>
      <p:sp>
        <p:nvSpPr>
          <p:cNvPr id="79" name="Shape 77"/>
          <p:cNvSpPr/>
          <p:nvPr/>
        </p:nvSpPr>
        <p:spPr>
          <a:xfrm>
            <a:off x="10048875" y="7379494"/>
            <a:ext cx="1238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0" name="Text 78"/>
          <p:cNvSpPr/>
          <p:nvPr/>
        </p:nvSpPr>
        <p:spPr>
          <a:xfrm>
            <a:off x="10163175" y="7605977"/>
            <a:ext cx="9334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91,9%</a:t>
            </a:r>
            <a:endParaRPr lang="en-US" sz="2025" dirty="0"/>
          </a:p>
        </p:txBody>
      </p:sp>
      <p:sp>
        <p:nvSpPr>
          <p:cNvPr id="81" name="Shape 79"/>
          <p:cNvSpPr/>
          <p:nvPr/>
        </p:nvSpPr>
        <p:spPr>
          <a:xfrm>
            <a:off x="11287125" y="7379494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2" name="Text 80"/>
          <p:cNvSpPr/>
          <p:nvPr/>
        </p:nvSpPr>
        <p:spPr>
          <a:xfrm>
            <a:off x="11477625" y="7605977"/>
            <a:ext cx="575071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ФОТ 3 320 000 ₽ + взносы 498 000 ₽</a:t>
            </a:r>
            <a:endParaRPr lang="en-US" sz="1725" dirty="0"/>
          </a:p>
        </p:txBody>
      </p:sp>
      <p:sp>
        <p:nvSpPr>
          <p:cNvPr id="83" name="Text 81"/>
          <p:cNvSpPr/>
          <p:nvPr/>
        </p:nvSpPr>
        <p:spPr>
          <a:xfrm>
            <a:off x="1047750" y="8548952"/>
            <a:ext cx="15697200" cy="74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18"/>
              </a:lnSpc>
              <a:buNone/>
            </a:pPr>
            <a:r>
              <a:rPr lang="en-US" sz="180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Этапы: подготовительный (разработка архитектуры) — 1 месяц; разработка сервиса — 3 месяца; наладка бета-версии и тестовая эксплуатация — 2 месяца.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1047750" y="94670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5" name="Text 83"/>
          <p:cNvSpPr/>
          <p:nvPr/>
        </p:nvSpPr>
        <p:spPr>
          <a:xfrm>
            <a:off x="1047750" y="96279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6" name="Text 84"/>
          <p:cNvSpPr/>
          <p:nvPr/>
        </p:nvSpPr>
        <p:spPr>
          <a:xfrm>
            <a:off x="16756724" y="9627923"/>
            <a:ext cx="55972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14 / 16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4572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Бюджет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282435"/>
            <a:ext cx="16192500" cy="73104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029883"/>
            <a:ext cx="952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1453885"/>
            <a:ext cx="60960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2000250" y="2029883"/>
            <a:ext cx="11525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2209800" y="1453885"/>
            <a:ext cx="11451908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СТАТЬЯ РАСХОДОВ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13525500" y="2029883"/>
            <a:ext cx="2286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13658850" y="1453885"/>
            <a:ext cx="194310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СУММА, ₽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15811500" y="2029883"/>
            <a:ext cx="1428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15944850" y="1453885"/>
            <a:ext cx="108585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ДОЛЯ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047750" y="2046817"/>
            <a:ext cx="16192500" cy="643599"/>
          </a:xfrm>
          <a:prstGeom prst="rect">
            <a:avLst/>
          </a:prstGeom>
          <a:solidFill>
            <a:srgbClr val="ABAD58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7750" y="2681949"/>
            <a:ext cx="1619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1257300" y="2142067"/>
            <a:ext cx="16259175" cy="482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00"/>
              </a:lnSpc>
              <a:buNone/>
            </a:pPr>
            <a:r>
              <a:rPr lang="en-US" sz="16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 Yandex AI API и облако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47750" y="3308482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1257300" y="2757091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2.1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2000250" y="3308482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2209800" y="2757091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YandexGPT API (Foundation Models)</a:t>
            </a:r>
            <a:endParaRPr lang="en-US" sz="1875" dirty="0"/>
          </a:p>
        </p:txBody>
      </p:sp>
      <p:sp>
        <p:nvSpPr>
          <p:cNvPr id="19" name="Shape 17"/>
          <p:cNvSpPr/>
          <p:nvPr/>
        </p:nvSpPr>
        <p:spPr>
          <a:xfrm>
            <a:off x="13525500" y="3308482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0" name="Text 18"/>
          <p:cNvSpPr/>
          <p:nvPr/>
        </p:nvSpPr>
        <p:spPr>
          <a:xfrm>
            <a:off x="13658850" y="2757091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72 000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15811500" y="3308482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2" name="Text 20"/>
          <p:cNvSpPr/>
          <p:nvPr/>
        </p:nvSpPr>
        <p:spPr>
          <a:xfrm>
            <a:off x="15944850" y="2757091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1,7%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047750" y="3935016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257300" y="3383624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2.2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2000250" y="3935016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6" name="Text 24"/>
          <p:cNvSpPr/>
          <p:nvPr/>
        </p:nvSpPr>
        <p:spPr>
          <a:xfrm>
            <a:off x="2209800" y="3383624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SpeechKit STT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3525500" y="3935016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8" name="Text 26"/>
          <p:cNvSpPr/>
          <p:nvPr/>
        </p:nvSpPr>
        <p:spPr>
          <a:xfrm>
            <a:off x="13658850" y="3383624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36 000</a:t>
            </a:r>
            <a:endParaRPr lang="en-US" sz="1875" dirty="0"/>
          </a:p>
        </p:txBody>
      </p:sp>
      <p:sp>
        <p:nvSpPr>
          <p:cNvPr id="29" name="Shape 27"/>
          <p:cNvSpPr/>
          <p:nvPr/>
        </p:nvSpPr>
        <p:spPr>
          <a:xfrm>
            <a:off x="15811500" y="3935016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0" name="Text 28"/>
          <p:cNvSpPr/>
          <p:nvPr/>
        </p:nvSpPr>
        <p:spPr>
          <a:xfrm>
            <a:off x="15944850" y="3383624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0,9%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1047750" y="4561549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2" name="Text 30"/>
          <p:cNvSpPr/>
          <p:nvPr/>
        </p:nvSpPr>
        <p:spPr>
          <a:xfrm>
            <a:off x="1257300" y="4010157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2.3</a:t>
            </a:r>
            <a:endParaRPr lang="en-US" sz="1875" dirty="0"/>
          </a:p>
        </p:txBody>
      </p:sp>
      <p:sp>
        <p:nvSpPr>
          <p:cNvPr id="33" name="Shape 31"/>
          <p:cNvSpPr/>
          <p:nvPr/>
        </p:nvSpPr>
        <p:spPr>
          <a:xfrm>
            <a:off x="2000250" y="4561549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4" name="Text 32"/>
          <p:cNvSpPr/>
          <p:nvPr/>
        </p:nvSpPr>
        <p:spPr>
          <a:xfrm>
            <a:off x="2209800" y="4010157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Cloud — ВМ, хранилище</a:t>
            </a:r>
            <a:endParaRPr lang="en-US" sz="1875" dirty="0"/>
          </a:p>
        </p:txBody>
      </p:sp>
      <p:sp>
        <p:nvSpPr>
          <p:cNvPr id="35" name="Shape 33"/>
          <p:cNvSpPr/>
          <p:nvPr/>
        </p:nvSpPr>
        <p:spPr>
          <a:xfrm>
            <a:off x="13525500" y="4561549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6" name="Text 34"/>
          <p:cNvSpPr/>
          <p:nvPr/>
        </p:nvSpPr>
        <p:spPr>
          <a:xfrm>
            <a:off x="13658850" y="4010157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120 000</a:t>
            </a:r>
            <a:endParaRPr lang="en-US" sz="1875" dirty="0"/>
          </a:p>
        </p:txBody>
      </p:sp>
      <p:sp>
        <p:nvSpPr>
          <p:cNvPr id="37" name="Shape 35"/>
          <p:cNvSpPr/>
          <p:nvPr/>
        </p:nvSpPr>
        <p:spPr>
          <a:xfrm>
            <a:off x="15811500" y="4561549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8" name="Text 36"/>
          <p:cNvSpPr/>
          <p:nvPr/>
        </p:nvSpPr>
        <p:spPr>
          <a:xfrm>
            <a:off x="15944850" y="4010157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2,9%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1047750" y="5188082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0" name="Text 38"/>
          <p:cNvSpPr/>
          <p:nvPr/>
        </p:nvSpPr>
        <p:spPr>
          <a:xfrm>
            <a:off x="1257300" y="4636691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2.4</a:t>
            </a:r>
            <a:endParaRPr lang="en-US" sz="1875" dirty="0"/>
          </a:p>
        </p:txBody>
      </p:sp>
      <p:sp>
        <p:nvSpPr>
          <p:cNvPr id="41" name="Shape 39"/>
          <p:cNvSpPr/>
          <p:nvPr/>
        </p:nvSpPr>
        <p:spPr>
          <a:xfrm>
            <a:off x="2000250" y="5188082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2" name="Text 40"/>
          <p:cNvSpPr/>
          <p:nvPr/>
        </p:nvSpPr>
        <p:spPr>
          <a:xfrm>
            <a:off x="2209800" y="4636691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Cloud — мониторинг, логи</a:t>
            </a:r>
            <a:endParaRPr lang="en-US" sz="1875" dirty="0"/>
          </a:p>
        </p:txBody>
      </p:sp>
      <p:sp>
        <p:nvSpPr>
          <p:cNvPr id="43" name="Shape 41"/>
          <p:cNvSpPr/>
          <p:nvPr/>
        </p:nvSpPr>
        <p:spPr>
          <a:xfrm>
            <a:off x="13525500" y="5188082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4" name="Text 42"/>
          <p:cNvSpPr/>
          <p:nvPr/>
        </p:nvSpPr>
        <p:spPr>
          <a:xfrm>
            <a:off x="13658850" y="4636691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14 400</a:t>
            </a:r>
            <a:endParaRPr lang="en-US" sz="1875" dirty="0"/>
          </a:p>
        </p:txBody>
      </p:sp>
      <p:sp>
        <p:nvSpPr>
          <p:cNvPr id="45" name="Shape 43"/>
          <p:cNvSpPr/>
          <p:nvPr/>
        </p:nvSpPr>
        <p:spPr>
          <a:xfrm>
            <a:off x="15811500" y="5188082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6" name="Text 44"/>
          <p:cNvSpPr/>
          <p:nvPr/>
        </p:nvSpPr>
        <p:spPr>
          <a:xfrm>
            <a:off x="15944850" y="4636691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0,3%</a:t>
            </a:r>
            <a:endParaRPr lang="en-US" sz="1875" dirty="0"/>
          </a:p>
        </p:txBody>
      </p:sp>
      <p:sp>
        <p:nvSpPr>
          <p:cNvPr id="47" name="Shape 45"/>
          <p:cNvSpPr/>
          <p:nvPr/>
        </p:nvSpPr>
        <p:spPr>
          <a:xfrm>
            <a:off x="1047750" y="5196549"/>
            <a:ext cx="16192500" cy="643599"/>
          </a:xfrm>
          <a:prstGeom prst="rect">
            <a:avLst/>
          </a:prstGeom>
          <a:solidFill>
            <a:srgbClr val="ABAD58">
              <a:alpha val="2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47750" y="5831681"/>
            <a:ext cx="1619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1257300" y="5291799"/>
            <a:ext cx="16259175" cy="482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00"/>
              </a:lnSpc>
              <a:buNone/>
            </a:pPr>
            <a:r>
              <a:rPr lang="en-US" sz="16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 Лицензии и ПО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047750" y="6458215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1257300" y="5906823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3.1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2000250" y="6458215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2209800" y="5906823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SSL-сертификат, домен</a:t>
            </a:r>
            <a:endParaRPr lang="en-US" sz="1875" dirty="0"/>
          </a:p>
        </p:txBody>
      </p:sp>
      <p:sp>
        <p:nvSpPr>
          <p:cNvPr id="54" name="Shape 52"/>
          <p:cNvSpPr/>
          <p:nvPr/>
        </p:nvSpPr>
        <p:spPr>
          <a:xfrm>
            <a:off x="13525500" y="6458215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5" name="Text 53"/>
          <p:cNvSpPr/>
          <p:nvPr/>
        </p:nvSpPr>
        <p:spPr>
          <a:xfrm>
            <a:off x="13658850" y="5906823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8 000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5811500" y="6458215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15944850" y="5906823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0,2%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1047750" y="7084748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1257300" y="6533356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3.2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2000250" y="7084748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2209800" y="6533356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CI/CD, инструменты разработки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3525500" y="7084748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3658850" y="6533356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45 000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15811500" y="7084748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5" name="Text 63"/>
          <p:cNvSpPr/>
          <p:nvPr/>
        </p:nvSpPr>
        <p:spPr>
          <a:xfrm>
            <a:off x="15944850" y="6533356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1,1%</a:t>
            </a:r>
            <a:endParaRPr lang="en-US" sz="1875" dirty="0"/>
          </a:p>
        </p:txBody>
      </p:sp>
      <p:sp>
        <p:nvSpPr>
          <p:cNvPr id="66" name="Shape 64"/>
          <p:cNvSpPr/>
          <p:nvPr/>
        </p:nvSpPr>
        <p:spPr>
          <a:xfrm>
            <a:off x="1047750" y="7711281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7" name="Text 65"/>
          <p:cNvSpPr/>
          <p:nvPr/>
        </p:nvSpPr>
        <p:spPr>
          <a:xfrm>
            <a:off x="1257300" y="7159890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3.3</a:t>
            </a:r>
            <a:endParaRPr lang="en-US" sz="1875" dirty="0"/>
          </a:p>
        </p:txBody>
      </p:sp>
      <p:sp>
        <p:nvSpPr>
          <p:cNvPr id="68" name="Shape 66"/>
          <p:cNvSpPr/>
          <p:nvPr/>
        </p:nvSpPr>
        <p:spPr>
          <a:xfrm>
            <a:off x="2000250" y="7711281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9" name="Text 67"/>
          <p:cNvSpPr/>
          <p:nvPr/>
        </p:nvSpPr>
        <p:spPr>
          <a:xfrm>
            <a:off x="2209800" y="7159890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Тестовые лицензии 1С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3525500" y="7711281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1" name="Text 69"/>
          <p:cNvSpPr/>
          <p:nvPr/>
        </p:nvSpPr>
        <p:spPr>
          <a:xfrm>
            <a:off x="13658850" y="7159890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40 000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5811500" y="7711281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3" name="Text 71"/>
          <p:cNvSpPr/>
          <p:nvPr/>
        </p:nvSpPr>
        <p:spPr>
          <a:xfrm>
            <a:off x="15944850" y="7159890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1,0%</a:t>
            </a:r>
            <a:endParaRPr lang="en-US" sz="1875" dirty="0"/>
          </a:p>
        </p:txBody>
      </p:sp>
      <p:sp>
        <p:nvSpPr>
          <p:cNvPr id="74" name="Shape 72"/>
          <p:cNvSpPr/>
          <p:nvPr/>
        </p:nvSpPr>
        <p:spPr>
          <a:xfrm>
            <a:off x="1047750" y="7719748"/>
            <a:ext cx="952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5" name="Shape 73"/>
          <p:cNvSpPr/>
          <p:nvPr/>
        </p:nvSpPr>
        <p:spPr>
          <a:xfrm>
            <a:off x="2000250" y="7719748"/>
            <a:ext cx="11525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6" name="Text 74"/>
          <p:cNvSpPr/>
          <p:nvPr/>
        </p:nvSpPr>
        <p:spPr>
          <a:xfrm>
            <a:off x="2209800" y="7889081"/>
            <a:ext cx="11451908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ИТОГО ПО СМЕТЕ</a:t>
            </a:r>
            <a:endParaRPr lang="en-US" sz="2250" dirty="0"/>
          </a:p>
        </p:txBody>
      </p:sp>
      <p:sp>
        <p:nvSpPr>
          <p:cNvPr id="77" name="Shape 75"/>
          <p:cNvSpPr/>
          <p:nvPr/>
        </p:nvSpPr>
        <p:spPr>
          <a:xfrm>
            <a:off x="13525500" y="7719748"/>
            <a:ext cx="2286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8" name="Text 76"/>
          <p:cNvSpPr/>
          <p:nvPr/>
        </p:nvSpPr>
        <p:spPr>
          <a:xfrm>
            <a:off x="13658850" y="7889081"/>
            <a:ext cx="1943100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D73A6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4 153 400</a:t>
            </a:r>
            <a:endParaRPr lang="en-US" sz="2250" dirty="0"/>
          </a:p>
        </p:txBody>
      </p:sp>
      <p:sp>
        <p:nvSpPr>
          <p:cNvPr id="79" name="Shape 77"/>
          <p:cNvSpPr/>
          <p:nvPr/>
        </p:nvSpPr>
        <p:spPr>
          <a:xfrm>
            <a:off x="15811500" y="7719748"/>
            <a:ext cx="1428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0" name="Text 78"/>
          <p:cNvSpPr/>
          <p:nvPr/>
        </p:nvSpPr>
        <p:spPr>
          <a:xfrm>
            <a:off x="15944850" y="7889081"/>
            <a:ext cx="1085850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D73A6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100%</a:t>
            </a:r>
            <a:endParaRPr lang="en-US" sz="2250" dirty="0"/>
          </a:p>
        </p:txBody>
      </p:sp>
      <p:sp>
        <p:nvSpPr>
          <p:cNvPr id="81" name="Text 79"/>
          <p:cNvSpPr/>
          <p:nvPr/>
        </p:nvSpPr>
        <p:spPr>
          <a:xfrm>
            <a:off x="1047750" y="8745273"/>
            <a:ext cx="16187738" cy="6455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625"/>
              </a:lnSpc>
              <a:buNone/>
            </a:pPr>
            <a:r>
              <a:rPr lang="en-US" sz="165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Срок реализации — 6 месяцев. Страховые взносы — по ставке IT-аккредитации Минцифры: 15% до предельной базы 2 979 000 ₽, 7,6% сверх базы. Зарплаты на уровне региональных ставок (Алтайский край, Барнаул).</a:t>
            </a:r>
            <a:endParaRPr lang="en-US" sz="1650" dirty="0"/>
          </a:p>
        </p:txBody>
      </p:sp>
      <p:sp>
        <p:nvSpPr>
          <p:cNvPr id="82" name="Shape 80"/>
          <p:cNvSpPr/>
          <p:nvPr/>
        </p:nvSpPr>
        <p:spPr>
          <a:xfrm>
            <a:off x="1047750" y="95432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3" name="Text 81"/>
          <p:cNvSpPr/>
          <p:nvPr/>
        </p:nvSpPr>
        <p:spPr>
          <a:xfrm>
            <a:off x="1047750" y="97041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4" name="Text 82"/>
          <p:cNvSpPr/>
          <p:nvPr/>
        </p:nvSpPr>
        <p:spPr>
          <a:xfrm>
            <a:off x="16763604" y="9704123"/>
            <a:ext cx="55284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 / 16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КРАТКО О КОМПАНИИ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3079750"/>
            <a:ext cx="9038562" cy="2931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 — IT-компания из Барнаула, зарегистрирована 10 сентября 2025 года. Создана как технологичный преемник бухгалтерской фирмы ООО «1+1», которая более 15 лет оказывает бухгалтерские и юридические услуги в Алтайском крае и имеет </a:t>
            </a:r>
            <a:pPr algn="l" indent="0" marL="0">
              <a:lnSpc>
                <a:spcPct val="128487"/>
              </a:lnSpc>
              <a:buNone/>
            </a:pP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более 450 клиентов </a:t>
            </a:r>
            <a:pPr algn="l" indent="0" marL="0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постоянном обслуживании, находится на 37-м месте в рейтинге </a:t>
            </a:r>
            <a:pPr algn="l" indent="0" marL="0">
              <a:lnSpc>
                <a:spcPct val="128487"/>
              </a:lnSpc>
              <a:buNone/>
            </a:pP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RAEX </a:t>
            </a:r>
            <a:pPr algn="l" indent="0" marL="0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среди 15 тысяч бухгалтерских аутсорсинговых компаний.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6239404"/>
            <a:ext cx="9038562" cy="864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нашей компании знают все боли предпринимателей, связанные с бухгалтерским и налоговым учётом.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7332662"/>
            <a:ext cx="9038562" cy="864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192"/>
              </a:lnSpc>
              <a:buNone/>
            </a:pP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Наша задача — облегчить процесс предпринимательства и минимизировать их расходы при сохранении качества учёта.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489803" y="2436283"/>
            <a:ext cx="6750447" cy="1737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489803" y="2436283"/>
            <a:ext cx="42333" cy="17373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9" name="Text 7"/>
          <p:cNvSpPr/>
          <p:nvPr/>
        </p:nvSpPr>
        <p:spPr>
          <a:xfrm>
            <a:off x="10836936" y="2702983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 лет</a:t>
            </a:r>
            <a:endParaRPr lang="en-US" sz="3750" dirty="0"/>
          </a:p>
        </p:txBody>
      </p:sp>
      <p:sp>
        <p:nvSpPr>
          <p:cNvPr id="10" name="Text 8"/>
          <p:cNvSpPr/>
          <p:nvPr/>
        </p:nvSpPr>
        <p:spPr>
          <a:xfrm>
            <a:off x="10836936" y="3274483"/>
            <a:ext cx="6281928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бухгалтерских и юридических услуг в Алтайском крае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89803" y="4360212"/>
            <a:ext cx="6750447" cy="14225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89803" y="4360212"/>
            <a:ext cx="42333" cy="1422532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836936" y="4626912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450+</a:t>
            </a:r>
            <a:endParaRPr lang="en-US" sz="3750" dirty="0"/>
          </a:p>
        </p:txBody>
      </p:sp>
      <p:sp>
        <p:nvSpPr>
          <p:cNvPr id="14" name="Text 12"/>
          <p:cNvSpPr/>
          <p:nvPr/>
        </p:nvSpPr>
        <p:spPr>
          <a:xfrm>
            <a:off x="10836936" y="5198412"/>
            <a:ext cx="6708365" cy="355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клиентов на постоянном обслуживании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10489803" y="5973244"/>
            <a:ext cx="6750447" cy="17401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89803" y="5973244"/>
            <a:ext cx="42333" cy="1740165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7" name="Text 15"/>
          <p:cNvSpPr/>
          <p:nvPr/>
        </p:nvSpPr>
        <p:spPr>
          <a:xfrm>
            <a:off x="10836936" y="6239944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37-е место</a:t>
            </a:r>
            <a:endParaRPr lang="en-US" sz="3750" dirty="0"/>
          </a:p>
        </p:txBody>
      </p:sp>
      <p:sp>
        <p:nvSpPr>
          <p:cNvPr id="18" name="Text 16"/>
          <p:cNvSpPr/>
          <p:nvPr/>
        </p:nvSpPr>
        <p:spPr>
          <a:xfrm>
            <a:off x="10836936" y="6811444"/>
            <a:ext cx="6281469" cy="673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рейтинге RAEX среди 15 тысяч бухгалтерских аутсорсинговых компаний</a:t>
            </a:r>
            <a:endParaRPr lang="en-US" sz="1725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43048" y="7818120"/>
            <a:ext cx="1993392" cy="137160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1" name="Text 18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6765323" y="9589823"/>
            <a:ext cx="55112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16 / 16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2026-10-03T07:35:27Z</dcterms:created>
  <dcterms:modified xsi:type="dcterms:W3CDTF">2026-10-03T07:35:27Z</dcterms:modified>
</cp:coreProperties>
</file>