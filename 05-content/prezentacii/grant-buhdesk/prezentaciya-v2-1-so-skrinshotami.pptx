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Заявка на грант. Название проекта, сумма, срок, заявитель.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действующие функции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Снимки экрана: вход в кабинет, список подключённых компаний, типы заявок.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Показатели компании, свидетельство и реестр отечественного ПО.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Доработки 2026–2027 гг. за счёт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заявки: что делается за счёт средств гранта.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работает ИИ-помощник в связке с базой 1С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в четыре шага.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и пять показателей эффекта.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Технологическая основа. Модели российские: SpeechKit и YandexGPT.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 шести критериям. Колонка «Бухдеск» выделена.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Отраслевая вертикаль против предложений конкурентов.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только формируется; почему решение оптимально для клиентов аутсорсинга.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Налоговая реформа, дефицит кадров, ИИ-автоматизация.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Фонд оплаты труда: 3 818 000 ₽, 91,9% сметы. Ниже этапы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Прочие расходы и итог по смете 4 153 400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Компания, её происхождение и позиция в рейтинге RAEX.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ervice.buh-desk.ru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1800" b="1" spc="252" kern="0" dirty="0">
                <a:solidFill>
                  <a:srgbClr val="ABA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НА ГРАНТ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330178"/>
            <a:ext cx="14716125" cy="175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03"/>
              </a:lnSpc>
              <a:buNone/>
            </a:pPr>
            <a:r>
              <a:rPr lang="en-US" sz="6450" b="1" spc="-129" kern="0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</a:t>
            </a:r>
            <a:endParaRPr lang="en-US" sz="6450" dirty="0"/>
          </a:p>
        </p:txBody>
      </p:sp>
      <p:sp>
        <p:nvSpPr>
          <p:cNvPr id="4" name="Text 2"/>
          <p:cNvSpPr/>
          <p:nvPr/>
        </p:nvSpPr>
        <p:spPr>
          <a:xfrm>
            <a:off x="1047750" y="5374084"/>
            <a:ext cx="15716250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21"/>
              </a:lnSpc>
              <a:buNone/>
            </a:pPr>
            <a:r>
              <a:rPr lang="en-US" sz="2700" dirty="0">
                <a:solidFill>
                  <a:srgbClr val="D9DA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«Бухдеск» — онлайн-сервис для ведения и контроля бухгалтерии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7953640"/>
            <a:ext cx="16192500" cy="16933"/>
          </a:xfrm>
          <a:prstGeom prst="rect">
            <a:avLst/>
          </a:prstGeom>
          <a:solidFill>
            <a:srgbClr val="F2F3ED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8294423"/>
            <a:ext cx="5476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150" kern="0" dirty="0">
                <a:solidFill>
                  <a:srgbClr val="ABA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ЗАПРАШИВАЕМАЯ СУММА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8675423"/>
            <a:ext cx="547624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3600" b="1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4 153 400 ₽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45250" y="7970573"/>
            <a:ext cx="9525" cy="1821127"/>
          </a:xfrm>
          <a:prstGeom prst="rect">
            <a:avLst/>
          </a:prstGeom>
          <a:solidFill>
            <a:srgbClr val="F2F3ED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72817" y="8294423"/>
            <a:ext cx="5005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150" kern="0" dirty="0">
                <a:solidFill>
                  <a:srgbClr val="ABA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РЕАЛИЗАЦИИ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72817" y="8675423"/>
            <a:ext cx="5005917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3600" b="1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месяцев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1842750" y="7970573"/>
            <a:ext cx="9525" cy="1821127"/>
          </a:xfrm>
          <a:prstGeom prst="rect">
            <a:avLst/>
          </a:prstGeom>
          <a:solidFill>
            <a:srgbClr val="F2F3ED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270317" y="8294423"/>
            <a:ext cx="5466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150" kern="0" dirty="0">
                <a:solidFill>
                  <a:srgbClr val="ABA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70317" y="8675423"/>
            <a:ext cx="5119031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«1+1 Бухдеск» Барнаул,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СЕГОДНЯ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сервис уже сейчас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163623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058848"/>
            <a:ext cx="6412416" cy="1529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Автоматизированный приём задач и первичных документов от клиентов для целей бухгалтерского, налогового, управленческого учёта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047750" y="4997715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4892940"/>
            <a:ext cx="6412416" cy="1529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отображает бухгалтерские задачи и статус их выполнения, начисленные и уплаченные налоги, даты предстоящих платежей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047750" y="6831806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6727031"/>
            <a:ext cx="6412416" cy="1529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клиента есть доступ </a:t>
            </a:r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 всем отчётам, документам и результатам работ бухгалтерии 24/7. Документооборот каждой компании в собственном профиле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8321146" y="3345921"/>
            <a:ext cx="8919104" cy="4213622"/>
          </a:xfrm>
          <a:prstGeom prst="roundRect">
            <a:avLst>
              <a:gd name="adj" fmla="val 904"/>
            </a:avLst>
          </a:prstGeom>
          <a:ln w="8467">
            <a:solidFill>
              <a:srgbClr val="D3D4C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146" y="3345921"/>
            <a:ext cx="8919104" cy="421362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146" y="7673843"/>
            <a:ext cx="98110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27"/>
              </a:lnSpc>
              <a:buNone/>
            </a:pPr>
            <a:r>
              <a:rPr lang="en-US" sz="150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клиента: профиль компании и подача заявок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СЕГОДНЯ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выглядит сервис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12054"/>
            <a:ext cx="7810500" cy="3913717"/>
          </a:xfrm>
          <a:prstGeom prst="roundRect">
            <a:avLst>
              <a:gd name="adj" fmla="val 973"/>
            </a:avLst>
          </a:prstGeom>
          <a:ln w="8467">
            <a:solidFill>
              <a:srgbClr val="D3D4C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3312054"/>
            <a:ext cx="7810500" cy="39137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7340071"/>
            <a:ext cx="85915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27"/>
              </a:lnSpc>
              <a:buNone/>
            </a:pPr>
            <a:r>
              <a:rPr lang="en-US" sz="150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в личный кабинет: собственный веб-интерфейс, не мессенджер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429750" y="3038475"/>
            <a:ext cx="7810500" cy="1835415"/>
          </a:xfrm>
          <a:prstGeom prst="roundRect">
            <a:avLst>
              <a:gd name="adj" fmla="val 2076"/>
            </a:avLst>
          </a:prstGeom>
          <a:ln w="8467">
            <a:solidFill>
              <a:srgbClr val="D3D4C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038475"/>
            <a:ext cx="7810500" cy="18354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29750" y="4988190"/>
            <a:ext cx="85915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27"/>
              </a:lnSpc>
              <a:buNone/>
            </a:pPr>
            <a:r>
              <a:rPr lang="en-US" sz="150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подключённых компаний и количество заявок в работе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429750" y="5569215"/>
            <a:ext cx="1905000" cy="2301610"/>
          </a:xfrm>
          <a:prstGeom prst="roundRect">
            <a:avLst>
              <a:gd name="adj" fmla="val 2000"/>
            </a:avLst>
          </a:prstGeom>
          <a:ln w="8467">
            <a:solidFill>
              <a:srgbClr val="D3D4C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5569215"/>
            <a:ext cx="1905000" cy="23016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01450" y="6591433"/>
            <a:ext cx="62026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27"/>
              </a:lnSpc>
              <a:buNone/>
            </a:pPr>
            <a:r>
              <a:rPr lang="en-US" sz="150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типов заявок, которые клиент подаёт прямо из кабинета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47750" y="9004168"/>
            <a:ext cx="1781175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клиентов на снимках экрана скрыты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5" name="Text 10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В ЦИФРАХ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в цифрах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1943365"/>
            <a:ext cx="13620750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1800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функционала сервиса и оферта для подключения размещены на сайте: </a:t>
            </a:r>
            <a:pPr algn="l" indent="0" marL="0">
              <a:lnSpc>
                <a:spcPct val="121935"/>
              </a:lnSpc>
              <a:buNone/>
            </a:pPr>
            <a:r>
              <a:rPr lang="en-US" sz="1800" u="sng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https://service.buh-desk.ru/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682478"/>
            <a:ext cx="5232400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682478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078295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75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900" dirty="0"/>
          </a:p>
        </p:txBody>
      </p:sp>
      <p:sp>
        <p:nvSpPr>
          <p:cNvPr id="8" name="Text 6"/>
          <p:cNvSpPr/>
          <p:nvPr/>
        </p:nvSpPr>
        <p:spPr>
          <a:xfrm>
            <a:off x="1371600" y="4164145"/>
            <a:ext cx="4722241" cy="655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сотрудников трудоустроено в ООО «1+1 Бухдеск» по состоянию на 01.10.2026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27800" y="2682478"/>
            <a:ext cx="5232400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27800" y="2682478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6851650" y="3078295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75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</a:t>
            </a:r>
            <a:pPr algn="l" indent="0" marL="0">
              <a:lnSpc>
                <a:spcPct val="86975"/>
              </a:lnSpc>
              <a:buNone/>
            </a:pPr>
            <a:r>
              <a:rPr lang="en-US" sz="31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 руб.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6851650" y="4164145"/>
            <a:ext cx="4722241" cy="655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среднемесячная заработная плата за 9 мес. 2026 г.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07850" y="2682478"/>
            <a:ext cx="5232400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7850" y="2682478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31700" y="3078295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75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6900" dirty="0"/>
          </a:p>
        </p:txBody>
      </p:sp>
      <p:sp>
        <p:nvSpPr>
          <p:cNvPr id="16" name="Text 14"/>
          <p:cNvSpPr/>
          <p:nvPr/>
        </p:nvSpPr>
        <p:spPr>
          <a:xfrm>
            <a:off x="12331700" y="4164145"/>
            <a:ext cx="4722241" cy="655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клиентов, с которыми заключены лицензионные соглашения (на 01.10.2026)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50" y="5539978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738945"/>
            <a:ext cx="272415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202569021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3790950" y="5832078"/>
            <a:ext cx="1479423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59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Свидетельство о государственной регистрации программ для ЭВМ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6382809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7750" y="6581775"/>
            <a:ext cx="272415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32932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3790950" y="6674908"/>
            <a:ext cx="14794230" cy="37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59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включён в Реестр отечественного ПО (от 31.03.2026)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СВОЙ СЧЁТ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планируется доработать в Сервисе в 2026–2027 гг.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28626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586831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142985"/>
            <a:ext cx="5297805" cy="281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07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Автоматизировать разбор, систематизацию и организацию хранения (по видам и срокам) переданных в обработку документов для их последующего распознавания и автоматического ввода в учётную систему клиента и обеспечения быстрого поиска документов в ходе проверок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72250" y="228626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2586831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72250" y="3142985"/>
            <a:ext cx="5657850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07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чат для общения с бухгалтером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096750" y="228626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0" y="2586831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6750" y="3142985"/>
            <a:ext cx="5297805" cy="246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07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Автоматизировать ввод в бухгалтерскую программу 1С следующих документов, полученных от клиентов сервиса: банковские выписки, акты сверок, кадровые документы на приём, увольнение сотрудника, начисление заработной платы и отпускных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ABA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ГРАНТА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4716125" cy="112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45"/>
              </a:lnSpc>
              <a:buNone/>
            </a:pPr>
            <a:r>
              <a:rPr lang="en-US" sz="3900" b="1" spc="-58" kern="0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планируется доработать в Сервисе за счёт средств Гранта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4547791"/>
            <a:ext cx="95250" cy="2179108"/>
          </a:xfrm>
          <a:prstGeom prst="rect">
            <a:avLst/>
          </a:prstGeom>
          <a:solidFill>
            <a:srgbClr val="D73A61"/>
          </a:solidFill>
          <a:ln/>
        </p:spPr>
      </p:sp>
      <p:sp>
        <p:nvSpPr>
          <p:cNvPr id="5" name="Text 3"/>
          <p:cNvSpPr/>
          <p:nvPr/>
        </p:nvSpPr>
        <p:spPr>
          <a:xfrm>
            <a:off x="1581150" y="4547791"/>
            <a:ext cx="14716125" cy="221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95"/>
              </a:lnSpc>
              <a:buNone/>
            </a:pPr>
            <a:r>
              <a:rPr lang="en-US" sz="3300" dirty="0">
                <a:solidFill>
                  <a:srgbClr val="F2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Автоматизировать формирование и обработку в 1С первичных документов (счетов, актов, УПД) для клиента в режиме 24/7 без участия бухгалтера путём получения от клиента задачи в виде текста или голосового сообщения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F2F3E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A3A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A3A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ГРАНТА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Суть ИТ-решения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3249877"/>
            <a:ext cx="15206662" cy="13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72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нашем онлайн-сервисе клиент обращается к ИИ-помощнику «Бухдеск», который подключается к бухгалтерской базе 1С клиента и по заданию клиента (путём печатного или голосового ввода данных) сервис создаёт счёт на оплату или УПД/акт выполненных работ без помощи бухгалтера.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1047750" y="4950883"/>
            <a:ext cx="15206662" cy="13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72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самостоятельно в справочниках учётной системы клиента подбирает необходимых контрагентов и номенклатуру товара или услуги, выставляет необходимое количество и цену, ставку НДС.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047750" y="6651890"/>
            <a:ext cx="15206662" cy="918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72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основании текстовых сообщений или голосовых комментариев от клиента созданные документы корректируются до нужных значений.</a:t>
            </a:r>
            <a:endParaRPr lang="en-US" sz="2475" dirty="0"/>
          </a:p>
        </p:txBody>
      </p:sp>
      <p:sp>
        <p:nvSpPr>
          <p:cNvPr id="7" name="Shape 5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962135"/>
            <a:ext cx="3548063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962135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4377002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352550" y="4866481"/>
            <a:ext cx="302661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печатает или надиктовывает текст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557713" y="5097463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579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262563" y="3962135"/>
            <a:ext cx="3548063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62563" y="3962135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5567363" y="4377002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567363" y="4866481"/>
            <a:ext cx="323230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извлекает данные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772525" y="5097463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579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477375" y="3962135"/>
            <a:ext cx="3548063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7375" y="3962135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2175" y="4377002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3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782175" y="4866481"/>
            <a:ext cx="3026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документ в 1С через OData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987338" y="5097463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579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13692188" y="3962135"/>
            <a:ext cx="3548063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692188" y="3962135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21" name="Text 19"/>
          <p:cNvSpPr/>
          <p:nvPr/>
        </p:nvSpPr>
        <p:spPr>
          <a:xfrm>
            <a:off x="13996988" y="4377002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4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3996988" y="4866481"/>
            <a:ext cx="3026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передаёт документ клиенту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811229" y="95898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СОЦИАЛЬНАЯ ЗНАЧИМОСТЬ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060979"/>
            <a:ext cx="16187738" cy="1001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68"/>
              </a:lnSpc>
              <a:buNone/>
            </a:pPr>
            <a:r>
              <a:rPr lang="en-US" sz="3300" b="1" spc="-49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из самых частых жалоб предпринимателей на бухгалтеров — НЕОПЕРАТИВНОЕ реагирование на срочные задачи.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47750" y="2196306"/>
            <a:ext cx="15206662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ИИ-помощник в бухгалтерии — это поддержка бизнеса в условиях текущей экономической ситуации и возможность компенсировать рост издержек из-за роста налогов.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213365"/>
            <a:ext cx="17811750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1800" b="1" spc="108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ОТ ЗАМЕНЫ БУХГАЛТЕРА-ПЕРВИЧНИКА НА ИИ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704828"/>
            <a:ext cx="16192500" cy="4945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314428"/>
            <a:ext cx="4572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876278"/>
            <a:ext cx="4137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90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19750" y="4314428"/>
            <a:ext cx="11620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0" y="3876278"/>
            <a:ext cx="113976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90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ОЗНАЧАЕТ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47750" y="5093362"/>
            <a:ext cx="4572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540911"/>
            <a:ext cx="413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45 до 80 тыс. руб./мес.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619750" y="5093362"/>
            <a:ext cx="11620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0" y="4540911"/>
            <a:ext cx="11397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2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компании на зарплате сотрудника на 1 сотрудника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5863828"/>
            <a:ext cx="4572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311378"/>
            <a:ext cx="413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20 часов в месяц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5619750" y="5863828"/>
            <a:ext cx="11620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0" y="5311378"/>
            <a:ext cx="11397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2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времени предпринимателя, который сам выставляет клиентам счета и акты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6634295"/>
            <a:ext cx="4572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6081845"/>
            <a:ext cx="413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80–90%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619750" y="6634295"/>
            <a:ext cx="11620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0" y="6081845"/>
            <a:ext cx="11397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2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ошибок в первичке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7404761"/>
            <a:ext cx="4572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6852311"/>
            <a:ext cx="413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3–10 раз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5619750" y="7404761"/>
            <a:ext cx="11620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6" name="Text 24"/>
          <p:cNvSpPr/>
          <p:nvPr/>
        </p:nvSpPr>
        <p:spPr>
          <a:xfrm>
            <a:off x="5905500" y="6852311"/>
            <a:ext cx="11397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2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обработки документов быстрее ручного ввода в круглосуточном режиме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33500" y="7622778"/>
            <a:ext cx="4137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20–25%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5905500" y="7622778"/>
            <a:ext cx="113976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2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продаж за счёт ускорения реагирования на заявки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8802423"/>
            <a:ext cx="2148417" cy="474133"/>
          </a:xfrm>
          <a:prstGeom prst="rect">
            <a:avLst/>
          </a:prstGeom>
          <a:ln w="8467">
            <a:solidFill>
              <a:srgbClr val="A9ABA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208617" y="8906140"/>
            <a:ext cx="1902883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заполнить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47750" y="94670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96279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811229" y="9627923"/>
            <a:ext cx="505222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ТЕХНОЛОГИЧЕСКАЯ ОСНОВА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чём построено решение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1962415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D73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распознавания и генерации — российские: SpeechKit и YandexGPT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2743465"/>
            <a:ext cx="7972425" cy="3018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743465"/>
            <a:ext cx="42333" cy="301889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7" name="Text 5"/>
          <p:cNvSpPr/>
          <p:nvPr/>
        </p:nvSpPr>
        <p:spPr>
          <a:xfrm>
            <a:off x="1413933" y="3105415"/>
            <a:ext cx="7500863" cy="115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</a:t>
            </a:r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удобные формы, шаблоны, история и выгрузки. Сервис не зависит от мессенджеров, которые могут быть заблокированы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267825" y="2743465"/>
            <a:ext cx="7972425" cy="3018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267825" y="2743465"/>
            <a:ext cx="42333" cy="301889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0" name="Text 8"/>
          <p:cNvSpPr/>
          <p:nvPr/>
        </p:nvSpPr>
        <p:spPr>
          <a:xfrm>
            <a:off x="9634008" y="3105415"/>
            <a:ext cx="7500863" cy="783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Распознавание и понимание </a:t>
            </a:r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SpeechKit + YandexGPT извлекают данные из речи и текста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047750" y="6010010"/>
            <a:ext cx="7972425" cy="3018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6010010"/>
            <a:ext cx="42333" cy="301889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413933" y="6371960"/>
            <a:ext cx="7500863" cy="783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через OData </a:t>
            </a:r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создание счетов и актов без доработки конфигурации 1С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267825" y="6010010"/>
            <a:ext cx="7972425" cy="3018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67825" y="6010010"/>
            <a:ext cx="42333" cy="301889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34008" y="6371960"/>
            <a:ext cx="7500863" cy="783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05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безопасность </a:t>
            </a:r>
            <a:pPr algn="l" indent="0" marL="0">
              <a:lnSpc>
                <a:spcPct val="115905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превью документа, подтверждение, роли и полный аудит действий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715846" y="95898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КОНКУРЕНТАМИ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041929"/>
            <a:ext cx="17811750" cy="57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99"/>
              </a:lnSpc>
              <a:buNone/>
            </a:pPr>
            <a:r>
              <a:rPr lang="en-US" sz="3900" b="1" spc="-58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«Бухдеск» отличается от аналогов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1729184"/>
            <a:ext cx="1471612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рынке нет подобного сервиса, создающего комплексную инфраструктуру для бухгалтерского, налогового и управленческого учёта компаний.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719784"/>
            <a:ext cx="16192500" cy="6499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420798"/>
            <a:ext cx="655981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910284"/>
            <a:ext cx="6261309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500" b="1" spc="90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07565" y="3420798"/>
            <a:ext cx="2140611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7740915" y="2910284"/>
            <a:ext cx="1873911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48176" y="3420798"/>
            <a:ext cx="2140479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9881526" y="2910284"/>
            <a:ext cx="1873779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8656" y="3420798"/>
            <a:ext cx="2589477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21264" y="2910284"/>
            <a:ext cx="2324261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478133" y="2719784"/>
            <a:ext cx="2761985" cy="71794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8153" y="2910284"/>
            <a:ext cx="2501945" cy="375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Бухдеск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190206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3647281"/>
            <a:ext cx="6261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бухгалтерская экспертиза (15 лет)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607565" y="4190206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9" name="Text 17"/>
          <p:cNvSpPr/>
          <p:nvPr/>
        </p:nvSpPr>
        <p:spPr>
          <a:xfrm>
            <a:off x="7740915" y="3647281"/>
            <a:ext cx="18739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748176" y="4190206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1" name="Text 19"/>
          <p:cNvSpPr/>
          <p:nvPr/>
        </p:nvSpPr>
        <p:spPr>
          <a:xfrm>
            <a:off x="9881526" y="3647281"/>
            <a:ext cx="18737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888656" y="4190206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3" name="Text 21"/>
          <p:cNvSpPr/>
          <p:nvPr/>
        </p:nvSpPr>
        <p:spPr>
          <a:xfrm>
            <a:off x="12021264" y="3647281"/>
            <a:ext cx="23242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478133" y="3437731"/>
            <a:ext cx="2761985" cy="760942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608153" y="3647281"/>
            <a:ext cx="2501945" cy="37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47750" y="4951148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4408223"/>
            <a:ext cx="6261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клиента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607565" y="4951148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9" name="Text 27"/>
          <p:cNvSpPr/>
          <p:nvPr/>
        </p:nvSpPr>
        <p:spPr>
          <a:xfrm>
            <a:off x="7740915" y="4408223"/>
            <a:ext cx="18739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748176" y="4951148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1" name="Text 29"/>
          <p:cNvSpPr/>
          <p:nvPr/>
        </p:nvSpPr>
        <p:spPr>
          <a:xfrm>
            <a:off x="9881526" y="4408223"/>
            <a:ext cx="18737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888656" y="4951148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3" name="Text 31"/>
          <p:cNvSpPr/>
          <p:nvPr/>
        </p:nvSpPr>
        <p:spPr>
          <a:xfrm>
            <a:off x="12021264" y="4408223"/>
            <a:ext cx="23242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4478133" y="4198673"/>
            <a:ext cx="2761985" cy="760942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4608153" y="4408223"/>
            <a:ext cx="2501945" cy="37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47750" y="5712090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7" name="Text 35"/>
          <p:cNvSpPr/>
          <p:nvPr/>
        </p:nvSpPr>
        <p:spPr>
          <a:xfrm>
            <a:off x="1295400" y="5169165"/>
            <a:ext cx="6261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1С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607565" y="5712090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9" name="Text 37"/>
          <p:cNvSpPr/>
          <p:nvPr/>
        </p:nvSpPr>
        <p:spPr>
          <a:xfrm>
            <a:off x="7740915" y="5169165"/>
            <a:ext cx="18739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9748176" y="5712090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1" name="Text 39"/>
          <p:cNvSpPr/>
          <p:nvPr/>
        </p:nvSpPr>
        <p:spPr>
          <a:xfrm>
            <a:off x="9881526" y="5169165"/>
            <a:ext cx="18737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888656" y="5712090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3" name="Text 41"/>
          <p:cNvSpPr/>
          <p:nvPr/>
        </p:nvSpPr>
        <p:spPr>
          <a:xfrm>
            <a:off x="12021264" y="5169165"/>
            <a:ext cx="23242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9863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система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4478133" y="4959615"/>
            <a:ext cx="2761985" cy="760942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608153" y="5169165"/>
            <a:ext cx="2501945" cy="37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047750" y="6473031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7" name="Text 45"/>
          <p:cNvSpPr/>
          <p:nvPr/>
        </p:nvSpPr>
        <p:spPr>
          <a:xfrm>
            <a:off x="1295400" y="5930106"/>
            <a:ext cx="6261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 в комплекс аутсорсингового обслуживания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7607565" y="6473031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9" name="Text 47"/>
          <p:cNvSpPr/>
          <p:nvPr/>
        </p:nvSpPr>
        <p:spPr>
          <a:xfrm>
            <a:off x="7740915" y="5930106"/>
            <a:ext cx="18739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9748176" y="6473031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1" name="Text 49"/>
          <p:cNvSpPr/>
          <p:nvPr/>
        </p:nvSpPr>
        <p:spPr>
          <a:xfrm>
            <a:off x="9881526" y="5930106"/>
            <a:ext cx="18737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888656" y="6473031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3" name="Text 51"/>
          <p:cNvSpPr/>
          <p:nvPr/>
        </p:nvSpPr>
        <p:spPr>
          <a:xfrm>
            <a:off x="12021264" y="5930106"/>
            <a:ext cx="23242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4478133" y="5720556"/>
            <a:ext cx="2761985" cy="760942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4608153" y="5930106"/>
            <a:ext cx="2501945" cy="37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047750" y="7519723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7" name="Text 55"/>
          <p:cNvSpPr/>
          <p:nvPr/>
        </p:nvSpPr>
        <p:spPr>
          <a:xfrm>
            <a:off x="1295400" y="6691048"/>
            <a:ext cx="626130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обработка первички (текст → документы 1С)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7607565" y="7519723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9" name="Text 57"/>
          <p:cNvSpPr/>
          <p:nvPr/>
        </p:nvSpPr>
        <p:spPr>
          <a:xfrm>
            <a:off x="7740915" y="6691048"/>
            <a:ext cx="18739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748176" y="7519723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9881526" y="6691048"/>
            <a:ext cx="187377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1888656" y="7519723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3" name="Text 61"/>
          <p:cNvSpPr/>
          <p:nvPr/>
        </p:nvSpPr>
        <p:spPr>
          <a:xfrm>
            <a:off x="12021264" y="6691048"/>
            <a:ext cx="232426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4478133" y="6481498"/>
            <a:ext cx="2761985" cy="1046692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4608153" y="6691048"/>
            <a:ext cx="2501945" cy="665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66" name="Text 64"/>
          <p:cNvSpPr/>
          <p:nvPr/>
        </p:nvSpPr>
        <p:spPr>
          <a:xfrm>
            <a:off x="1295400" y="7737740"/>
            <a:ext cx="62613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58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(голос → документы 1С)</a:t>
            </a:r>
            <a:endParaRPr lang="en-US" sz="1875" dirty="0"/>
          </a:p>
        </p:txBody>
      </p:sp>
      <p:sp>
        <p:nvSpPr>
          <p:cNvPr id="67" name="Text 65"/>
          <p:cNvSpPr/>
          <p:nvPr/>
        </p:nvSpPr>
        <p:spPr>
          <a:xfrm>
            <a:off x="7740915" y="7737740"/>
            <a:ext cx="18739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9881526" y="7737740"/>
            <a:ext cx="18737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12021264" y="7737740"/>
            <a:ext cx="23242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4478133" y="7528190"/>
            <a:ext cx="2761985" cy="752475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4608153" y="7737740"/>
            <a:ext cx="25019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047750" y="94670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73" name="Text 71"/>
          <p:cNvSpPr/>
          <p:nvPr/>
        </p:nvSpPr>
        <p:spPr>
          <a:xfrm>
            <a:off x="1047750" y="96279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728546" y="9627923"/>
            <a:ext cx="5879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КОНКУРЕНТАМИ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отличие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210065"/>
            <a:ext cx="7995761" cy="1277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62"/>
              </a:lnSpc>
              <a:buNone/>
            </a:pPr>
            <a:r>
              <a:rPr lang="en-US" sz="23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«Бухдеск» — не просто софт, а отраслевая вертикаль: 15-летний бухгалтерский опыт + IT-платформа + разрабатываемый ИИ-агент.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047750" y="3735652"/>
            <a:ext cx="7762875" cy="7790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735652"/>
            <a:ext cx="42333" cy="77906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7" name="Text 5"/>
          <p:cNvSpPr/>
          <p:nvPr/>
        </p:nvSpPr>
        <p:spPr>
          <a:xfrm>
            <a:off x="1337733" y="3945202"/>
            <a:ext cx="745812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15-летний бухгалтерский опыт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4648068"/>
            <a:ext cx="7762875" cy="7790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4648068"/>
            <a:ext cx="42333" cy="77906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0" name="Text 8"/>
          <p:cNvSpPr/>
          <p:nvPr/>
        </p:nvSpPr>
        <p:spPr>
          <a:xfrm>
            <a:off x="1337733" y="4857618"/>
            <a:ext cx="745812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IT-платформа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47750" y="5560483"/>
            <a:ext cx="7762875" cy="7790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5560483"/>
            <a:ext cx="42333" cy="779066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337733" y="5770033"/>
            <a:ext cx="745812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разрабатываемый ИИ-агент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477375" y="2210065"/>
            <a:ext cx="7762875" cy="254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9477375" y="2502165"/>
            <a:ext cx="8539163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2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 ПРЕДЛАГАЮТ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477375" y="2991644"/>
            <a:ext cx="7995761" cy="227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89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Либо софт как отдельную функцию без бухгалтерского аутсорсинга (Entera, при этом сервис запущен только в сентябре 2026 года и работает в тестовом режиме), ARQA), либо еще не реализовали функцию постановки задач голосом (Кнопка), либо предлагают экспертизу без автоматизации (классический аутсорсинг).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715846" y="95898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ПРОЕКТА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только формируется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248165"/>
            <a:ext cx="7946708" cy="3642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0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нашему мнению, передача ввода первичной документации на ИИ — только начинается и в ближайшие годы будет развиваться с помощью множества сервисов. В настоящее время есть единицы таких решений, пока не получившие известности и массового использования из-за большого количества недоработок, отсутствия гарантий конфиденциальности для клиентов (в том числе нет гарантий отсутствия трансграничной передачи данных из-за использования иностранных моделей ИИ).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525000" y="2248165"/>
            <a:ext cx="42333" cy="2803128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6" name="Text 4"/>
          <p:cNvSpPr/>
          <p:nvPr/>
        </p:nvSpPr>
        <p:spPr>
          <a:xfrm>
            <a:off x="9929283" y="2248165"/>
            <a:ext cx="7542424" cy="2841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90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клиентов, работающих с бухгалтерским аутсорсингом, наше решение будет оптимальным, так как оно является комплексным, клиенты уже доверили нам свою бухгалтерию, и это значит, что они уверены в безопасности данных, кроме того, им не потребуется подключать дополнительные сервисы и вникать в их изучение.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715846" y="95898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ПРОЕКТА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тренда, которые сходятся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486415"/>
            <a:ext cx="4953000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486415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920331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371600" y="4409810"/>
            <a:ext cx="4434459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Налоговая реформа создала всплеск спроса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62650" y="4595151"/>
            <a:ext cx="74295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360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667500" y="3486415"/>
            <a:ext cx="4953000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0" y="3486415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6991350" y="3920331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991350" y="4409810"/>
            <a:ext cx="4434459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дефицит кадров стимулирует рост аутсорсинга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582400" y="4595151"/>
            <a:ext cx="74295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35"/>
              </a:lnSpc>
              <a:buNone/>
            </a:pPr>
            <a:r>
              <a:rPr lang="en-US" sz="360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2287250" y="3461015"/>
            <a:ext cx="4953000" cy="2908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287250" y="3461015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1100" y="3894931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58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2611100" y="4384411"/>
            <a:ext cx="4434459" cy="1622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ИИ-автоматизация — единственный способ масштабироваться без увеличения штата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47750" y="6883665"/>
            <a:ext cx="17811750" cy="475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58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«Бухдеск» находится в точке пересечения всех трёх трендов.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715846" y="95898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041929"/>
            <a:ext cx="17811750" cy="57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99"/>
              </a:lnSpc>
              <a:buNone/>
            </a:pPr>
            <a:r>
              <a:rPr lang="en-US" sz="3900" b="1" spc="-58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Бюджет: фонд оплаты труда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1900634"/>
            <a:ext cx="16192500" cy="6469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96873"/>
            <a:ext cx="857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072084"/>
            <a:ext cx="55245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905000" y="2496873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" name="Text 6"/>
          <p:cNvSpPr/>
          <p:nvPr/>
        </p:nvSpPr>
        <p:spPr>
          <a:xfrm>
            <a:off x="2095500" y="2072084"/>
            <a:ext cx="5750719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 РАСХОДОВ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7858125" y="2496873"/>
            <a:ext cx="2190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972425" y="2072084"/>
            <a:ext cx="188595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СУММА, ₽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0048875" y="2496873"/>
            <a:ext cx="1238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3175" y="2072084"/>
            <a:ext cx="93345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1287125" y="2496873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77625" y="2072084"/>
            <a:ext cx="5750719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ЗАНЯТОСТЬ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047750" y="3228181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2704306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905000" y="3228181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2704306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Python/AI-разработчик (Middle)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858125" y="3228181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0" name="Text 18"/>
          <p:cNvSpPr/>
          <p:nvPr/>
        </p:nvSpPr>
        <p:spPr>
          <a:xfrm>
            <a:off x="7972425" y="2704306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575 000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048875" y="3228181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3175" y="2704306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13,8%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287125" y="3228181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4" name="Text 22"/>
          <p:cNvSpPr/>
          <p:nvPr/>
        </p:nvSpPr>
        <p:spPr>
          <a:xfrm>
            <a:off x="11477625" y="2704306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₽, 4 мес, 50%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3951023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6" name="Text 24"/>
          <p:cNvSpPr/>
          <p:nvPr/>
        </p:nvSpPr>
        <p:spPr>
          <a:xfrm>
            <a:off x="1238250" y="3427148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905000" y="3951023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8" name="Text 26"/>
          <p:cNvSpPr/>
          <p:nvPr/>
        </p:nvSpPr>
        <p:spPr>
          <a:xfrm>
            <a:off x="2095500" y="3427148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Бэкенд-разработчик / архитектор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7858125" y="3951023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0" name="Text 28"/>
          <p:cNvSpPr/>
          <p:nvPr/>
        </p:nvSpPr>
        <p:spPr>
          <a:xfrm>
            <a:off x="7972425" y="3427148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1 265 000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048875" y="3951023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3175" y="3427148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30,5%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1287125" y="3951023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4" name="Text 32"/>
          <p:cNvSpPr/>
          <p:nvPr/>
        </p:nvSpPr>
        <p:spPr>
          <a:xfrm>
            <a:off x="11477625" y="3427148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220 000 ₽, 5 мес, 100%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047750" y="4673865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6" name="Text 34"/>
          <p:cNvSpPr/>
          <p:nvPr/>
        </p:nvSpPr>
        <p:spPr>
          <a:xfrm>
            <a:off x="1238250" y="4149990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905000" y="467386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8" name="Text 36"/>
          <p:cNvSpPr/>
          <p:nvPr/>
        </p:nvSpPr>
        <p:spPr>
          <a:xfrm>
            <a:off x="2095500" y="4149990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Фронтенд-разработчик (React/Vue)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7858125" y="4673865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0" name="Text 38"/>
          <p:cNvSpPr/>
          <p:nvPr/>
        </p:nvSpPr>
        <p:spPr>
          <a:xfrm>
            <a:off x="7972425" y="4149990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828 000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0048875" y="4673865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2" name="Text 40"/>
          <p:cNvSpPr/>
          <p:nvPr/>
        </p:nvSpPr>
        <p:spPr>
          <a:xfrm>
            <a:off x="10163175" y="4149990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19,9%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1287125" y="467386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4" name="Text 42"/>
          <p:cNvSpPr/>
          <p:nvPr/>
        </p:nvSpPr>
        <p:spPr>
          <a:xfrm>
            <a:off x="11477625" y="4149990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180 000 ₽, 4 мес, 100%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1047750" y="5396706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6" name="Text 44"/>
          <p:cNvSpPr/>
          <p:nvPr/>
        </p:nvSpPr>
        <p:spPr>
          <a:xfrm>
            <a:off x="1238250" y="4872831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905000" y="539670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8" name="Text 46"/>
          <p:cNvSpPr/>
          <p:nvPr/>
        </p:nvSpPr>
        <p:spPr>
          <a:xfrm>
            <a:off x="2095500" y="4872831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Тестировщик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7858125" y="5396706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0" name="Text 48"/>
          <p:cNvSpPr/>
          <p:nvPr/>
        </p:nvSpPr>
        <p:spPr>
          <a:xfrm>
            <a:off x="7972425" y="4872831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460 000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10048875" y="5396706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2" name="Text 50"/>
          <p:cNvSpPr/>
          <p:nvPr/>
        </p:nvSpPr>
        <p:spPr>
          <a:xfrm>
            <a:off x="10163175" y="4872831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11,1%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1287125" y="539670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4" name="Text 52"/>
          <p:cNvSpPr/>
          <p:nvPr/>
        </p:nvSpPr>
        <p:spPr>
          <a:xfrm>
            <a:off x="11477625" y="4872831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80 000 ₽, 5 мес, 100%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1047750" y="6119548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6" name="Text 54"/>
          <p:cNvSpPr/>
          <p:nvPr/>
        </p:nvSpPr>
        <p:spPr>
          <a:xfrm>
            <a:off x="1238250" y="5595673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1905000" y="6119548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8" name="Text 56"/>
          <p:cNvSpPr/>
          <p:nvPr/>
        </p:nvSpPr>
        <p:spPr>
          <a:xfrm>
            <a:off x="2095500" y="5595673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аналитик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7858125" y="6119548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0" name="Text 58"/>
          <p:cNvSpPr/>
          <p:nvPr/>
        </p:nvSpPr>
        <p:spPr>
          <a:xfrm>
            <a:off x="7972425" y="5595673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431 250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10048875" y="6119548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2" name="Text 60"/>
          <p:cNvSpPr/>
          <p:nvPr/>
        </p:nvSpPr>
        <p:spPr>
          <a:xfrm>
            <a:off x="10163175" y="5595673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10,4%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11287125" y="6119548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4" name="Text 62"/>
          <p:cNvSpPr/>
          <p:nvPr/>
        </p:nvSpPr>
        <p:spPr>
          <a:xfrm>
            <a:off x="11477625" y="5595673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150 000 ₽, 5 мес, 50%</a:t>
            </a:r>
            <a:endParaRPr lang="en-US" sz="1725" dirty="0"/>
          </a:p>
        </p:txBody>
      </p:sp>
      <p:sp>
        <p:nvSpPr>
          <p:cNvPr id="65" name="Shape 63"/>
          <p:cNvSpPr/>
          <p:nvPr/>
        </p:nvSpPr>
        <p:spPr>
          <a:xfrm>
            <a:off x="1047750" y="6842390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6" name="Text 64"/>
          <p:cNvSpPr/>
          <p:nvPr/>
        </p:nvSpPr>
        <p:spPr>
          <a:xfrm>
            <a:off x="1238250" y="6318515"/>
            <a:ext cx="552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1905000" y="6842390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8" name="Text 66"/>
          <p:cNvSpPr/>
          <p:nvPr/>
        </p:nvSpPr>
        <p:spPr>
          <a:xfrm>
            <a:off x="2095500" y="6318515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7858125" y="6842390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0" name="Text 68"/>
          <p:cNvSpPr/>
          <p:nvPr/>
        </p:nvSpPr>
        <p:spPr>
          <a:xfrm>
            <a:off x="7972425" y="6318515"/>
            <a:ext cx="1885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258 750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10048875" y="6842390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2" name="Text 70"/>
          <p:cNvSpPr/>
          <p:nvPr/>
        </p:nvSpPr>
        <p:spPr>
          <a:xfrm>
            <a:off x="10163175" y="6318515"/>
            <a:ext cx="933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04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6,2%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11287125" y="6842390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4" name="Text 72"/>
          <p:cNvSpPr/>
          <p:nvPr/>
        </p:nvSpPr>
        <p:spPr>
          <a:xfrm>
            <a:off x="11477625" y="6318515"/>
            <a:ext cx="57507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150 000 ₽, 5 мес, 30%</a:t>
            </a:r>
            <a:endParaRPr lang="en-US" sz="1725" dirty="0"/>
          </a:p>
        </p:txBody>
      </p:sp>
      <p:sp>
        <p:nvSpPr>
          <p:cNvPr id="75" name="Shape 73"/>
          <p:cNvSpPr/>
          <p:nvPr/>
        </p:nvSpPr>
        <p:spPr>
          <a:xfrm>
            <a:off x="1047750" y="6850856"/>
            <a:ext cx="857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6" name="Shape 74"/>
          <p:cNvSpPr/>
          <p:nvPr/>
        </p:nvSpPr>
        <p:spPr>
          <a:xfrm>
            <a:off x="1905000" y="6850856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7" name="Text 75"/>
          <p:cNvSpPr/>
          <p:nvPr/>
        </p:nvSpPr>
        <p:spPr>
          <a:xfrm>
            <a:off x="2095500" y="7077340"/>
            <a:ext cx="5750719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по ФОТ</a:t>
            </a:r>
            <a:endParaRPr lang="en-US" sz="2025" dirty="0"/>
          </a:p>
        </p:txBody>
      </p:sp>
      <p:sp>
        <p:nvSpPr>
          <p:cNvPr id="78" name="Shape 76"/>
          <p:cNvSpPr/>
          <p:nvPr/>
        </p:nvSpPr>
        <p:spPr>
          <a:xfrm>
            <a:off x="7858125" y="6850856"/>
            <a:ext cx="2190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9" name="Text 77"/>
          <p:cNvSpPr/>
          <p:nvPr/>
        </p:nvSpPr>
        <p:spPr>
          <a:xfrm>
            <a:off x="7972425" y="7077340"/>
            <a:ext cx="18859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3 818 000</a:t>
            </a:r>
            <a:endParaRPr lang="en-US" sz="2025" dirty="0"/>
          </a:p>
        </p:txBody>
      </p:sp>
      <p:sp>
        <p:nvSpPr>
          <p:cNvPr id="80" name="Shape 78"/>
          <p:cNvSpPr/>
          <p:nvPr/>
        </p:nvSpPr>
        <p:spPr>
          <a:xfrm>
            <a:off x="10048875" y="6850856"/>
            <a:ext cx="1238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1" name="Text 79"/>
          <p:cNvSpPr/>
          <p:nvPr/>
        </p:nvSpPr>
        <p:spPr>
          <a:xfrm>
            <a:off x="10163175" y="7077340"/>
            <a:ext cx="9334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074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91,9%</a:t>
            </a:r>
            <a:endParaRPr lang="en-US" sz="2025" dirty="0"/>
          </a:p>
        </p:txBody>
      </p:sp>
      <p:sp>
        <p:nvSpPr>
          <p:cNvPr id="82" name="Shape 80"/>
          <p:cNvSpPr/>
          <p:nvPr/>
        </p:nvSpPr>
        <p:spPr>
          <a:xfrm>
            <a:off x="11287125" y="6850856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3" name="Text 81"/>
          <p:cNvSpPr/>
          <p:nvPr/>
        </p:nvSpPr>
        <p:spPr>
          <a:xfrm>
            <a:off x="11477625" y="7077340"/>
            <a:ext cx="5750719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3 320 000 ₽ + взносы 498 000 ₽</a:t>
            </a:r>
            <a:endParaRPr lang="en-US" sz="1725" dirty="0"/>
          </a:p>
        </p:txBody>
      </p:sp>
      <p:sp>
        <p:nvSpPr>
          <p:cNvPr id="84" name="Text 82"/>
          <p:cNvSpPr/>
          <p:nvPr/>
        </p:nvSpPr>
        <p:spPr>
          <a:xfrm>
            <a:off x="1047750" y="8617479"/>
            <a:ext cx="1569720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1800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Этапы: подготовительный (разработка архитектуры) — 1 месяц; разработка сервиса — 3 месяца; наладка бета-версии и тестовая эксплуатация — 2 месяца.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047750" y="94670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6" name="Text 84"/>
          <p:cNvSpPr/>
          <p:nvPr/>
        </p:nvSpPr>
        <p:spPr>
          <a:xfrm>
            <a:off x="1047750" y="96279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16715846" y="96279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041929"/>
            <a:ext cx="17811750" cy="57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99"/>
              </a:lnSpc>
              <a:buNone/>
            </a:pPr>
            <a:r>
              <a:rPr lang="en-US" sz="3900" b="1" spc="-58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Бюджет: прочие расходы и итог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1900634"/>
            <a:ext cx="16192500" cy="69446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496873"/>
            <a:ext cx="952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072084"/>
            <a:ext cx="60960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000250" y="2496873"/>
            <a:ext cx="11525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" name="Text 6"/>
          <p:cNvSpPr/>
          <p:nvPr/>
        </p:nvSpPr>
        <p:spPr>
          <a:xfrm>
            <a:off x="2209800" y="2072084"/>
            <a:ext cx="11451908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 РАСХОДОВ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3525500" y="2496873"/>
            <a:ext cx="2286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13658850" y="2072084"/>
            <a:ext cx="194310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СУММА, ₽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5811500" y="2496873"/>
            <a:ext cx="1428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15944850" y="2072084"/>
            <a:ext cx="1085850" cy="291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9700"/>
              </a:lnSpc>
              <a:buNone/>
            </a:pPr>
            <a:r>
              <a:rPr lang="en-US" sz="1425" b="1" spc="86" kern="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047750" y="3279510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2723356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000250" y="3279510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6" name="Text 14"/>
          <p:cNvSpPr/>
          <p:nvPr/>
        </p:nvSpPr>
        <p:spPr>
          <a:xfrm>
            <a:off x="2209800" y="2723356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YandexGPT API (Foundation Models)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525500" y="3279510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13658850" y="2723356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72 000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5811500" y="3279510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0" name="Text 18"/>
          <p:cNvSpPr/>
          <p:nvPr/>
        </p:nvSpPr>
        <p:spPr>
          <a:xfrm>
            <a:off x="15944850" y="2723356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1,7%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4053681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3497527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2000250" y="4053681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4" name="Text 22"/>
          <p:cNvSpPr/>
          <p:nvPr/>
        </p:nvSpPr>
        <p:spPr>
          <a:xfrm>
            <a:off x="2209800" y="3497527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SpeechKit STT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525500" y="4053681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6" name="Text 24"/>
          <p:cNvSpPr/>
          <p:nvPr/>
        </p:nvSpPr>
        <p:spPr>
          <a:xfrm>
            <a:off x="13658850" y="3497527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36 000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5811500" y="4053681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8" name="Text 26"/>
          <p:cNvSpPr/>
          <p:nvPr/>
        </p:nvSpPr>
        <p:spPr>
          <a:xfrm>
            <a:off x="15944850" y="3497527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0,9%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4827852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0" name="Text 28"/>
          <p:cNvSpPr/>
          <p:nvPr/>
        </p:nvSpPr>
        <p:spPr>
          <a:xfrm>
            <a:off x="1257300" y="4271698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2000250" y="4827852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2" name="Text 30"/>
          <p:cNvSpPr/>
          <p:nvPr/>
        </p:nvSpPr>
        <p:spPr>
          <a:xfrm>
            <a:off x="2209800" y="4271698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Cloud — ВМ, хранилище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525500" y="4827852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4" name="Text 32"/>
          <p:cNvSpPr/>
          <p:nvPr/>
        </p:nvSpPr>
        <p:spPr>
          <a:xfrm>
            <a:off x="13658850" y="4271698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5811500" y="4827852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6" name="Text 34"/>
          <p:cNvSpPr/>
          <p:nvPr/>
        </p:nvSpPr>
        <p:spPr>
          <a:xfrm>
            <a:off x="15944850" y="4271698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2,9%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47750" y="5602023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8" name="Text 36"/>
          <p:cNvSpPr/>
          <p:nvPr/>
        </p:nvSpPr>
        <p:spPr>
          <a:xfrm>
            <a:off x="1257300" y="5045869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2000250" y="5602023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0" name="Text 38"/>
          <p:cNvSpPr/>
          <p:nvPr/>
        </p:nvSpPr>
        <p:spPr>
          <a:xfrm>
            <a:off x="2209800" y="5045869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Cloud — мониторинг, логи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3525500" y="5602023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2" name="Text 40"/>
          <p:cNvSpPr/>
          <p:nvPr/>
        </p:nvSpPr>
        <p:spPr>
          <a:xfrm>
            <a:off x="13658850" y="5045869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14 400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5811500" y="5602023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4" name="Text 42"/>
          <p:cNvSpPr/>
          <p:nvPr/>
        </p:nvSpPr>
        <p:spPr>
          <a:xfrm>
            <a:off x="15944850" y="5045869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0,3%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7750" y="6376194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6" name="Text 44"/>
          <p:cNvSpPr/>
          <p:nvPr/>
        </p:nvSpPr>
        <p:spPr>
          <a:xfrm>
            <a:off x="1257300" y="5820040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2000250" y="6376194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8" name="Text 46"/>
          <p:cNvSpPr/>
          <p:nvPr/>
        </p:nvSpPr>
        <p:spPr>
          <a:xfrm>
            <a:off x="2209800" y="5820040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SSL-сертификат, домен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3525500" y="6376194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0" name="Text 48"/>
          <p:cNvSpPr/>
          <p:nvPr/>
        </p:nvSpPr>
        <p:spPr>
          <a:xfrm>
            <a:off x="13658850" y="5820040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8 000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5811500" y="6376194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2" name="Text 50"/>
          <p:cNvSpPr/>
          <p:nvPr/>
        </p:nvSpPr>
        <p:spPr>
          <a:xfrm>
            <a:off x="15944850" y="5820040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0,2%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047750" y="7150364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4" name="Text 52"/>
          <p:cNvSpPr/>
          <p:nvPr/>
        </p:nvSpPr>
        <p:spPr>
          <a:xfrm>
            <a:off x="1257300" y="6594210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2000250" y="7150364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6" name="Text 54"/>
          <p:cNvSpPr/>
          <p:nvPr/>
        </p:nvSpPr>
        <p:spPr>
          <a:xfrm>
            <a:off x="2209800" y="6594210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инструменты разработки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13525500" y="7150364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8" name="Text 56"/>
          <p:cNvSpPr/>
          <p:nvPr/>
        </p:nvSpPr>
        <p:spPr>
          <a:xfrm>
            <a:off x="13658850" y="6594210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45 000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5811500" y="7150364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0" name="Text 58"/>
          <p:cNvSpPr/>
          <p:nvPr/>
        </p:nvSpPr>
        <p:spPr>
          <a:xfrm>
            <a:off x="15944850" y="6594210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1,1%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047750" y="7924535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2" name="Text 60"/>
          <p:cNvSpPr/>
          <p:nvPr/>
        </p:nvSpPr>
        <p:spPr>
          <a:xfrm>
            <a:off x="1257300" y="7368381"/>
            <a:ext cx="6096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2000250" y="7924535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4" name="Text 62"/>
          <p:cNvSpPr/>
          <p:nvPr/>
        </p:nvSpPr>
        <p:spPr>
          <a:xfrm>
            <a:off x="2209800" y="7368381"/>
            <a:ext cx="11451908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лицензии 1С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3525500" y="7924535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6" name="Text 64"/>
          <p:cNvSpPr/>
          <p:nvPr/>
        </p:nvSpPr>
        <p:spPr>
          <a:xfrm>
            <a:off x="13658850" y="7368381"/>
            <a:ext cx="19431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15811500" y="7924535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8" name="Text 66"/>
          <p:cNvSpPr/>
          <p:nvPr/>
        </p:nvSpPr>
        <p:spPr>
          <a:xfrm>
            <a:off x="15944850" y="7368381"/>
            <a:ext cx="1085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091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1,0%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1047750" y="7933002"/>
            <a:ext cx="952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0" name="Shape 68"/>
          <p:cNvSpPr/>
          <p:nvPr/>
        </p:nvSpPr>
        <p:spPr>
          <a:xfrm>
            <a:off x="2000250" y="7933002"/>
            <a:ext cx="11525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1" name="Text 69"/>
          <p:cNvSpPr/>
          <p:nvPr/>
        </p:nvSpPr>
        <p:spPr>
          <a:xfrm>
            <a:off x="2209800" y="8197586"/>
            <a:ext cx="114519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ПО СМЕТЕ</a:t>
            </a:r>
            <a:endParaRPr lang="en-US" sz="2250" dirty="0"/>
          </a:p>
        </p:txBody>
      </p:sp>
      <p:sp>
        <p:nvSpPr>
          <p:cNvPr id="72" name="Shape 70"/>
          <p:cNvSpPr/>
          <p:nvPr/>
        </p:nvSpPr>
        <p:spPr>
          <a:xfrm>
            <a:off x="13525500" y="7933002"/>
            <a:ext cx="2286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3" name="Text 71"/>
          <p:cNvSpPr/>
          <p:nvPr/>
        </p:nvSpPr>
        <p:spPr>
          <a:xfrm>
            <a:off x="13658850" y="8197586"/>
            <a:ext cx="194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D73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4 153 400</a:t>
            </a:r>
            <a:endParaRPr lang="en-US" sz="2250" dirty="0"/>
          </a:p>
        </p:txBody>
      </p:sp>
      <p:sp>
        <p:nvSpPr>
          <p:cNvPr id="74" name="Shape 72"/>
          <p:cNvSpPr/>
          <p:nvPr/>
        </p:nvSpPr>
        <p:spPr>
          <a:xfrm>
            <a:off x="15811500" y="7933002"/>
            <a:ext cx="1428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5" name="Text 73"/>
          <p:cNvSpPr/>
          <p:nvPr/>
        </p:nvSpPr>
        <p:spPr>
          <a:xfrm>
            <a:off x="15944850" y="8197586"/>
            <a:ext cx="10858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D73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50" dirty="0"/>
          </a:p>
        </p:txBody>
      </p:sp>
      <p:sp>
        <p:nvSpPr>
          <p:cNvPr id="76" name="Text 74"/>
          <p:cNvSpPr/>
          <p:nvPr/>
        </p:nvSpPr>
        <p:spPr>
          <a:xfrm>
            <a:off x="1047750" y="9073886"/>
            <a:ext cx="16187738" cy="65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14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реализации — 6 месяцев. Страховые взносы — по ставке IT-аккредитации Минцифры: 15% до предельной базы 2 979 000 ₽, 7,6% сверх базы. Зарплаты на уровне региональных ставок (Алтайский край, Барнаул).</a:t>
            </a:r>
            <a:endParaRPr lang="en-US" sz="1725" dirty="0"/>
          </a:p>
        </p:txBody>
      </p:sp>
      <p:sp>
        <p:nvSpPr>
          <p:cNvPr id="77" name="Shape 75"/>
          <p:cNvSpPr/>
          <p:nvPr/>
        </p:nvSpPr>
        <p:spPr>
          <a:xfrm>
            <a:off x="1047750" y="9877690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78" name="Text 76"/>
          <p:cNvSpPr/>
          <p:nvPr/>
        </p:nvSpPr>
        <p:spPr>
          <a:xfrm>
            <a:off x="1047750" y="10038556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16715846" y="10038556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b="1" spc="189" kern="0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КОМПАНИИ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6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«1+1 Бухдеск»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210065"/>
            <a:ext cx="9038562" cy="2651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89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«1+1 Бухдеск» — IT-компания из Барнаула, зарегистрирована 10 сентября 2025 года. Создана как технологичный преемник бухгалтерской фирмы ООО «1+1», которая более 15 лет оказывает бухгалтерские и юридические услуги в Алтайском крае и имеет </a:t>
            </a:r>
            <a:pPr algn="l" indent="0" marL="0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450 клиентов </a:t>
            </a:r>
            <a:pPr algn="l" indent="0" marL="0">
              <a:lnSpc>
                <a:spcPct val="119189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постоянном обслуживании, находится на 37-м месте в рейтинге </a:t>
            </a:r>
            <a:pPr algn="l" indent="0" marL="0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RAEX </a:t>
            </a:r>
            <a:pPr algn="l" indent="0" marL="0">
              <a:lnSpc>
                <a:spcPct val="119189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15 тысяч бухгалтерских аутсорсинговых компаний.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5090054"/>
            <a:ext cx="9038562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89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нашей компании знают все боли предпринимателей, связанные с бухгалтерским и налоговым учётом.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6103408"/>
            <a:ext cx="9038562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задача — облегчить процесс предпринимательства и минимизировать их расходы при сохранении качества учёта.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89803" y="2210065"/>
            <a:ext cx="6750447" cy="1389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489803" y="2210065"/>
            <a:ext cx="42333" cy="1389592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9" name="Text 7"/>
          <p:cNvSpPr/>
          <p:nvPr/>
        </p:nvSpPr>
        <p:spPr>
          <a:xfrm>
            <a:off x="10836936" y="2476765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38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836936" y="3048265"/>
            <a:ext cx="6708365" cy="32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91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бухгалтерских и юридических услуг в Алтайском крае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89803" y="3790156"/>
            <a:ext cx="6750447" cy="1389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89803" y="3790156"/>
            <a:ext cx="42333" cy="1389592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6936" y="4056856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38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450+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10836936" y="4628356"/>
            <a:ext cx="6708365" cy="32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91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 на постоянном обслуживании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0489803" y="5370248"/>
            <a:ext cx="6750447" cy="1674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89803" y="5370248"/>
            <a:ext cx="42333" cy="1674283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6936" y="5636948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38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37-е место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0836936" y="6208448"/>
            <a:ext cx="6281469" cy="607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991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рейтинге RAEX среди 15 тысяч бухгалтерских аутсорсинговых компаний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589823"/>
            <a:ext cx="688706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для создания счетов и актов в 1С через OData · ООО «1+1 Бухдеск»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715846" y="9589823"/>
            <a:ext cx="600604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2026-10-03T05:44:32Z</dcterms:created>
  <dcterms:modified xsi:type="dcterms:W3CDTF">2026-10-03T05:44:32Z</dcterms:modified>
</cp:coreProperties>
</file>