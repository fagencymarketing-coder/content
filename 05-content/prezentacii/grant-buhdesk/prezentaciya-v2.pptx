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явка" id="{f969fbda-7b56-6bc1-5fa6-fc0938dfac0a}">
          <p14:sldIdLst>
            <p14:sldId id="256"/>
          </p14:sldIdLst>
        </p14:section>
        <p14:section name="Сервис" id="{018dfd09-d819-193e-ee8f-8f513517bb1e}">
          <p14:sldIdLst>
            <p14:sldId id="257"/>
            <p14:sldId id="258"/>
          </p14:sldIdLst>
        </p14:section>
        <p14:section name="Планы" id="{09b0b04a-a047-e4bd-ac10-d1f8f54d9c32}">
          <p14:sldIdLst>
            <p14:sldId id="259"/>
          </p14:sldIdLst>
        </p14:section>
        <p14:section name="Грант" id="{2af41e95-d923-7abf-503a-d03ddad4ffca}">
          <p14:sldIdLst>
            <p14:sldId id="260"/>
            <p14:sldId id="261"/>
            <p14:sldId id="262"/>
          </p14:sldIdLst>
        </p14:section>
        <p14:section name="Актуальность" id="{9db86746-49af-8d95-8226-80204e7ef545}">
          <p14:sldIdLst>
            <p14:sldId id="263"/>
          </p14:sldIdLst>
        </p14:section>
        <p14:section name="Технологии" id="{f3422405-aa39-e0ac-80f3-3a38af02624a}">
          <p14:sldIdLst>
            <p14:sldId id="264"/>
          </p14:sldIdLst>
        </p14:section>
        <p14:section name="Конкуренты" id="{56a6e72b-ba14-71be-70f5-c5e61728b5c5}">
          <p14:sldIdLst>
            <p14:sldId id="265"/>
            <p14:sldId id="266"/>
          </p14:sldIdLst>
        </p14:section>
        <p14:section name="Перспективы" id="{f9407edf-7b9d-e6a8-0dee-3f3c0bd87ead}">
          <p14:sldIdLst>
            <p14:sldId id="267"/>
            <p14:sldId id="268"/>
          </p14:sldIdLst>
        </p14:section>
        <p14:section name="Бюджет" id="{ab909a79-728a-f878-e915-e3656c723fdb}">
          <p14:sldIdLst>
            <p14:sldId id="269"/>
            <p14:sldId id="270"/>
          </p14:sldIdLst>
        </p14:section>
        <p14:section name="Компания" id="{ccfec783-0eef-4b54-85b3-0592f5a8758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Название проекта, сумма и срок взяты из исправленной сметы от 03.10.2026.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737360"/>
            <a:ext cx="10515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ИИ-агент для 1С  ·  ООО «1+1 Бухдеск»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NT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ИИ-агент для 1С  ·  ООО «1+1 Бухдеск»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3D4C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737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ЗАЯВКА НА ГРАНТ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ИИ-агент для создания счетов и актов в 1С через OData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«Бухдеск» — онлайн-сервис для ведения и контроля бухгалтерии</a:t>
            </a:r>
            <a:endParaRPr lang="en-US" sz="1600" dirty="0"/>
          </a:p>
        </p:txBody>
      </p:sp>
      <p:sp>
        <p:nvSpPr>
          <p:cNvPr id="5" name="rule"/>
          <p:cNvSpPr/>
          <p:nvPr/>
        </p:nvSpPr>
        <p:spPr>
          <a:xfrm>
            <a:off x="822960" y="4434840"/>
            <a:ext cx="10515600" cy="0"/>
          </a:xfrm>
          <a:prstGeom prst="line">
            <a:avLst/>
          </a:prstGeom>
          <a:noFill/>
          <a:ln w="9525">
            <a:solidFill>
              <a:srgbClr val="4A4A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709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ЗАПРАШИВАЕМАЯ СУММА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4 153 400 ₽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4709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СРОК РЕАЛИЗАЦИИ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6 месяцев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4709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ЗАЯВИТЕЛЬ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983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ООО «1+1 Бухдеск»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5394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Барнаул,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СЕРВИС СЕГОДНЯ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делает сервис уже сейчас</a:t>
            </a:r>
            <a:endParaRPr lang="en-US" sz="3000" dirty="0"/>
          </a:p>
        </p:txBody>
      </p:sp>
      <p:sp>
        <p:nvSpPr>
          <p:cNvPr id="4" name="c0"/>
          <p:cNvSpPr/>
          <p:nvPr/>
        </p:nvSpPr>
        <p:spPr>
          <a:xfrm>
            <a:off x="640080" y="1691640"/>
            <a:ext cx="667512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56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Автоматизированный приём задач и первичных документов от клиентов для целей бухгалтерского, налогового, управленческого учёта</a:t>
            </a:r>
            <a:endParaRPr lang="en-US" sz="1300" dirty="0"/>
          </a:p>
        </p:txBody>
      </p:sp>
      <p:sp>
        <p:nvSpPr>
          <p:cNvPr id="7" name="c1"/>
          <p:cNvSpPr/>
          <p:nvPr/>
        </p:nvSpPr>
        <p:spPr>
          <a:xfrm>
            <a:off x="640080" y="3108960"/>
            <a:ext cx="667512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73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6616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Веб-интерфейс отображает бухгалтерские задачи и статус их выполнения, начисленные и уплаченные налоги, даты предстоящих платежей</a:t>
            </a:r>
            <a:endParaRPr lang="en-US" sz="1300" dirty="0"/>
          </a:p>
        </p:txBody>
      </p:sp>
      <p:sp>
        <p:nvSpPr>
          <p:cNvPr id="10" name="c2"/>
          <p:cNvSpPr/>
          <p:nvPr/>
        </p:nvSpPr>
        <p:spPr>
          <a:xfrm>
            <a:off x="640080" y="4526280"/>
            <a:ext cx="667512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690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98348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У клиента есть доступ ко всем отчётам, документам и результатам работ бухгалтерии 24/7. Документооборот каждой компании в собственном профиле</a:t>
            </a:r>
            <a:endParaRPr lang="en-US" sz="1300" dirty="0"/>
          </a:p>
        </p:txBody>
      </p:sp>
      <p:sp>
        <p:nvSpPr>
          <p:cNvPr id="13" name="ph"/>
          <p:cNvSpPr/>
          <p:nvPr/>
        </p:nvSpPr>
        <p:spPr>
          <a:xfrm>
            <a:off x="7726680" y="1691640"/>
            <a:ext cx="3794760" cy="4160520"/>
          </a:xfrm>
          <a:prstGeom prst="roundRect">
            <a:avLst>
              <a:gd name="adj" fmla="val 144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7909560" y="3429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Снимок экрана сервиса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7673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заполнитель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ДОПОЛНИТЕЛЬНАЯ ИНФОРМАЦИЯ О СЕРВИСЕ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Сервис в цифрах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Описание функционала сервиса и оферта для подключения размещены на сайте: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https://service.buh-desk.ru/</a:t>
            </a:r>
            <a:endParaRPr lang="en-US" sz="1200" dirty="0"/>
          </a:p>
        </p:txBody>
      </p:sp>
      <p:sp>
        <p:nvSpPr>
          <p:cNvPr id="5" name="n0"/>
          <p:cNvSpPr/>
          <p:nvPr/>
        </p:nvSpPr>
        <p:spPr>
          <a:xfrm>
            <a:off x="640080" y="1874520"/>
            <a:ext cx="3429000" cy="18288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2491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сотрудников трудоустроено в ООО «1+1 Бухдеск» по состоянию на 01.10.2026</a:t>
            </a:r>
            <a:endParaRPr lang="en-US" sz="1100" dirty="0"/>
          </a:p>
        </p:txBody>
      </p:sp>
      <p:sp>
        <p:nvSpPr>
          <p:cNvPr id="8" name="n1"/>
          <p:cNvSpPr/>
          <p:nvPr/>
        </p:nvSpPr>
        <p:spPr>
          <a:xfrm>
            <a:off x="4297680" y="1874520"/>
            <a:ext cx="3429000" cy="18288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103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71 тыс. руб.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2491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среднемесячная заработная плата за 9 мес. 2026 г. в ООО «1+1 Бухдеск»</a:t>
            </a:r>
            <a:endParaRPr lang="en-US" sz="1100" dirty="0"/>
          </a:p>
        </p:txBody>
      </p:sp>
      <p:sp>
        <p:nvSpPr>
          <p:cNvPr id="11" name="n2"/>
          <p:cNvSpPr/>
          <p:nvPr/>
        </p:nvSpPr>
        <p:spPr>
          <a:xfrm>
            <a:off x="7955280" y="1874520"/>
            <a:ext cx="3429000" cy="18288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2103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50+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72491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клиентов, с которыми заключены лицензионные соглашения на использование сервиса (на 01.10.2026)</a:t>
            </a:r>
            <a:endParaRPr lang="en-US" sz="1100" dirty="0"/>
          </a:p>
        </p:txBody>
      </p:sp>
      <p:sp>
        <p:nvSpPr>
          <p:cNvPr id="14" name="r0"/>
          <p:cNvSpPr/>
          <p:nvPr/>
        </p:nvSpPr>
        <p:spPr>
          <a:xfrm>
            <a:off x="640080" y="3931920"/>
            <a:ext cx="5303520" cy="13716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133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№ 202569021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5994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accent3"/>
                </a:solidFill>
              </a:rPr>
              <a:t>Свидетельство о государственной регистрации программ для ЭВМ</a:t>
            </a:r>
            <a:endParaRPr lang="en-US" sz="1100" dirty="0"/>
          </a:p>
        </p:txBody>
      </p:sp>
      <p:sp>
        <p:nvSpPr>
          <p:cNvPr id="17" name="r1"/>
          <p:cNvSpPr/>
          <p:nvPr/>
        </p:nvSpPr>
        <p:spPr>
          <a:xfrm>
            <a:off x="6172200" y="3931920"/>
            <a:ext cx="5303520" cy="13716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4133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№ 32932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5994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accent3"/>
                </a:solidFill>
              </a:rPr>
              <a:t>Сервис включён в Реестр отечественного ПО (от 31.03.2026)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ЗА СВОЙ СЧЁТ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планируется доработать в Сервисе в 2026–2027 гг.</a:t>
            </a:r>
            <a:endParaRPr lang="en-US" sz="3000" dirty="0"/>
          </a:p>
        </p:txBody>
      </p:sp>
      <p:sp>
        <p:nvSpPr>
          <p:cNvPr id="4" name="p0"/>
          <p:cNvSpPr/>
          <p:nvPr/>
        </p:nvSpPr>
        <p:spPr>
          <a:xfrm>
            <a:off x="640080" y="1691640"/>
            <a:ext cx="3429000" cy="4114800"/>
          </a:xfrm>
          <a:prstGeom prst="roundRect">
            <a:avLst>
              <a:gd name="adj" fmla="val 1600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2880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Автоматизировать разбор, систематизацию и организацию хранения (по видам и срокам) переданных в обработку документов для их последующего распознавания и автоматического ввода в учётную систему клиента и обеспечения быстрого поиска документов в ходе проверок</a:t>
            </a:r>
            <a:endParaRPr lang="en-US" sz="1200" dirty="0"/>
          </a:p>
        </p:txBody>
      </p:sp>
      <p:sp>
        <p:nvSpPr>
          <p:cNvPr id="7" name="p1"/>
          <p:cNvSpPr/>
          <p:nvPr/>
        </p:nvSpPr>
        <p:spPr>
          <a:xfrm>
            <a:off x="4297680" y="1691640"/>
            <a:ext cx="3429000" cy="4114800"/>
          </a:xfrm>
          <a:prstGeom prst="roundRect">
            <a:avLst>
              <a:gd name="adj" fmla="val 1600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86000"/>
            <a:ext cx="2880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Добавить чат для общения с бухгалтером</a:t>
            </a:r>
            <a:endParaRPr lang="en-US" sz="1200" dirty="0"/>
          </a:p>
        </p:txBody>
      </p:sp>
      <p:sp>
        <p:nvSpPr>
          <p:cNvPr id="10" name="p2"/>
          <p:cNvSpPr/>
          <p:nvPr/>
        </p:nvSpPr>
        <p:spPr>
          <a:xfrm>
            <a:off x="7955280" y="1691640"/>
            <a:ext cx="3429000" cy="4114800"/>
          </a:xfrm>
          <a:prstGeom prst="roundRect">
            <a:avLst>
              <a:gd name="adj" fmla="val 1600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920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286000"/>
            <a:ext cx="2880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Автоматизировать ввод в бухгалтерскую программу 1С следующих документов, полученных от клиентов сервиса: банковские выписки, акты сверок, кадровые документы на приём, увольнение сотрудника, начисление заработной платы и отпускных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ПРЕДМЕТ ГРАНТА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Что планируется доработать за счёт средств Гранта</a:t>
            </a:r>
            <a:endParaRPr lang="en-US" sz="3000" dirty="0"/>
          </a:p>
        </p:txBody>
      </p:sp>
      <p:sp>
        <p:nvSpPr>
          <p:cNvPr id="4" name="gcard"/>
          <p:cNvSpPr/>
          <p:nvPr/>
        </p:nvSpPr>
        <p:spPr>
          <a:xfrm>
            <a:off x="640080" y="2103120"/>
            <a:ext cx="10881360" cy="2286000"/>
          </a:xfrm>
          <a:prstGeom prst="roundRect">
            <a:avLst>
              <a:gd name="adj" fmla="val 2000"/>
            </a:avLst>
          </a:prstGeom>
          <a:solidFill>
            <a:srgbClr val="26261F"/>
          </a:solidFill>
          <a:ln w="12700">
            <a:solidFill>
              <a:srgbClr val="7C7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51460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Автоматизировать формирование и обработку в 1С первичных документов (счетов, актов, УПД) для клиента в режиме 24/7 без участия бухгалтера путём получения от клиента задачи в виде текста или голосового сообщения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4 153 400 ₽  ·  6 месяцев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3D4C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ПРЕДМЕТ ГРАНТА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Суть ИТ-решения</a:t>
            </a:r>
            <a:endParaRPr lang="en-US" sz="3000" dirty="0"/>
          </a:p>
        </p:txBody>
      </p:sp>
      <p:sp>
        <p:nvSpPr>
          <p:cNvPr id="4" name="s0"/>
          <p:cNvSpPr/>
          <p:nvPr/>
        </p:nvSpPr>
        <p:spPr>
          <a:xfrm>
            <a:off x="640080" y="1691640"/>
            <a:ext cx="10881360" cy="1207008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37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Клиент ставит задачу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В нашем онлайн-сервисе клиент обращается к ИИ-помощнику «Бухдеск», который подключается к бухгалтерской базе 1С клиента и по заданию клиента (путём печатного или голосового ввода данных) сервис создаёт счёт на оплату или УПД/акт выполненных работ без помощи бухгалтера.</a:t>
            </a:r>
            <a:endParaRPr lang="en-US" sz="1200" dirty="0"/>
          </a:p>
        </p:txBody>
      </p:sp>
      <p:sp>
        <p:nvSpPr>
          <p:cNvPr id="7" name="s1"/>
          <p:cNvSpPr/>
          <p:nvPr/>
        </p:nvSpPr>
        <p:spPr>
          <a:xfrm>
            <a:off x="640080" y="3081528"/>
            <a:ext cx="10881360" cy="1207008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Сервис заполняет документ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3872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Сервис самостоятельно в справочниках учётной системы клиента подбирает необходимых контрагентов и номенклатуру товара или услуги, выставляет необходимое количество и цену, ставку НДС.</a:t>
            </a:r>
            <a:endParaRPr lang="en-US" sz="1200" dirty="0"/>
          </a:p>
        </p:txBody>
      </p:sp>
      <p:sp>
        <p:nvSpPr>
          <p:cNvPr id="10" name="s2"/>
          <p:cNvSpPr/>
          <p:nvPr/>
        </p:nvSpPr>
        <p:spPr>
          <a:xfrm>
            <a:off x="640080" y="4471416"/>
            <a:ext cx="10881360" cy="1207008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Клиент уточняет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9286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На основании текстовых сообщений или голосовых комментариев от клиента созданные документы корректируются до нужных значений.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СЦЕНАРИЙ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Как это работает</a:t>
            </a:r>
            <a:endParaRPr lang="en-US" sz="3000" dirty="0"/>
          </a:p>
        </p:txBody>
      </p:sp>
      <p:sp>
        <p:nvSpPr>
          <p:cNvPr id="4" name="st0"/>
          <p:cNvSpPr/>
          <p:nvPr/>
        </p:nvSpPr>
        <p:spPr>
          <a:xfrm>
            <a:off x="640080" y="2377440"/>
            <a:ext cx="251460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Шаг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0779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пользователь печатает или надиктовывает текст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30358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t1"/>
          <p:cNvSpPr/>
          <p:nvPr/>
        </p:nvSpPr>
        <p:spPr>
          <a:xfrm>
            <a:off x="3474720" y="2377440"/>
            <a:ext cx="251460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Шаг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90779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ИИ извлекает данные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0358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t2"/>
          <p:cNvSpPr/>
          <p:nvPr/>
        </p:nvSpPr>
        <p:spPr>
          <a:xfrm>
            <a:off x="6309360" y="2377440"/>
            <a:ext cx="251460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Шаг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90779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создаёт документ в 1С через OData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30358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t3"/>
          <p:cNvSpPr/>
          <p:nvPr/>
        </p:nvSpPr>
        <p:spPr>
          <a:xfrm>
            <a:off x="9144000" y="2377440"/>
            <a:ext cx="251460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600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Шаг 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290779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передаёт документ клиенту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АКТУАЛЬНОСТЬ И СОЦИАЛЬНАЯ ЗНАЧИМОСТЬ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Эффект от замены бухгалтера-первичника на ИИ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3"/>
                </a:solidFill>
              </a:rPr>
              <a:t>Одна из самых частых жалоб предпринимателей на бухгалтеров — НЕОПЕРАТИВНОЕ реагирование на срочные задачи. ИИ-помощник в бухгалтерии — это поддержка бизнеса в условиях текущей экономической ситуации и возможность компенсировать рост издержек из-за роста налогов.</a:t>
            </a:r>
            <a:endParaRPr lang="en-US" sz="1300" dirty="0"/>
          </a:p>
        </p:txBody>
      </p:sp>
      <p:sp>
        <p:nvSpPr>
          <p:cNvPr id="5" name="e0"/>
          <p:cNvSpPr/>
          <p:nvPr/>
        </p:nvSpPr>
        <p:spPr>
          <a:xfrm>
            <a:off x="640080" y="2606040"/>
            <a:ext cx="2057400" cy="315468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7889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от 45 до 80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тыс. руб./мес.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5661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Экономия компании на зарплате сотрудника на 1 сотрудника</a:t>
            </a:r>
            <a:endParaRPr lang="en-US" sz="1100" dirty="0"/>
          </a:p>
        </p:txBody>
      </p:sp>
      <p:sp>
        <p:nvSpPr>
          <p:cNvPr id="8" name="src0"/>
          <p:cNvSpPr/>
          <p:nvPr/>
        </p:nvSpPr>
        <p:spPr>
          <a:xfrm>
            <a:off x="841248" y="5166360"/>
            <a:ext cx="1691640" cy="384048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41248" y="5166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Источник: заполнить</a:t>
            </a:r>
            <a:endParaRPr lang="en-US" sz="900" dirty="0"/>
          </a:p>
        </p:txBody>
      </p:sp>
      <p:sp>
        <p:nvSpPr>
          <p:cNvPr id="10" name="e1"/>
          <p:cNvSpPr/>
          <p:nvPr/>
        </p:nvSpPr>
        <p:spPr>
          <a:xfrm>
            <a:off x="2852928" y="2606040"/>
            <a:ext cx="2057400" cy="315468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54096" y="27889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до 20 часов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 месяц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54096" y="35661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Экономия времени предпринимателя, который сам выставляет клиентам счета и акты</a:t>
            </a:r>
            <a:endParaRPr lang="en-US" sz="1100" dirty="0"/>
          </a:p>
        </p:txBody>
      </p:sp>
      <p:sp>
        <p:nvSpPr>
          <p:cNvPr id="13" name="src1"/>
          <p:cNvSpPr/>
          <p:nvPr/>
        </p:nvSpPr>
        <p:spPr>
          <a:xfrm>
            <a:off x="3054096" y="5166360"/>
            <a:ext cx="1691640" cy="384048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3054096" y="5166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Источник: заполнить</a:t>
            </a:r>
            <a:endParaRPr lang="en-US" sz="900" dirty="0"/>
          </a:p>
        </p:txBody>
      </p:sp>
      <p:sp>
        <p:nvSpPr>
          <p:cNvPr id="15" name="e2"/>
          <p:cNvSpPr/>
          <p:nvPr/>
        </p:nvSpPr>
        <p:spPr>
          <a:xfrm>
            <a:off x="5065776" y="2606040"/>
            <a:ext cx="2057400" cy="315468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66944" y="27889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до 80–90%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35661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Снижение ошибок в первичке</a:t>
            </a:r>
            <a:endParaRPr lang="en-US" sz="1100" dirty="0"/>
          </a:p>
        </p:txBody>
      </p:sp>
      <p:sp>
        <p:nvSpPr>
          <p:cNvPr id="18" name="src2"/>
          <p:cNvSpPr/>
          <p:nvPr/>
        </p:nvSpPr>
        <p:spPr>
          <a:xfrm>
            <a:off x="5266944" y="5166360"/>
            <a:ext cx="1691640" cy="384048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5266944" y="5166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Источник: заполнить</a:t>
            </a:r>
            <a:endParaRPr lang="en-US" sz="900" dirty="0"/>
          </a:p>
        </p:txBody>
      </p:sp>
      <p:sp>
        <p:nvSpPr>
          <p:cNvPr id="20" name="e3"/>
          <p:cNvSpPr/>
          <p:nvPr/>
        </p:nvSpPr>
        <p:spPr>
          <a:xfrm>
            <a:off x="7278624" y="2606040"/>
            <a:ext cx="2057400" cy="315468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9792" y="27889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 3–10 раз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35661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Скорость обработки документов быстрее ручного ввода в круглосуточном режиме</a:t>
            </a:r>
            <a:endParaRPr lang="en-US" sz="1100" dirty="0"/>
          </a:p>
        </p:txBody>
      </p:sp>
      <p:sp>
        <p:nvSpPr>
          <p:cNvPr id="23" name="src3"/>
          <p:cNvSpPr/>
          <p:nvPr/>
        </p:nvSpPr>
        <p:spPr>
          <a:xfrm>
            <a:off x="7479792" y="5166360"/>
            <a:ext cx="1691640" cy="384048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7479792" y="5166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Источник: заполнить</a:t>
            </a:r>
            <a:endParaRPr lang="en-US" sz="900" dirty="0"/>
          </a:p>
        </p:txBody>
      </p:sp>
      <p:sp>
        <p:nvSpPr>
          <p:cNvPr id="25" name="e4"/>
          <p:cNvSpPr/>
          <p:nvPr/>
        </p:nvSpPr>
        <p:spPr>
          <a:xfrm>
            <a:off x="9491472" y="2606040"/>
            <a:ext cx="2057400" cy="315468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0" y="27889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на 20–25%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5661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Увеличение продаж за счёт ускорения реагирования на заявки</a:t>
            </a:r>
            <a:endParaRPr lang="en-US" sz="1100" dirty="0"/>
          </a:p>
        </p:txBody>
      </p:sp>
      <p:sp>
        <p:nvSpPr>
          <p:cNvPr id="28" name="src4"/>
          <p:cNvSpPr/>
          <p:nvPr/>
        </p:nvSpPr>
        <p:spPr>
          <a:xfrm>
            <a:off x="9692640" y="5166360"/>
            <a:ext cx="1691640" cy="384048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9692640" y="5166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Источник: заполнить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ТЕХНОЛОГИЧЕСКАЯ ОСНОВА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На чём построено решение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Модели распознавания и генерации — российские: SpeechKit и YandexGPT</a:t>
            </a:r>
            <a:endParaRPr lang="en-US" sz="1300" dirty="0"/>
          </a:p>
        </p:txBody>
      </p:sp>
      <p:sp>
        <p:nvSpPr>
          <p:cNvPr id="5" name="t0"/>
          <p:cNvSpPr/>
          <p:nvPr/>
        </p:nvSpPr>
        <p:spPr>
          <a:xfrm>
            <a:off x="640080" y="1965960"/>
            <a:ext cx="530352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dot0"/>
          <p:cNvSpPr/>
          <p:nvPr/>
        </p:nvSpPr>
        <p:spPr>
          <a:xfrm>
            <a:off x="914400" y="224028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22219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Веб-интерфейс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62432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удобные формы, шаблоны, история и выгрузки. Сервис не зависит от мессенджеров, которые могут быть заблокированы</a:t>
            </a:r>
            <a:endParaRPr lang="en-US" sz="1200" dirty="0"/>
          </a:p>
        </p:txBody>
      </p:sp>
      <p:sp>
        <p:nvSpPr>
          <p:cNvPr id="9" name="t1"/>
          <p:cNvSpPr/>
          <p:nvPr/>
        </p:nvSpPr>
        <p:spPr>
          <a:xfrm>
            <a:off x="6172200" y="1965960"/>
            <a:ext cx="530352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" name="dot1"/>
          <p:cNvSpPr/>
          <p:nvPr/>
        </p:nvSpPr>
        <p:spPr>
          <a:xfrm>
            <a:off x="6446520" y="224028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22219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Распознавание и понимание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62432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SpeechKit + YandexGPT извлекают данные из речи и текста</a:t>
            </a:r>
            <a:endParaRPr lang="en-US" sz="1200" dirty="0"/>
          </a:p>
        </p:txBody>
      </p:sp>
      <p:sp>
        <p:nvSpPr>
          <p:cNvPr id="13" name="t2"/>
          <p:cNvSpPr/>
          <p:nvPr/>
        </p:nvSpPr>
        <p:spPr>
          <a:xfrm>
            <a:off x="640080" y="3931920"/>
            <a:ext cx="530352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" name="dot2"/>
          <p:cNvSpPr/>
          <p:nvPr/>
        </p:nvSpPr>
        <p:spPr>
          <a:xfrm>
            <a:off x="914400" y="42062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25880" y="4187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Интеграция через OData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59028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создание счетов и актов без доработки конфигурации 1С</a:t>
            </a:r>
            <a:endParaRPr lang="en-US" sz="1200" dirty="0"/>
          </a:p>
        </p:txBody>
      </p:sp>
      <p:sp>
        <p:nvSpPr>
          <p:cNvPr id="17" name="t3"/>
          <p:cNvSpPr/>
          <p:nvPr/>
        </p:nvSpPr>
        <p:spPr>
          <a:xfrm>
            <a:off x="6172200" y="3931920"/>
            <a:ext cx="5303520" cy="17830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8" name="dot3"/>
          <p:cNvSpPr/>
          <p:nvPr/>
        </p:nvSpPr>
        <p:spPr>
          <a:xfrm>
            <a:off x="6446520" y="42062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4187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Контроль и безопасность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459028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превью документа, подтверждение, роли и полный аудит действий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СРАВНЕНИЕ С КОНКУРЕНТАМИ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Чем «Бухдеск» отличается от аналогов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На рынке нет подобного сервиса, создающего комплексную инфраструктуру для бухгалтерского, налогового и управленческого учёта компаний.</a:t>
            </a:r>
            <a:endParaRPr lang="en-US" sz="1200" dirty="0"/>
          </a:p>
        </p:txBody>
      </p:sp>
      <p:graphicFrame>
        <p:nvGraphicFramePr>
          <p:cNvPr id="11" name="cm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88136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463040"/>
                <a:gridCol w="1463040"/>
                <a:gridCol w="146304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КРИТЕРИЙ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Entera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ARQA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Кнопка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Бухдеск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3A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Своя бухгалтерская экспертиза (15 лет)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9490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9490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Личный кабинет клиента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9490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9490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Интеграция с 1С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Своя система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Входит в комплекс аутсорсингового обслуживания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9490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9490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Автоматическая обработка первички (текст → документы 1С)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9490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9490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ИИ-агент (голос → документы 1С)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9490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9490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СРАВНЕНИЕ С КОНКУРЕНТАМИ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Главное отличие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«Бухдеск» — не просто софт, а отраслевая вертикаль: 15-летний бухгалтерский опыт + IT-платформа + разрабатываемый ИИ-агент.</a:t>
            </a:r>
            <a:endParaRPr lang="en-US" sz="1400" dirty="0"/>
          </a:p>
        </p:txBody>
      </p:sp>
      <p:sp>
        <p:nvSpPr>
          <p:cNvPr id="5" name="v0"/>
          <p:cNvSpPr/>
          <p:nvPr/>
        </p:nvSpPr>
        <p:spPr>
          <a:xfrm>
            <a:off x="640080" y="2514600"/>
            <a:ext cx="530352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vd0"/>
          <p:cNvSpPr/>
          <p:nvPr/>
        </p:nvSpPr>
        <p:spPr>
          <a:xfrm>
            <a:off x="868680" y="2706624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5146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15-летний бухгалтерский опыт</a:t>
            </a:r>
            <a:endParaRPr lang="en-US" sz="1300" dirty="0"/>
          </a:p>
        </p:txBody>
      </p:sp>
      <p:sp>
        <p:nvSpPr>
          <p:cNvPr id="8" name="v1"/>
          <p:cNvSpPr/>
          <p:nvPr/>
        </p:nvSpPr>
        <p:spPr>
          <a:xfrm>
            <a:off x="640080" y="3227832"/>
            <a:ext cx="530352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" name="vd1"/>
          <p:cNvSpPr/>
          <p:nvPr/>
        </p:nvSpPr>
        <p:spPr>
          <a:xfrm>
            <a:off x="868680" y="3419856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2278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IT-платформа</a:t>
            </a:r>
            <a:endParaRPr lang="en-US" sz="1300" dirty="0"/>
          </a:p>
        </p:txBody>
      </p:sp>
      <p:sp>
        <p:nvSpPr>
          <p:cNvPr id="11" name="v2"/>
          <p:cNvSpPr/>
          <p:nvPr/>
        </p:nvSpPr>
        <p:spPr>
          <a:xfrm>
            <a:off x="640080" y="3941064"/>
            <a:ext cx="530352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2" name="vd2"/>
          <p:cNvSpPr/>
          <p:nvPr/>
        </p:nvSpPr>
        <p:spPr>
          <a:xfrm>
            <a:off x="868680" y="413308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394106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разрабатываемый ИИ-агент</a:t>
            </a:r>
            <a:endParaRPr lang="en-US" sz="1300" dirty="0"/>
          </a:p>
        </p:txBody>
      </p:sp>
      <p:sp>
        <p:nvSpPr>
          <p:cNvPr id="14" name="comp"/>
          <p:cNvSpPr/>
          <p:nvPr/>
        </p:nvSpPr>
        <p:spPr>
          <a:xfrm>
            <a:off x="6355080" y="1600200"/>
            <a:ext cx="5166360" cy="3529584"/>
          </a:xfrm>
          <a:prstGeom prst="roundRect">
            <a:avLst>
              <a:gd name="adj" fmla="val 1554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КОНКУРЕНТЫ ПРЕДЛАГАЮТ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28600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Либо софт как отдельную функцию без бухгалтерского аутсорсинга (Entera, при этом сервис запущен только в сентябре 2026 года и работает в тестовом режиме), ARQA), либо еще не реализовали функцию постановки задач голосом (Кнопка), либо предлагают экспертизу без автоматизации (классический аутсорсинг).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ПЕРСПЕКТИВЫ ПРОЕКТА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Рынок только формируется</a:t>
            </a:r>
            <a:endParaRPr lang="en-US" sz="3000" dirty="0"/>
          </a:p>
        </p:txBody>
      </p:sp>
      <p:sp>
        <p:nvSpPr>
          <p:cNvPr id="4" name="m0"/>
          <p:cNvSpPr/>
          <p:nvPr/>
        </p:nvSpPr>
        <p:spPr>
          <a:xfrm>
            <a:off x="640080" y="1691640"/>
            <a:ext cx="5303520" cy="4114800"/>
          </a:xfrm>
          <a:prstGeom prst="roundRect">
            <a:avLst>
              <a:gd name="adj" fmla="val 1333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Решений пока единицы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4663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По нашему мнению, передача ввода первичной документации на ИИ — только начинается и в ближайшие годы будет развиваться с помощью множества сервисов. В настоящее время есть единицы таких решений, пока не получившие известности и массового использования из-за большого количества недоработок, отсутствия гарантий конфиденциальности для клиентов (в том числе нет гарантий отсутствия трансграничной передачи данных из-за использования иностранных моделей ИИ).</a:t>
            </a:r>
            <a:endParaRPr lang="en-US" sz="1200" dirty="0"/>
          </a:p>
        </p:txBody>
      </p:sp>
      <p:sp>
        <p:nvSpPr>
          <p:cNvPr id="7" name="m1"/>
          <p:cNvSpPr/>
          <p:nvPr/>
        </p:nvSpPr>
        <p:spPr>
          <a:xfrm>
            <a:off x="6172200" y="1691640"/>
            <a:ext cx="5303520" cy="4114800"/>
          </a:xfrm>
          <a:prstGeom prst="roundRect">
            <a:avLst>
              <a:gd name="adj" fmla="val 1333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Для наших клиентов решение оптимально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06040"/>
            <a:ext cx="4663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Для клиентов, работающих с бухгалтерским аутсорсингом, наше решение будет оптимальным, так как оно является комплексным, клиенты уже доверили нам свою бухгалтерию, и это значит, что они уверены в безопасности данных, кроме того, им не потребуется подключать дополнительные сервисы и вникать в их изучение.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ПЕРСПЕКТИВЫ ПРОЕКТА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Три тренда, которые сходятся</a:t>
            </a:r>
            <a:endParaRPr lang="en-US" sz="3000" dirty="0"/>
          </a:p>
        </p:txBody>
      </p:sp>
      <p:sp>
        <p:nvSpPr>
          <p:cNvPr id="4" name="tr0"/>
          <p:cNvSpPr/>
          <p:nvPr/>
        </p:nvSpPr>
        <p:spPr>
          <a:xfrm>
            <a:off x="640080" y="2103120"/>
            <a:ext cx="3429000" cy="21945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889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Налоговая реформа создала всплеск спроса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r1"/>
          <p:cNvSpPr/>
          <p:nvPr/>
        </p:nvSpPr>
        <p:spPr>
          <a:xfrm>
            <a:off x="4389120" y="2103120"/>
            <a:ext cx="3429000" cy="21945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7889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Дефицит кадров стимулирует рост аутсорсинга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r2"/>
          <p:cNvSpPr/>
          <p:nvPr/>
        </p:nvSpPr>
        <p:spPr>
          <a:xfrm>
            <a:off x="8138160" y="2103120"/>
            <a:ext cx="3429000" cy="21945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7889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ИИ-автоматизация — единственный способ масштабироваться без увеличения штата</a:t>
            </a:r>
            <a:endParaRPr lang="en-US" sz="1300" dirty="0"/>
          </a:p>
        </p:txBody>
      </p:sp>
      <p:sp>
        <p:nvSpPr>
          <p:cNvPr id="15" name="tr-sum"/>
          <p:cNvSpPr/>
          <p:nvPr/>
        </p:nvSpPr>
        <p:spPr>
          <a:xfrm>
            <a:off x="640080" y="4617720"/>
            <a:ext cx="1088136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617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«Бухдеск» находится в точке пересечения всех трёх трендов.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БЮДЖЕТ ПРОЕКТА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Фонд оплаты труда с начислениями</a:t>
            </a:r>
            <a:endParaRPr lang="en-US" sz="3000" dirty="0"/>
          </a:p>
        </p:txBody>
      </p:sp>
      <p:graphicFrame>
        <p:nvGraphicFramePr>
          <p:cNvPr id="15" name="bt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931920"/>
                <a:gridCol w="1463040"/>
                <a:gridCol w="914400"/>
                <a:gridCol w="40233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№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Статья расходов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Сумма, ₽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Доля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Занятость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1.1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Python/AI-разработчик (Middle)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575 000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13,8%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250 000 ₽, 4 мес, 50%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1.2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Бэкенд-разработчик / архитектор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1 265 000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30,5%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220 000 ₽, 5 мес, 100%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1.3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Фронтенд-разработчик (React/Vue)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828 000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19,9%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180 000 ₽, 4 мес, 100%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1.4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Тестировщик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460 000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11,1%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80 000 ₽, 5 мес, 100%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1.5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Системный аналитик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431 250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10,4%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150 000 ₽, 5 мес, 50%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1.6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Руководитель проекта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258 750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6,2%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150 000 ₽, 5 мес, 30%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Итого по ФОТ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3 818 000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91,9%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ФОТ 3 320 000 ₽ + взносы 498 000 ₽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</a:tr>
            </a:tbl>
          </a:graphicData>
        </a:graphic>
      </p:graphicFrame>
      <p:sp>
        <p:nvSpPr>
          <p:cNvPr id="5" name="stages"/>
          <p:cNvSpPr/>
          <p:nvPr/>
        </p:nvSpPr>
        <p:spPr>
          <a:xfrm>
            <a:off x="640080" y="5349240"/>
            <a:ext cx="1088136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534924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Этапы: подготовительный (разработка архитектуры) — 1 месяц · разработка сервиса — 3 месяца · наладка бета-версии и тестовая эксплуатация — 2 месяца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БЮДЖЕТ ПРОЕКТА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Прочие расходы и итог по смете</a:t>
            </a:r>
            <a:endParaRPr lang="en-US" sz="3000" dirty="0"/>
          </a:p>
        </p:txBody>
      </p:sp>
      <p:graphicFrame>
        <p:nvGraphicFramePr>
          <p:cNvPr id="16" name="bt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840480"/>
                <a:gridCol w="137160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№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Статья расходов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Сумма, ₽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Доля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7E2E"/>
                          </a:solidFill>
                        </a:rPr>
                        <a:t>2. Yandex AI API и облако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2.1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YandexGPT API (Foundation Models)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72 000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1,7%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2.2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Yandex SpeechKit STT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36 000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0,9%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2.3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Yandex Cloud — ВМ, хранилище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120 000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2,9%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2.4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Yandex Cloud — мониторинг, логи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14 400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0,3%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7E2E"/>
                          </a:solidFill>
                        </a:rPr>
                        <a:t>3. Лицензии и ПО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3.1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SSL-сертификат, домен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8 000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0,2%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3.2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CI/CD, инструменты разработки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45 000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1,1%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3.3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Тестовые лицензии 1С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40 000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1,0%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otal"/>
          <p:cNvSpPr/>
          <p:nvPr/>
        </p:nvSpPr>
        <p:spPr>
          <a:xfrm>
            <a:off x="7772400" y="1691640"/>
            <a:ext cx="3749040" cy="1600200"/>
          </a:xfrm>
          <a:prstGeom prst="roundRect">
            <a:avLst>
              <a:gd name="adj" fmla="val 3429"/>
            </a:avLst>
          </a:prstGeom>
          <a:solidFill>
            <a:srgbClr val="26261F"/>
          </a:solidFill>
          <a:ln w="12700">
            <a:solidFill>
              <a:srgbClr val="7C7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ИТОГО ПО СМЕТЕ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4 153 400 ₽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816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100% сметы · срок 6 месяцев</a:t>
            </a:r>
            <a:endParaRPr lang="en-US" sz="1100" dirty="0"/>
          </a:p>
        </p:txBody>
      </p:sp>
      <p:sp>
        <p:nvSpPr>
          <p:cNvPr id="9" name="bnote"/>
          <p:cNvSpPr/>
          <p:nvPr/>
        </p:nvSpPr>
        <p:spPr>
          <a:xfrm>
            <a:off x="7772400" y="3474720"/>
            <a:ext cx="3749040" cy="210312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Примечания к смете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00507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Страховые взносы — по ставке IT-аккредитации Минцифры: 15% до предельной базы 2 979 000 ₽, 7,6% сверх базы.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Зарплаты на уровне региональных ставок (Алтайский край, Барнаул).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КРАТКО О КОМПАНИИ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31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ООО «1+1 Бухдеск»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ООО «1+1 Бухдеск» — IT-компания из Барнаула, зарегистрирована 10 сентября 2025 года. Создана как технологичный преемник бухгалтерской фирмы ООО «1+1», которая более 15 лет оказывает бухгалтерские и юридические услуги в Алтайском крае и имеет более 450 клиентов на постоянном обслуживании, находится на 37-м месте в рейтинге RAEX среди 15 тысяч бухгалтерских аутсорсинговых компаний.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В нашей компании знают все боли предпринимателей, связанные с бухгалтерским и налоговым учётом.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Наша задача — облегчить процесс предпринимательства и минимизировать их расходы при сохранении качества учёта.</a:t>
            </a:r>
            <a:endParaRPr lang="en-US" sz="1300" dirty="0"/>
          </a:p>
        </p:txBody>
      </p:sp>
      <p:sp>
        <p:nvSpPr>
          <p:cNvPr id="7" name="f0"/>
          <p:cNvSpPr/>
          <p:nvPr/>
        </p:nvSpPr>
        <p:spPr>
          <a:xfrm>
            <a:off x="6492240" y="1645920"/>
            <a:ext cx="5029200" cy="1115568"/>
          </a:xfrm>
          <a:prstGeom prst="roundRect">
            <a:avLst>
              <a:gd name="adj" fmla="val 4918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17647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15 лет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194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бухгалтерских и юридических услуг в Алтайском крае</a:t>
            </a:r>
            <a:endParaRPr lang="en-US" sz="1100" dirty="0"/>
          </a:p>
        </p:txBody>
      </p:sp>
      <p:sp>
        <p:nvSpPr>
          <p:cNvPr id="10" name="f1"/>
          <p:cNvSpPr/>
          <p:nvPr/>
        </p:nvSpPr>
        <p:spPr>
          <a:xfrm>
            <a:off x="6492240" y="2852928"/>
            <a:ext cx="5029200" cy="1115568"/>
          </a:xfrm>
          <a:prstGeom prst="roundRect">
            <a:avLst>
              <a:gd name="adj" fmla="val 4918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971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450+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4015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клиентов на постоянном обслуживании</a:t>
            </a:r>
            <a:endParaRPr lang="en-US" sz="1100" dirty="0"/>
          </a:p>
        </p:txBody>
      </p:sp>
      <p:sp>
        <p:nvSpPr>
          <p:cNvPr id="13" name="f2"/>
          <p:cNvSpPr/>
          <p:nvPr/>
        </p:nvSpPr>
        <p:spPr>
          <a:xfrm>
            <a:off x="6492240" y="4059936"/>
            <a:ext cx="5029200" cy="1115568"/>
          </a:xfrm>
          <a:prstGeom prst="roundRect">
            <a:avLst>
              <a:gd name="adj" fmla="val 4918"/>
            </a:avLst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4178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37-е место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46085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в рейтинге RAEX среди 15 тысяч бухгалтерских аутсорсинговых компаний</a:t>
            </a:r>
            <a:endParaRPr lang="en-US" sz="1100" dirty="0"/>
          </a:p>
        </p:txBody>
      </p:sp>
      <p:sp>
        <p:nvSpPr>
          <p:cNvPr id="16" name="logos"/>
          <p:cNvSpPr/>
          <p:nvPr/>
        </p:nvSpPr>
        <p:spPr>
          <a:xfrm>
            <a:off x="6492240" y="5212080"/>
            <a:ext cx="502920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492240" y="52120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Логотипы «1+1 Бухдеск», «1+1» — заполнитель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4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hdesk Grant">
  <a:themeElements>
    <a:clrScheme name="Buhdesk Grant">
      <a:dk1>
        <a:srgbClr val="1B1B1B"/>
      </a:dk1>
      <a:lt1>
        <a:srgbClr val="FFFFFF"/>
      </a:lt1>
      <a:dk2>
        <a:srgbClr val="4A4A48"/>
      </a:dk2>
      <a:lt2>
        <a:srgbClr val="F2F3ED"/>
      </a:lt2>
      <a:accent1>
        <a:srgbClr val="7C7E2E"/>
      </a:accent1>
      <a:accent2>
        <a:srgbClr val="D73A61"/>
      </a:accent2>
      <a:accent3>
        <a:srgbClr val="646464"/>
      </a:accent3>
      <a:accent4>
        <a:srgbClr val="D3D4CF"/>
      </a:accent4>
      <a:accent5>
        <a:srgbClr val="FCF0F3"/>
      </a:accent5>
      <a:accent6>
        <a:srgbClr val="2B2B29"/>
      </a:accent6>
      <a:hlink>
        <a:srgbClr val="7C7E2E"/>
      </a:hlink>
      <a:folHlink>
        <a:srgbClr val="646464"/>
      </a:folHlink>
    </a:clrScheme>
    <a:fontScheme name="Buhdesk Gra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Zayavka na grant: II-agent dlya 1S</dc:title>
  <dc:subject>PptxGenJS Presentation</dc:subject>
  <dc:creator>OOO 1+1 Buhdesk</dc:creator>
  <cp:lastModifiedBy>OOO 1+1 Buhdesk</cp:lastModifiedBy>
  <cp:revision>1</cp:revision>
  <dcterms:created xsi:type="dcterms:W3CDTF">2026-10-03T05:20:12Z</dcterms:created>
  <dcterms:modified xsi:type="dcterms:W3CDTF">2026-10-03T05:20:12Z</dcterms:modified>
</cp:coreProperties>
</file>